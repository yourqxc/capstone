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charts/chart1.xml" ContentType="application/vnd.openxmlformats-officedocument.drawingml.chart+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charts/chart2.xml" ContentType="application/vnd.openxmlformats-officedocument.drawingml.chart+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IoU</c:v>
                </c:pt>
              </c:strCache>
            </c:strRef>
          </c:tx>
          <c:spPr>
            <a:solidFill>
              <a:srgbClr val="C8553D"/>
            </a:solidFill>
            <a:effectLst/>
          </c:spPr>
          <c:invertIfNegative val="0"/>
          <c:dLbls>
            <c:numFmt formatCode="0.00" sourceLinked="0"/>
            <c:txPr>
              <a:bodyPr/>
              <a:lstStyle/>
              <a:p>
                <a:pPr>
                  <a:defRPr b="0" i="0" strike="noStrike" sz="1100" u="none">
                    <a:solidFill>
                      <a:srgbClr val="1F2328"/>
                    </a:solidFill>
                    <a:latin typeface="Malgun Gothic"/>
                  </a:defRPr>
                </a:pPr>
              </a:p>
            </c:txPr>
            <c:showLegendKey val="0"/>
            <c:showVal val="1"/>
            <c:showCatName val="0"/>
            <c:showSerName val="0"/>
            <c:showPercent val="0"/>
            <c:showBubbleSize val="0"/>
            <c:showLeaderLines val="0"/>
          </c:dLbls>
          <c:cat>
            <c:multiLvlStrRef>
              <c:f>Sheet1!$A$2:$A$6</c:f>
              <c:multiLvlStrCache>
                <c:ptCount val="5"/>
                <c:lvl>
                  <c:pt idx="0">
                    <c:v>초기</c:v>
                  </c:pt>
                  <c:pt idx="1">
                    <c:v>제약 2종</c:v>
                  </c:pt>
                  <c:pt idx="2">
                    <c:v>성분 처리</c:v>
                  </c:pt>
                  <c:pt idx="3">
                    <c:v>허용오차 조정</c:v>
                  </c:pt>
                  <c:pt idx="4">
                    <c:v>새 방 10장</c:v>
                  </c:pt>
                </c:lvl>
              </c:multiLvlStrCache>
            </c:multiLvlStrRef>
          </c:cat>
          <c:val>
            <c:numRef>
              <c:f>Sheet1!$B$2:$B$6</c:f>
              <c:numCache>
                <c:formatCode>General</c:formatCode>
                <c:ptCount val="5"/>
                <c:pt idx="0">
                  <c:v>0.492</c:v>
                </c:pt>
                <c:pt idx="1">
                  <c:v>0.646</c:v>
                </c:pt>
                <c:pt idx="2">
                  <c:v>0.679</c:v>
                </c:pt>
                <c:pt idx="3">
                  <c:v>0.864</c:v>
                </c:pt>
                <c:pt idx="4">
                  <c:v>0.784</c:v>
                </c:pt>
              </c:numCache>
            </c:numRef>
          </c:val>
        </c:ser>
        <c:dLbls>
          <c:numFmt formatCode="0.00" sourceLinked="0"/>
          <c:txPr>
            <a:bodyPr/>
            <a:lstStyle/>
            <a:p>
              <a:pPr>
                <a:defRPr b="0" i="0" strike="noStrike" sz="1100" u="none">
                  <a:solidFill>
                    <a:srgbClr val="1F2328"/>
                  </a:solidFill>
                  <a:latin typeface="Malgun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F6670"/>
                </a:solidFill>
                <a:latin typeface="Malgun Gothic"/>
              </a:defRPr>
            </a:pPr>
            <a:endParaRPr lang="en-US"/>
          </a:p>
        </c:txPr>
        <c:crossAx val="2094734552"/>
        <c:crosses val="autoZero"/>
        <c:auto val="1"/>
        <c:lblAlgn val="ctr"/>
        <c:noMultiLvlLbl val="1"/>
      </c:catAx>
      <c:valAx>
        <c:axId val="2094734552"/>
        <c:scaling>
          <c:orientation val="minMax"/>
          <c:max val="1"/>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깊이로 찾은 지평선</c:v>
                </c:pt>
              </c:strCache>
            </c:strRef>
          </c:tx>
          <c:spPr>
            <a:solidFill>
              <a:srgbClr val="B3B8BF"/>
            </a:solidFill>
            <a:effectLst/>
          </c:spPr>
          <c:invertIfNegative val="0"/>
          <c:dLbls>
            <c:numFmt formatCode="#,##0" sourceLinked="0"/>
            <c:txPr>
              <a:bodyPr/>
              <a:lstStyle/>
              <a:p>
                <a:pPr>
                  <a:defRPr b="0" i="0" strike="noStrike" sz="900" u="none">
                    <a:solidFill>
                      <a:srgbClr val="1F2328"/>
                    </a:solidFill>
                    <a:latin typeface="Malgun Gothic"/>
                  </a:defRPr>
                </a:pPr>
              </a:p>
            </c:txPr>
            <c:showLegendKey val="0"/>
            <c:showVal val="1"/>
            <c:showCatName val="0"/>
            <c:showSerName val="0"/>
            <c:showPercent val="0"/>
            <c:showBubbleSize val="0"/>
            <c:showLeaderLines val="0"/>
          </c:dLbls>
          <c:cat>
            <c:multiLvlStrRef>
              <c:f>Sheet1!$A$2:$A$8</c:f>
              <c:multiLvlStrCache>
                <c:ptCount val="7"/>
                <c:lvl>
                  <c:pt idx="0">
                    <c:v>&lt;0.5</c:v>
                  </c:pt>
                  <c:pt idx="1">
                    <c:v>0.5–0.75</c:v>
                  </c:pt>
                  <c:pt idx="2">
                    <c:v>0.75–1.25</c:v>
                  </c:pt>
                  <c:pt idx="3">
                    <c:v>1.25–2</c:v>
                  </c:pt>
                  <c:pt idx="4">
                    <c:v>2–3</c:v>
                  </c:pt>
                  <c:pt idx="5">
                    <c:v>3–5</c:v>
                  </c:pt>
                  <c:pt idx="6">
                    <c:v>&gt;5</c:v>
                  </c:pt>
                </c:lvl>
              </c:multiLvlStrCache>
            </c:multiLvlStrRef>
          </c:cat>
          <c:val>
            <c:numRef>
              <c:f>Sheet1!$B$2:$B$8</c:f>
              <c:numCache>
                <c:formatCode>General</c:formatCode>
                <c:ptCount val="7"/>
                <c:pt idx="0">
                  <c:v>0</c:v>
                </c:pt>
                <c:pt idx="1">
                  <c:v>2</c:v>
                </c:pt>
                <c:pt idx="2">
                  <c:v>5</c:v>
                </c:pt>
                <c:pt idx="3">
                  <c:v>8</c:v>
                </c:pt>
                <c:pt idx="4">
                  <c:v>15</c:v>
                </c:pt>
                <c:pt idx="5">
                  <c:v>14</c:v>
                </c:pt>
                <c:pt idx="6">
                  <c:v>18</c:v>
                </c:pt>
              </c:numCache>
            </c:numRef>
          </c:val>
        </c:ser>
        <c:ser>
          <c:idx val="1"/>
          <c:order val="1"/>
          <c:tx>
            <c:strRef>
              <c:f>Sheet1!$C$1</c:f>
              <c:strCache>
                <c:ptCount val="1"/>
                <c:pt idx="0">
                  <c:v>사진 높이 41% 가정</c:v>
                </c:pt>
              </c:strCache>
            </c:strRef>
          </c:tx>
          <c:spPr>
            <a:solidFill>
              <a:srgbClr val="C8553D"/>
            </a:solidFill>
            <a:effectLst/>
          </c:spPr>
          <c:invertIfNegative val="0"/>
          <c:dLbls>
            <c:numFmt formatCode="#,##0" sourceLinked="0"/>
            <c:txPr>
              <a:bodyPr/>
              <a:lstStyle/>
              <a:p>
                <a:pPr>
                  <a:defRPr b="0" i="0" strike="noStrike" sz="900" u="none">
                    <a:solidFill>
                      <a:srgbClr val="1F2328"/>
                    </a:solidFill>
                    <a:latin typeface="Malgun Gothic"/>
                  </a:defRPr>
                </a:pPr>
              </a:p>
            </c:txPr>
            <c:showLegendKey val="0"/>
            <c:showVal val="1"/>
            <c:showCatName val="0"/>
            <c:showSerName val="0"/>
            <c:showPercent val="0"/>
            <c:showBubbleSize val="0"/>
            <c:showLeaderLines val="0"/>
          </c:dLbls>
          <c:cat>
            <c:multiLvlStrRef>
              <c:f>Sheet1!$A$2:$A$8</c:f>
              <c:multiLvlStrCache>
                <c:ptCount val="7"/>
                <c:lvl>
                  <c:pt idx="0">
                    <c:v>&lt;0.5</c:v>
                  </c:pt>
                  <c:pt idx="1">
                    <c:v>0.5–0.75</c:v>
                  </c:pt>
                  <c:pt idx="2">
                    <c:v>0.75–1.25</c:v>
                  </c:pt>
                  <c:pt idx="3">
                    <c:v>1.25–2</c:v>
                  </c:pt>
                  <c:pt idx="4">
                    <c:v>2–3</c:v>
                  </c:pt>
                  <c:pt idx="5">
                    <c:v>3–5</c:v>
                  </c:pt>
                  <c:pt idx="6">
                    <c:v>&gt;5</c:v>
                  </c:pt>
                </c:lvl>
              </c:multiLvlStrCache>
            </c:multiLvlStrRef>
          </c:cat>
          <c:val>
            <c:numRef>
              <c:f>Sheet1!$C$2:$C$8</c:f>
              <c:numCache>
                <c:formatCode>General</c:formatCode>
                <c:ptCount val="7"/>
                <c:pt idx="0">
                  <c:v>1</c:v>
                </c:pt>
                <c:pt idx="1">
                  <c:v>2</c:v>
                </c:pt>
                <c:pt idx="2">
                  <c:v>36</c:v>
                </c:pt>
                <c:pt idx="3">
                  <c:v>17</c:v>
                </c:pt>
                <c:pt idx="4">
                  <c:v>4</c:v>
                </c:pt>
                <c:pt idx="5">
                  <c:v>1</c:v>
                </c:pt>
                <c:pt idx="6">
                  <c:v>1</c:v>
                </c:pt>
              </c:numCache>
            </c:numRef>
          </c:val>
        </c:ser>
        <c:dLbls>
          <c:numFmt formatCode="#,##0" sourceLinked="0"/>
          <c:txPr>
            <a:bodyPr/>
            <a:lstStyle/>
            <a:p>
              <a:pPr>
                <a:defRPr b="0" i="0" strike="noStrike" sz="900" u="none">
                  <a:solidFill>
                    <a:srgbClr val="1F2328"/>
                  </a:solidFill>
                  <a:latin typeface="Malgun Gothic"/>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F6670"/>
                </a:solidFill>
                <a:latin typeface="Malgun Gothic"/>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셀프 인테리어 시각화입니다. 방 사진과 가구 사진, 놓을 자리를 받아 그 가구가 그 자리에 놓인 모습을 만듭니다. 핵심은 이 합성을 API에 맡기지 않고 직접 구현했고, 상용 생성 AI와 비교한 과정을 기록했다는 점입니다. 사진과 정량값은 9월 19일 이전 구현의 실험이며, 9월 21일 수정 이후 품질은 아직 다시 측정하지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착수 시점에 기획서가 약속한 핵심 기술 8개 중 구현된 것은 0개였습니다. 사진을 편집 API에 넘기기만 하는 구조라 중계 사이트에 가까웠습니다. 그래서 합성 과정을 직접 구현하고, 상용 API는 비교 기준선으로만 남겼습니다.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방 사진은 깊이 추정과 바닥 평면 추정을 거치고, 가구 사진은 SAM으로 배경을 지웁니다. 둘을 합성 단계에서 크기와 원근, 조명, 그림자, 가림을 맞춰 합칩니다. 선택 기능으로 Stable Diffusion이 가구 주변을 다듬습니다. 전부 로컬 추론입니다. 실제 높이는 사용자가 입력하며 확인된 샘플 사진에만 저장 높이를 기본 적용합니다. 일반 가구는 자동 모드에서 높이가 비어 있으면 오류가 나므로 높이를 입력하거나 수동 모드를 선택해야 합니다. 높이 미입력으로 자동 전환하지 않습니다. 세워 놓는 가구는 바닥 추정 실패 시에만 수동 합성으로 전환하고, 바닥에 까는 러그는 바닥 추정이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바닥 추정은 ADE20K 정답으로 채점했습니다. 0.49에서 시작해 0.86까지 올렸는데, 가장 큰 개선은 새 규칙이 아니라 기존 허용오차를 훑어서 나왔습니다. 0.86은 튜닝에 쓴 방의 값이라, 한 번도 쓰지 않은 방 10장으로 다시 재서 0.78을 얻었습니다.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가구 사진에서 가구만 떼어 내는 누끼는 SAM을 씁니다. 가구를 칠하지 않으면 의자가 좌판만 남거나 뒤쪽 벽 조각을 잡았고, 가구를 감싸게 칠하면 10개 중 8개가 제대로 나왔습니다. 박스는 결과를 보기 전에 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이전 구현의 실험입니다. 그림자 7→3px는 이전 지평선과 가정한 가구 깊이·초점거리의 근사이며 실제 그림자 정답과 비교한 수치가 아닙니다. 조명 채도 6.68/5.02는 DEVLOG §32의 수기 기록이며 정확한 재현 절차는 보존되지 않았습니다. 합성에서는 세 가지를 다뤘습니다. 조명은 방의 밝은 부분을 기준으로 색을 옮겨, 가구가 누렇게 변하던 문제를 없앴습니다. 그림자는 바닥 평면으로 깊이를 계산하고, 깊이맵으로 가구 앞에 있는 물체가 가구를 가리게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이전 크기 공식의 대리 평가입니다. ADE20K가 제공한 것은 문 영역의 픽셀 정답이며 문 실제 높이 2.03m와 카메라 높이 1.4m는 가정입니다. 가로축은 문 픽셀 높이를 공식 예측으로 나눈 비율입니다. test 90개 중 계산 가능한 62개에서만 5개에서 36개로 개선됐고 나머지 28개는 분모에서 제외됐습니다. 문 단위로 나눠 dev와 test 사이 방 15장이 중복됐으므로 독립적인 새 방 성능으로 볼 수 없습니다. 현재 방 단위 분할로 다시 검증해야 하며 수정 후 결과는 아직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평가 지표로 CLIP을 썼는데, 의자 대신 벽 조각을 붙인 결과가 제대로 된 의자보다 점수가 높았습니다. 원인은 CLIP이 사진 전체를 작게 줄여 보기 때문이었고, 배치 영역만 잘라 채점하도록 고쳤습니다. 이 사례만으로 CLIP을 전체 품질 지표로 삼을 수 없습니다. 크기의 사실감과 제품 동일성은 검증되지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9월 19일 이전 구현과 저장된 Gemini 결과 3쌍의 비교입니다. CLIP 증분 평균이며 품질이 몇 배 낫다는 뜻은 아닙니다. 원본 픽셀 완전 일치 비율은 정렬과 리사이즈·압축에 민감하므로 방 구조 보존율로 해석할 수 없습니다. 96.6%와 91.4%는 DEVLOG §32에 남은 수기 측정이며 입력별 측정 기록은 보존되지 않았습니다. 비용은 당시 API 기준, 시간은 M5 16GB의 당시 기록입니다. 수정 후 현재 품질·시간은 재측정하지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기획서의 Stable Diffusion과 ControlNet을 마지막 다듬기 단계로 시험했습니다. 이미지를 통째로 다시 그리면 책장이 베이지 덩어리가 되는 등 작은 가구가 전부 다른 물건이 됐고, 가구 주변만 키워서 약하게 다시 그리면 네 개 모두 알아볼 수는 있었으나 제품이 그대로 보존된 것은 아닙니다. 강도 0.35에서도 빨간 좌판이 연분홍 무늬로 바뀌었습니다. 수치는 이전 구현의 육안 판정이며 수정 후 재측정하지 않았습니다. 그래서 앱에는 기본으로 꺼진 선택 기능으로 넣었습니다.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기획서 대비로 보면 핵심 합성 기능은 구현했고, 일부는 대체했으며, 스타일 변환과 3D는 기획서 스스로 확장 목표로 둔 부분이라 제외했습니다. 한계로는 위에서 내려다본 사진의 크기, 바닥이 적게 보이는 사진, 가는 구조, 가구 사진의 각도가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기하 파이프라인은 입력한 가구 이미지를 합성하지만 위치·크기·원근·가림은 가정에 따른 근사입니다. 생성 다듬기는 제품의 색과 무늬까지 바꿀 수 있어 선택 기능으로 둡니다. 이번 수정에서는 실제 높이 입력과 수동 배치 경로를 보완했고, 발표의 과거 실험값과 현재 구현을 구분했습니다. 새 구현의 품질은 아직 다시 측정하지 않았으므로 개선 성능을 주장하지 않습니다.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image" Target="../media/image-6-4.jpg"/><Relationship Id="rId5" Type="http://schemas.openxmlformats.org/officeDocument/2006/relationships/image" Target="../media/image-6-5.jpg"/><Relationship Id="rId6" Type="http://schemas.openxmlformats.org/officeDocument/2006/relationships/image" Target="../media/image-6-6.jp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7-1.jpg"/><Relationship Id="rId3" Type="http://schemas.openxmlformats.org/officeDocument/2006/relationships/image" Target="../media/image-7-2.jpg"/><Relationship Id="rId4" Type="http://schemas.openxmlformats.org/officeDocument/2006/relationships/image" Target="../media/image-7-3.jpg"/><Relationship Id="rId5" Type="http://schemas.openxmlformats.org/officeDocument/2006/relationships/image" Target="../media/image-7-4.jp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ns0:sld xmlns:ns0="http://schemas.openxmlformats.org/presentationml/2006/main" xmlns:ns1="http://schemas.openxmlformats.org/drawingml/2006/main" xmlns:ns2="http://schemas.openxmlformats.org/officeDocument/2006/relationships">
  <ns0:cSld name="Slide 1">
    <ns0:bg>
      <ns0:bgPr>
        <ns1:solidFill>
          <ns1:srgbClr val="22262A"/>
        </ns1:solidFill>
      </ns0:bgPr>
    </ns0:bg>
    <ns0:spTree>
      <ns0:nvGrpSpPr>
        <ns0:cNvPr id="1" name=""/>
        <ns0:cNvGrpSpPr/>
        <ns0:nvPr/>
      </ns0:nvGrpSpPr>
      <ns0:grpSpPr>
        <ns1:xfrm>
          <ns1:off x="0" y="0"/>
          <ns1:ext cx="0" cy="0"/>
          <ns1:chOff x="0" y="0"/>
          <ns1:chExt cx="0" cy="0"/>
        </ns1:xfrm>
      </ns0:grpSpPr>
      <ns0:sp>
        <ns0:nvSpPr>
          <ns0:cNvPr id="2" name="Text 0"/>
          <ns0:cNvSpPr txBox="1"/>
          <ns0:nvPr/>
        </ns0:nvSpPr>
        <ns0:spPr>
          <ns1:xfrm>
            <ns1:off x="548640" y="960120"/>
            <ns1:ext cx="4206240" cy="320040"/>
          </ns1:xfrm>
          <ns1:prstGeom prst="rect">
            <ns1:avLst/>
          </ns1:prstGeom>
          <ns1:noFill/>
          <ns1:ln/>
        </ns0:spPr>
        <ns0:txBody>
          <ns1:bodyPr wrap="square" lIns="0" tIns="0" rIns="0" bIns="0" rtlCol="0" anchor="t"/>
          <ns1:lstStyle/>
          <ns1:p>
            <ns1:pPr indent="0" marL="0" eaLnBrk="0">
              <ns1:buNone/>
            </ns1:pPr>
            <ns1:r>
              <ns1:rPr lang="ko-KR" altLang="en-US" sz="1300" b="1" dirty="0">
                <ns1:solidFill>
                  <ns1:srgbClr val="E88B74"/>
                </ns1:solidFill>
                <ns1:latin typeface="Malgun Gothic" pitchFamily="34" charset="0"/>
                <ns1:ea typeface="Malgun Gothic" pitchFamily="34" charset="-122"/>
                <ns1:cs typeface="Malgun Gothic" pitchFamily="34" charset="-120"/>
              </ns1:rPr>
              <ns1:t>2026 캡스톤디자인</ns1:t>
            </ns1:r>
            <ns1:endParaRPr lang="ko-KR" sz="1300" dirty="0"/>
          </ns1:p>
        </ns0:txBody>
      </ns0:sp>
      <ns0:sp>
        <ns0:nvSpPr>
          <ns0:cNvPr id="3" name="Text 1"/>
          <ns0:cNvSpPr txBox="1"/>
          <ns0:nvPr/>
        </ns0:nvSpPr>
        <ns0:spPr>
          <ns1:xfrm>
            <ns1:off x="548640" y="1325880"/>
            <ns1:ext cx="4297680" cy="1371600"/>
          </ns1:xfrm>
          <ns1:prstGeom prst="rect">
            <ns1:avLst/>
          </ns1:prstGeom>
          <ns1:noFill/>
          <ns1:ln/>
        </ns0:spPr>
        <ns0:txBody>
          <ns1:bodyPr wrap="square" lIns="0" tIns="0" rIns="0" bIns="0" rtlCol="0" anchor="t"/>
          <ns1:lstStyle/>
          <ns1:p>
            <ns1:pPr indent="0" marL="0" eaLnBrk="0">
              <ns1:buNone/>
            </ns1:pPr>
            <ns1:r>
              <ns1:rPr lang="ko-KR" altLang="en-US" sz="3600" b="1" dirty="0">
                <ns1:solidFill>
                  <ns1:srgbClr val="FFFFFF"/>
                </ns1:solidFill>
                <ns1:latin typeface="Malgun Gothic" pitchFamily="34" charset="0"/>
                <ns1:ea typeface="Malgun Gothic" pitchFamily="34" charset="-122"/>
                <ns1:cs typeface="Malgun Gothic" pitchFamily="34" charset="-120"/>
              </ns1:rPr>
              <ns1:t>AI 셀프 인테리어</ns1:t>
            </ns1:r>
            <ns1:endParaRPr lang="ko-KR" sz="3600" dirty="0"/>
          </ns1:p>
          <ns1:p>
            <ns1:pPr indent="0" marL="0" eaLnBrk="0">
              <ns1:buNone/>
            </ns1:pPr>
            <ns1:r>
              <ns1:rPr lang="ko-KR" altLang="en-US" sz="3600" b="1" dirty="0">
                <ns1:solidFill>
                  <ns1:srgbClr val="FFFFFF"/>
                </ns1:solidFill>
                <ns1:latin typeface="Malgun Gothic" pitchFamily="34" charset="0"/>
                <ns1:ea typeface="Malgun Gothic" pitchFamily="34" charset="-122"/>
                <ns1:cs typeface="Malgun Gothic" pitchFamily="34" charset="-120"/>
              </ns1:rPr>
              <ns1:t>시각화</ns1:t>
            </ns1:r>
            <ns1:endParaRPr lang="ko-KR" sz="3600" dirty="0"/>
          </ns1:p>
        </ns0:txBody>
      </ns0:sp>
      <ns0:sp>
        <ns0:nvSpPr>
          <ns0:cNvPr id="4" name="Text 2"/>
          <ns0:cNvSpPr txBox="1"/>
          <ns0:nvPr/>
        </ns0:nvSpPr>
        <ns0:spPr>
          <ns1:xfrm>
            <ns1:off x="548640" y="2788920"/>
            <ns1:ext cx="4297680" cy="1005840"/>
          </ns1:xfrm>
          <ns1:prstGeom prst="rect">
            <ns1:avLst/>
          </ns1:prstGeom>
          <ns1:noFill/>
          <ns1:ln/>
        </ns0:spPr>
        <ns0:txBody>
          <ns1:bodyPr wrap="square" lIns="0" tIns="0" rIns="0" bIns="0" rtlCol="0" anchor="t"/>
          <ns1:lstStyle/>
          <ns1:p>
            <ns1:pPr indent="0" marL="0" eaLnBrk="0">
              <ns1:buNone/>
            </ns1:pPr>
            <ns1:r>
              <ns1:rPr lang="ko-KR" altLang="en-US" sz="1400" dirty="0">
                <ns1:solidFill>
                  <ns1:srgbClr val="D5D8DC"/>
                </ns1:solidFill>
                <ns1:latin typeface="Malgun Gothic" pitchFamily="34" charset="0"/>
                <ns1:ea typeface="Malgun Gothic" pitchFamily="34" charset="-122"/>
                <ns1:cs typeface="Malgun Gothic" pitchFamily="34" charset="-120"/>
              </ns1:rPr>
              <ns1:t>방 사진 한 장에 가구를 놓아 보는</ns1:t>
            </ns1:r>
            <ns1:endParaRPr lang="ko-KR" sz="1400" dirty="0"/>
          </ns1:p>
          <ns1:p>
            <ns1:pPr indent="0" marL="0" eaLnBrk="0">
              <ns1:buNone/>
            </ns1:pPr>
            <ns1:r>
              <ns1:rPr lang="ko-KR" altLang="en-US" sz="1400" dirty="0">
                <ns1:solidFill>
                  <ns1:srgbClr val="D5D8DC"/>
                </ns1:solidFill>
                <ns1:latin typeface="Malgun Gothic" pitchFamily="34" charset="0"/>
                <ns1:ea typeface="Malgun Gothic" pitchFamily="34" charset="-122"/>
                <ns1:cs typeface="Malgun Gothic" pitchFamily="34" charset="-120"/>
              </ns1:rPr>
              <ns1:t>로컬 합성 파이프라인과</ns1:t>
            </ns1:r>
            <ns1:endParaRPr lang="ko-KR" sz="1400" dirty="0"/>
          </ns1:p>
          <ns1:p>
            <ns1:pPr indent="0" marL="0" eaLnBrk="0">
              <ns1:buNone/>
            </ns1:pPr>
            <ns1:r>
              <ns1:rPr lang="ko-KR" altLang="en-US" sz="1400" dirty="0">
                <ns1:solidFill>
                  <ns1:srgbClr val="D5D8DC"/>
                </ns1:solidFill>
                <ns1:latin typeface="Malgun Gothic" pitchFamily="34" charset="0"/>
                <ns1:ea typeface="Malgun Gothic" pitchFamily="34" charset="-122"/>
                <ns1:cs typeface="Malgun Gothic" pitchFamily="34" charset="-120"/>
              </ns1:rPr>
              <ns1:t>상용 생성 AI의 비교</ns1:t>
            </ns1:r>
            <ns1:endParaRPr lang="ko-KR" sz="1400" dirty="0"/>
          </ns1:p>
        </ns0:txBody>
      </ns0:sp>
      <ns0:sp>
        <ns0:nvSpPr>
          <ns0:cNvPr id="5" name="Text 3"/>
          <ns0:cNvSpPr txBox="1"/>
          <ns0:nvPr/>
        </ns0:nvSpPr>
        <ns0:spPr>
          <ns1:xfrm>
            <ns1:off x="548640" y="4343400"/>
            <ns1:ext cx="4389120" cy="274320"/>
          </ns1:xfrm>
          <ns1:prstGeom prst="rect">
            <ns1:avLst/>
          </ns1:prstGeom>
          <ns1:noFill/>
          <ns1:ln/>
        </ns0:spPr>
        <ns0:txBody>
          <ns1:bodyPr wrap="square" lIns="0" tIns="0" rIns="0" bIns="0" rtlCol="0" anchor="t"/>
          <ns1:lstStyle/>
          <ns1:p>
            <ns1:pPr indent="0" marL="0" eaLnBrk="0">
              <ns1:buNone/>
            </ns1:pPr>
            <ns1:r>
              <ns1:rPr lang="ko-KR" altLang="en-US" sz="1050" dirty="0">
                <ns1:solidFill>
                  <ns1:srgbClr val="B3B8BF"/>
                </ns1:solidFill>
                <ns1:latin typeface="Malgun Gothic" pitchFamily="34" charset="0"/>
                <ns1:ea typeface="Malgun Gothic" pitchFamily="34" charset="-122"/>
                <ns1:cs typeface="Malgun Gothic" pitchFamily="34" charset="-120"/>
              </ns1:rPr>
              <ns1:t>Depth Anything · SAM · OpenCV · CLIP · Stable Diffusion</ns1:t>
            </ns1:r>
            <ns1:endParaRPr lang="ko-KR" sz="1050" dirty="0"/>
          </ns1:p>
        </ns0:txBody>
      </ns0:sp>
      <ns0:pic>
        <ns0:nvPicPr>
          <ns0:cNvPr id="6" name="Image 0" descr="/Users/minyoung/Library/Mobile Documents/com~apple~CloudDocs/GTEC/2-2/Capstone/presentation/assets/hero.jpg">    </ns0:cNvPr>
          <ns0:cNvPicPr>
            <ns1:picLocks noChangeAspect="1"/>
          </ns0:cNvPicPr>
          <ns0:nvPr/>
        </ns0:nvPicPr>
        <ns0:blipFill>
          <ns1:blip ns2:embed="rId1"/>
          <ns1:stretch>
            <ns1:fillRect/>
          </ns1:stretch>
        </ns0:blipFill>
        <ns0:spPr>
          <ns1:xfrm>
            <ns1:off x="4983480" y="960120"/>
            <ns1:ext cx="3703320" cy="2468880"/>
          </ns1:xfrm>
          <ns1:prstGeom prst="rect">
            <ns1:avLst/>
          </ns1:prstGeom>
          <ns1:effectLst>
            <ns1:outerShdw sx="100000" sy="100000" kx="0" ky="0" algn="bl" rotWithShape="0" blurRad="76200" dist="25400" dir="5400000">
              <ns1:srgbClr val="000000">
                <ns1:alpha val="18000"/>
              </ns1:srgbClr>
            </ns1:outerShdw>
          </ns1:effectLst>
        </ns0:spPr>
      </ns0:pic>
      <ns0:sp>
        <ns0:nvSpPr>
          <ns0:cNvPr id="7" name="Text 4"/>
          <ns0:cNvSpPr txBox="1"/>
          <ns0:nvPr/>
        </ns0:nvSpPr>
        <ns0:spPr>
          <ns1:xfrm>
            <ns1:off x="4983480" y="3538728"/>
            <ns1:ext cx="3703320" cy="274320"/>
          </ns1:xfrm>
          <ns1:prstGeom prst="rect">
            <ns1:avLst/>
          </ns1:prstGeom>
          <ns1:noFill/>
          <ns1:ln/>
        </ns0:spPr>
        <ns0:txBody>
          <ns1:bodyPr wrap="square" lIns="0" tIns="0" rIns="0" bIns="0" rtlCol="0" anchor="t"/>
          <ns1:lstStyle/>
          <ns1:p>
            <ns1:pPr indent="0" marL="0" eaLnBrk="0">
              <ns1:buNone/>
            </ns1:pPr>
            <ns1:r>
              <ns1:rPr lang="ko-KR" altLang="en-US" sz="1050" dirty="0">
                <ns1:solidFill>
                  <ns1:srgbClr val="B3B8BF"/>
                </ns1:solidFill>
                <ns1:latin typeface="Malgun Gothic" pitchFamily="34" charset="0"/>
                <ns1:ea typeface="Malgun Gothic" pitchFamily="34" charset="-122"/>
                <ns1:cs typeface="Malgun Gothic" pitchFamily="34" charset="-120"/>
              </ns1:rPr>
              <ns1:t>이전 구현 예시 — 0.95m 의자의 배치 (실제 크기 정답 없음)</ns1:t>
            </ns1:r>
            <ns1:endParaRPr lang="ko-KR" sz="1050" dirty="0"/>
          </ns1:p>
        </ns0:txBody>
      </ns0:sp>
    </ns0:spTree>
  </ns0:cSld>
  <ns0:clrMapOvr>
    <ns1:masterClrMapping/>
  </ns0:clrMapOvr>
</ns0:sld>
</file>

<file path=ppt/slides/slide2.xml><?xml version="1.0" encoding="utf-8"?>
<ns0:sld xmlns:ns0="http://schemas.openxmlformats.org/presentationml/2006/main" xmlns:ns1="http://schemas.openxmlformats.org/drawingml/2006/main">
  <ns0:cSld name="Slide 2">
    <ns0:bg>
      <ns0:bgPr>
        <ns1:solidFill>
          <ns1:srgbClr val="FFFFFF"/>
        </ns1:solidFill>
      </ns0:bgPr>
    </ns0:bg>
    <ns0:spTree>
      <ns0:nvGrpSpPr>
        <ns0:cNvPr id="1" name=""/>
        <ns0:cNvGrpSpPr/>
        <ns0:nvPr/>
      </ns0:nvGrpSpPr>
      <ns0:grpSpPr>
        <ns1:xfrm>
          <ns1:off x="0" y="0"/>
          <ns1:ext cx="0" cy="0"/>
          <ns1:chOff x="0" y="0"/>
          <ns1:chExt cx="0" cy="0"/>
        </ns1:xfrm>
      </ns0:grpSpPr>
      <ns0:sp>
        <ns0:nvSpPr>
          <ns0:cNvPr id="2" name="Shape 0"/>
          <ns0:cNvSpPr/>
          <ns0:nvPr/>
        </ns0:nvSpPr>
        <ns0:spPr>
          <ns1:xfrm>
            <ns1:off x="457200" y="329184"/>
            <ns1:ext cx="420624" cy="420624"/>
          </ns1:xfrm>
          <ns1:prstGeom prst="ellipse">
            <ns1:avLst/>
          </ns1:prstGeom>
          <ns1:solidFill>
            <ns1:srgbClr val="C8553D"/>
          </ns1:solidFill>
          <ns1:ln w="12700">
            <ns1:solidFill>
              <ns1:srgbClr val="C8553D"/>
            </ns1:solidFill>
            <ns1:prstDash val="solid"/>
          </ns1:ln>
        </ns0:spPr>
      </ns0:sp>
      <ns0:sp>
        <ns0:nvSpPr>
          <ns0:cNvPr id="3" name="Text 1"/>
          <ns0:cNvSpPr txBox="1"/>
          <ns0:nvPr/>
        </ns0:nvSpPr>
        <ns0:spPr>
          <ns1:xfrm>
            <ns1:off x="457200" y="329184"/>
            <ns1:ext cx="420624" cy="420624"/>
          </ns1:xfrm>
          <ns1:prstGeom prst="rect">
            <ns1:avLst/>
          </ns1:prstGeom>
          <ns1:noFill/>
          <ns1:ln/>
        </ns0:spPr>
        <ns0:txBody>
          <ns1:bodyPr wrap="square" lIns="0" tIns="0" rIns="0" bIns="0" rtlCol="0" anchor="ctr"/>
          <ns1:lstStyle/>
          <ns1:p>
            <ns1:pPr algn="ctr" indent="0" marL="0" eaLnBrk="0">
              <ns1:buNone/>
            </ns1:pPr>
            <ns1:r>
              <ns1:rPr lang="ko-KR" altLang="en-US" sz="1500" b="1" dirty="0">
                <ns1:solidFill>
                  <ns1:srgbClr val="FFFFFF"/>
                </ns1:solidFill>
                <ns1:latin typeface="Malgun Gothic" pitchFamily="34" charset="0"/>
                <ns1:ea typeface="Malgun Gothic" pitchFamily="34" charset="-122"/>
                <ns1:cs typeface="Malgun Gothic" pitchFamily="34" charset="-120"/>
              </ns1:rPr>
              <ns1:t>1</ns1:t>
            </ns1:r>
            <ns1:endParaRPr lang="ko-KR" sz="1500" dirty="0"/>
          </ns1:p>
        </ns0:txBody>
      </ns0:sp>
      <ns0:sp>
        <ns0:nvSpPr>
          <ns0:cNvPr id="4" name="Text 2"/>
          <ns0:cNvSpPr txBox="1"/>
          <ns0:nvPr/>
        </ns0:nvSpPr>
        <ns0:spPr>
          <ns1:xfrm>
            <ns1:off x="1024128" y="274320"/>
            <ns1:ext cx="7680960" cy="530352"/>
          </ns1:xfrm>
          <ns1:prstGeom prst="rect">
            <ns1:avLst/>
          </ns1:prstGeom>
          <ns1:noFill/>
          <ns1:ln/>
        </ns0:spPr>
        <ns0:txBody>
          <ns1:bodyPr wrap="square" lIns="0" tIns="0" rIns="0" bIns="0" rtlCol="0" anchor="ctr"/>
          <ns1:lstStyle/>
          <ns1:p>
            <ns1:pPr indent="0" marL="0" eaLnBrk="0">
              <ns1:buNone/>
            </ns1:pPr>
            <ns1:r>
              <ns1:rPr lang="ko-KR" altLang="en-US" sz="2400" b="1" dirty="0">
                <ns1:solidFill>
                  <ns1:srgbClr val="1F2328"/>
                </ns1:solidFill>
                <ns1:latin typeface="Malgun Gothic" pitchFamily="34" charset="0"/>
                <ns1:ea typeface="Malgun Gothic" pitchFamily="34" charset="-122"/>
                <ns1:cs typeface="Malgun Gothic" pitchFamily="34" charset="-120"/>
              </ns1:rPr>
              <ns1:t>출발점: 기획서와 구현이 어긋나 있었다</ns1:t>
            </ns1:r>
            <ns1:endParaRPr lang="ko-KR" sz="2400" dirty="0"/>
          </ns1:p>
        </ns0:txBody>
      </ns0:sp>
      <ns0:sp>
        <ns0:nvSpPr>
          <ns0:cNvPr id="5" name="Shape 3"/>
          <ns0:cNvSpPr/>
          <ns0:nvPr/>
        </ns0:nvSpPr>
        <ns0:spPr>
          <ns1:xfrm>
            <ns1:off x="457200" y="1097280"/>
            <ns1:ext cx="2743200" cy="3429000"/>
          </ns1:xfrm>
          <ns1:prstGeom prst="roundRect">
            <ns1:avLst>
              <ns1:gd name="adj" fmla="val 2667"/>
            </ns1:avLst>
          </ns1:prstGeom>
          <ns1:solidFill>
            <ns1:srgbClr val="F2F3F1"/>
          </ns1:solidFill>
          <ns1:ln w="12700">
            <ns1:solidFill>
              <ns1:srgbClr val="F2F3F1"/>
            </ns1:solidFill>
            <ns1:prstDash val="solid"/>
          </ns1:ln>
        </ns0:spPr>
      </ns0:sp>
      <ns0:sp>
        <ns0:nvSpPr>
          <ns0:cNvPr id="6" name="Text 4"/>
          <ns0:cNvSpPr txBox="1"/>
          <ns0:nvPr/>
        </ns0:nvSpPr>
        <ns0:spPr>
          <ns1:xfrm>
            <ns1:off x="457200" y="1417320"/>
            <ns1:ext cx="2743200" cy="914400"/>
          </ns1:xfrm>
          <ns1:prstGeom prst="rect">
            <ns1:avLst/>
          </ns1:prstGeom>
          <ns1:noFill/>
          <ns1:ln/>
        </ns0:spPr>
        <ns0:txBody>
          <ns1:bodyPr wrap="square" lIns="0" tIns="0" rIns="0" bIns="0" rtlCol="0" anchor="t"/>
          <ns1:lstStyle/>
          <ns1:p>
            <ns1:pPr algn="ctr" indent="0" marL="0" eaLnBrk="0">
              <ns1:buNone/>
            </ns1:pPr>
            <ns1:r>
              <ns1:rPr lang="ko-KR" altLang="en-US" sz="5400" b="1" dirty="0">
                <ns1:solidFill>
                  <ns1:srgbClr val="C8553D"/>
                </ns1:solidFill>
                <ns1:latin typeface="Malgun Gothic" pitchFamily="34" charset="0"/>
                <ns1:ea typeface="Malgun Gothic" pitchFamily="34" charset="-122"/>
                <ns1:cs typeface="Malgun Gothic" pitchFamily="34" charset="-120"/>
              </ns1:rPr>
              <ns1:t>0 / 8</ns1:t>
            </ns1:r>
            <ns1:endParaRPr lang="ko-KR" sz="5400" dirty="0"/>
          </ns1:p>
        </ns0:txBody>
      </ns0:sp>
      <ns0:sp>
        <ns0:nvSpPr>
          <ns0:cNvPr id="7" name="Text 5"/>
          <ns0:cNvSpPr txBox="1"/>
          <ns0:nvPr/>
        </ns0:nvSpPr>
        <ns0:spPr>
          <ns1:xfrm>
            <ns1:off x="640080" y="2468880"/>
            <ns1:ext cx="2377440" cy="640080"/>
          </ns1:xfrm>
          <ns1:prstGeom prst="rect">
            <ns1:avLst/>
          </ns1:prstGeom>
          <ns1:noFill/>
          <ns1:ln/>
        </ns0:spPr>
        <ns0:txBody>
          <ns1:bodyPr wrap="square" lIns="0" tIns="0" rIns="0" bIns="0" rtlCol="0" anchor="t"/>
          <ns1:lstStyle/>
          <ns1:p>
            <ns1:pPr algn="ctr" indent="0" marL="0" eaLnBrk="0">
              <ns1:buNone/>
            </ns1:pPr>
            <ns1:r>
              <ns1:rPr lang="ko-KR" altLang="en-US" sz="1400" dirty="0">
                <ns1:solidFill>
                  <ns1:srgbClr val="1F2328"/>
                </ns1:solidFill>
                <ns1:latin typeface="Malgun Gothic" pitchFamily="34" charset="0"/>
                <ns1:ea typeface="Malgun Gothic" pitchFamily="34" charset="-122"/>
                <ns1:cs typeface="Malgun Gothic" pitchFamily="34" charset="-120"/>
              </ns1:rPr>
              <ns1:t>기획서 핵심 기술 중</ns1:t>
            </ns1:r>
            <ns1:endParaRPr lang="ko-KR" sz="1400" dirty="0"/>
          </ns1:p>
          <ns1:p>
            <ns1:pPr algn="ctr" indent="0" marL="0" eaLnBrk="0">
              <ns1:buNone/>
            </ns1:pPr>
            <ns1:r>
              <ns1:rPr lang="ko-KR" altLang="en-US" sz="1400" dirty="0">
                <ns1:solidFill>
                  <ns1:srgbClr val="1F2328"/>
                </ns1:solidFill>
                <ns1:latin typeface="Malgun Gothic" pitchFamily="34" charset="0"/>
                <ns1:ea typeface="Malgun Gothic" pitchFamily="34" charset="-122"/>
                <ns1:cs typeface="Malgun Gothic" pitchFamily="34" charset="-120"/>
              </ns1:rPr>
              <ns1:t>착수 시점에 구현된 수</ns1:t>
            </ns1:r>
            <ns1:endParaRPr lang="ko-KR" sz="1400" dirty="0"/>
          </ns1:p>
        </ns0:txBody>
      </ns0:sp>
      <ns0:sp>
        <ns0:nvSpPr>
          <ns0:cNvPr id="8" name="Text 6"/>
          <ns0:cNvSpPr txBox="1"/>
          <ns0:nvPr/>
        </ns0:nvSpPr>
        <ns0:spPr>
          <ns1:xfrm>
            <ns1:off x="685800" y="3337560"/>
            <ns1:ext cx="2286000" cy="914400"/>
          </ns1:xfrm>
          <ns1:prstGeom prst="rect">
            <ns1:avLst/>
          </ns1:prstGeom>
          <ns1:noFill/>
          <ns1:ln/>
        </ns0:spPr>
        <ns0:txBody>
          <ns1:bodyPr wrap="square" lIns="0" tIns="0" rIns="0" bIns="0" rtlCol="0" anchor="t"/>
          <ns1:lstStyle/>
          <ns1:p>
            <ns1:pPr algn="ctr" indent="0" marL="0" eaLnBrk="0">
              <ns1:buNone/>
            </ns1:pPr>
            <ns1:r>
              <ns1:rPr lang="ko-KR" altLang="en-US" sz="1000" dirty="0">
                <ns1:solidFill>
                  <ns1:srgbClr val="5F6670"/>
                </ns1:solidFill>
                <ns1:latin typeface="Malgun Gothic" pitchFamily="34" charset="0"/>
                <ns1:ea typeface="Malgun Gothic" pitchFamily="34" charset="-122"/>
                <ns1:cs typeface="Malgun Gothic" pitchFamily="34" charset="-120"/>
              </ns1:rPr>
              <ns1:t>PyTorch · SAM · Stable Diffusion · ControlNet · OpenCV · CLIP · Depth Estimation · FastAPI</ns1:t>
            </ns1:r>
            <ns1:endParaRPr lang="ko-KR" sz="1000" dirty="0"/>
          </ns1:p>
        </ns0:txBody>
      </ns0:sp>
      <ns0:sp>
        <ns0:nvSpPr>
          <ns0:cNvPr id="9" name="Shape 7"/>
          <ns0:cNvSpPr/>
          <ns0:nvPr/>
        </ns0:nvSpPr>
        <ns0:spPr>
          <ns1:xfrm>
            <ns1:off x="3520440" y="1097280"/>
            <ns1:ext cx="5166360" cy="1463040"/>
          </ns1:xfrm>
          <ns1:prstGeom prst="roundRect">
            <ns1:avLst>
              <ns1:gd name="adj" fmla="val 5000"/>
            </ns1:avLst>
          </ns1:prstGeom>
          <ns1:solidFill>
            <ns1:srgbClr val="FBECE8"/>
          </ns1:solidFill>
          <ns1:ln w="12700">
            <ns1:solidFill>
              <ns1:srgbClr val="FBECE8"/>
            </ns1:solidFill>
            <ns1:prstDash val="solid"/>
          </ns1:ln>
        </ns0:spPr>
      </ns0:sp>
      <ns0:sp>
        <ns0:nvSpPr>
          <ns0:cNvPr id="10" name="Text 8"/>
          <ns0:cNvSpPr txBox="1"/>
          <ns0:nvPr/>
        </ns0:nvSpPr>
        <ns0:spPr>
          <ns1:xfrm>
            <ns1:off x="3749040" y="1261872"/>
            <ns1:ext cx="1828800" cy="274320"/>
          </ns1:xfrm>
          <ns1:prstGeom prst="rect">
            <ns1:avLst/>
          </ns1:prstGeom>
          <ns1:noFill/>
          <ns1:ln/>
        </ns0:spPr>
        <ns0:txBody>
          <ns1:bodyPr wrap="square" lIns="0" tIns="0" rIns="0" bIns="0" rtlCol="0" anchor="t"/>
          <ns1:lstStyle/>
          <ns1:p>
            <ns1:pPr indent="0" marL="0" eaLnBrk="0">
              <ns1:buNone/>
            </ns1:pPr>
            <ns1:r>
              <ns1:rPr lang="ko-KR" altLang="en-US" sz="1200" b="1" dirty="0">
                <ns1:solidFill>
                  <ns1:srgbClr val="C8553D"/>
                </ns1:solidFill>
                <ns1:latin typeface="Malgun Gothic" pitchFamily="34" charset="0"/>
                <ns1:ea typeface="Malgun Gothic" pitchFamily="34" charset="-122"/>
                <ns1:cs typeface="Malgun Gothic" pitchFamily="34" charset="-120"/>
              </ns1:rPr>
              <ns1:t>처음</ns1:t>
            </ns1:r>
            <ns1:endParaRPr lang="ko-KR" sz="1200" dirty="0"/>
          </ns1:p>
        </ns0:txBody>
      </ns0:sp>
      <ns0:sp>
        <ns0:nvSpPr>
          <ns0:cNvPr id="11" name="Text 9"/>
          <ns0:cNvSpPr txBox="1"/>
          <ns0:nvPr/>
        </ns0:nvSpPr>
        <ns0:spPr>
          <ns1:xfrm>
            <ns1:off x="3749040" y="1572768"/>
            <ns1:ext cx="4754880" cy="822960"/>
          </ns1:xfrm>
          <ns1:prstGeom prst="rect">
            <ns1:avLst/>
          </ns1:prstGeom>
          <ns1:noFill/>
          <ns1:ln/>
        </ns0:spPr>
        <ns0:txBody>
          <ns1:bodyPr wrap="square" lIns="0" tIns="0" rIns="0" bIns="0" rtlCol="0" anchor="t"/>
          <ns1:lstStyle/>
          <ns1:p>
            <ns1:pPr indent="0" marL="0" eaLnBrk="0">
              <ns1:buNone/>
            </ns1:pPr>
            <ns1:r>
              <ns1:rPr lang="ko-KR" altLang="en-US" sz="1500" dirty="0">
                <ns1:solidFill>
                  <ns1:srgbClr val="1F2328"/>
                </ns1:solidFill>
                <ns1:latin typeface="Malgun Gothic" pitchFamily="34" charset="0"/>
                <ns1:ea typeface="Malgun Gothic" pitchFamily="34" charset="-122"/>
                <ns1:cs typeface="Malgun Gothic" pitchFamily="34" charset="-120"/>
              </ns1:rPr>
              <ns1:t>방·가구 사진을 편집 API에 그대로 넘기는 데모.</ns1:t>
            </ns1:r>
            <ns1:endParaRPr lang="ko-KR" sz="1500" dirty="0"/>
          </ns1:p>
          <ns1:p>
            <ns1:pPr indent="0" marL="0" eaLnBrk="0">
              <ns1:buNone/>
            </ns1:pPr>
            <ns1:r>
              <ns1:rPr lang="ko-KR" altLang="en-US" sz="1500" dirty="0">
                <ns1:solidFill>
                  <ns1:srgbClr val="1F2328"/>
                </ns1:solidFill>
                <ns1:latin typeface="Malgun Gothic" pitchFamily="34" charset="0"/>
                <ns1:ea typeface="Malgun Gothic" pitchFamily="34" charset="-122"/>
                <ns1:cs typeface="Malgun Gothic" pitchFamily="34" charset="-120"/>
              </ns1:rPr>
              <ns1:t>사실상 ‘AI 중계 사이트’였다.</ns1:t>
            </ns1:r>
            <ns1:endParaRPr lang="ko-KR" sz="1500" dirty="0"/>
          </ns1:p>
        </ns0:txBody>
      </ns0:sp>
      <ns0:sp>
        <ns0:nvSpPr>
          <ns0:cNvPr id="12" name="Shape 10"/>
          <ns0:cNvSpPr/>
          <ns0:nvPr/>
        </ns0:nvSpPr>
        <ns0:spPr>
          <ns1:xfrm>
            <ns1:off x="5897880" y="2651760"/>
            <ns1:ext cx="411480" cy="347472"/>
          </ns1:xfrm>
          <ns1:prstGeom prst="downArrow">
            <ns1:avLst/>
          </ns1:prstGeom>
          <ns1:solidFill>
            <ns1:srgbClr val="5E8A6A"/>
          </ns1:solidFill>
          <ns1:ln w="12700">
            <ns1:solidFill>
              <ns1:srgbClr val="5E8A6A"/>
            </ns1:solidFill>
            <ns1:prstDash val="solid"/>
          </ns1:ln>
        </ns0:spPr>
      </ns0:sp>
      <ns0:sp>
        <ns0:nvSpPr>
          <ns0:cNvPr id="13" name="Shape 11"/>
          <ns0:cNvSpPr/>
          <ns0:nvPr/>
        </ns0:nvSpPr>
        <ns0:spPr>
          <ns1:xfrm>
            <ns1:off x="3520440" y="3063240"/>
            <ns1:ext cx="5166360" cy="1463040"/>
          </ns1:xfrm>
          <ns1:prstGeom prst="roundRect">
            <ns1:avLst>
              <ns1:gd name="adj" fmla="val 5000"/>
            </ns1:avLst>
          </ns1:prstGeom>
          <ns1:solidFill>
            <ns1:srgbClr val="E9F1EB"/>
          </ns1:solidFill>
          <ns1:ln w="12700">
            <ns1:solidFill>
              <ns1:srgbClr val="E9F1EB"/>
            </ns1:solidFill>
            <ns1:prstDash val="solid"/>
          </ns1:ln>
        </ns0:spPr>
      </ns0:sp>
      <ns0:sp>
        <ns0:nvSpPr>
          <ns0:cNvPr id="14" name="Text 12"/>
          <ns0:cNvSpPr txBox="1"/>
          <ns0:nvPr/>
        </ns0:nvSpPr>
        <ns0:spPr>
          <ns1:xfrm>
            <ns1:off x="3749040" y="3227832"/>
            <ns1:ext cx="1828800" cy="274320"/>
          </ns1:xfrm>
          <ns1:prstGeom prst="rect">
            <ns1:avLst/>
          </ns1:prstGeom>
          <ns1:noFill/>
          <ns1:ln/>
        </ns0:spPr>
        <ns0:txBody>
          <ns1:bodyPr wrap="square" lIns="0" tIns="0" rIns="0" bIns="0" rtlCol="0" anchor="t"/>
          <ns1:lstStyle/>
          <ns1:p>
            <ns1:pPr indent="0" marL="0" eaLnBrk="0">
              <ns1:buNone/>
            </ns1:pPr>
            <ns1:r>
              <ns1:rPr lang="ko-KR" altLang="en-US" sz="1200" b="1" dirty="0">
                <ns1:solidFill>
                  <ns1:srgbClr val="5E8A6A"/>
                </ns1:solidFill>
                <ns1:latin typeface="Malgun Gothic" pitchFamily="34" charset="0"/>
                <ns1:ea typeface="Malgun Gothic" pitchFamily="34" charset="-122"/>
                <ns1:cs typeface="Malgun Gothic" pitchFamily="34" charset="-120"/>
              </ns1:rPr>
              <ns1:t>전환</ns1:t>
            </ns1:r>
            <ns1:endParaRPr lang="ko-KR" sz="1200" dirty="0"/>
          </ns1:p>
        </ns0:txBody>
      </ns0:sp>
      <ns0:sp>
        <ns0:nvSpPr>
          <ns0:cNvPr id="15" name="Text 13"/>
          <ns0:cNvSpPr txBox="1"/>
          <ns0:nvPr/>
        </ns0:nvSpPr>
        <ns0:spPr>
          <ns1:xfrm>
            <ns1:off x="3749040" y="3538728"/>
            <ns1:ext cx="4754880" cy="822960"/>
          </ns1:xfrm>
          <ns1:prstGeom prst="rect">
            <ns1:avLst/>
          </ns1:prstGeom>
          <ns1:noFill/>
          <ns1:ln/>
        </ns0:spPr>
        <ns0:txBody>
          <ns1:bodyPr wrap="square" lIns="0" tIns="0" rIns="0" bIns="0" rtlCol="0" anchor="t"/>
          <ns1:lstStyle/>
          <ns1:p>
            <ns1:pPr indent="0" marL="0" eaLnBrk="0">
              <ns1:buNone/>
            </ns1:pPr>
            <ns1:r>
              <ns1:rPr lang="ko-KR" altLang="en-US" sz="1500" dirty="0">
                <ns1:solidFill>
                  <ns1:srgbClr val="1F2328"/>
                </ns1:solidFill>
                <ns1:latin typeface="Malgun Gothic" pitchFamily="34" charset="0"/>
                <ns1:ea typeface="Malgun Gothic" pitchFamily="34" charset="-122"/>
                <ns1:cs typeface="Malgun Gothic" pitchFamily="34" charset="-120"/>
              </ns1:rPr>
              <ns1:t>합성 파이프라인을 직접 구현하고,</ns1:t>
            </ns1:r>
            <ns1:endParaRPr lang="ko-KR" sz="1500" dirty="0"/>
          </ns1:p>
          <ns1:p>
            <ns1:pPr indent="0" marL="0" eaLnBrk="0">
              <ns1:buNone/>
            </ns1:pPr>
            <ns1:r>
              <ns1:rPr lang="ko-KR" altLang="en-US" sz="1500" dirty="0">
                <ns1:solidFill>
                  <ns1:srgbClr val="1F2328"/>
                </ns1:solidFill>
                <ns1:latin typeface="Malgun Gothic" pitchFamily="34" charset="0"/>
                <ns1:ea typeface="Malgun Gothic" pitchFamily="34" charset="-122"/>
                <ns1:cs typeface="Malgun Gothic" pitchFamily="34" charset="-120"/>
              </ns1:rPr>
              <ns1:t>상용 생성 API는 비교 기준선으로만 둔다.</ns1:t>
            </ns1:r>
            <ns1:endParaRPr lang="ko-KR" sz="1500" dirty="0"/>
          </ns1:p>
        </ns0:txBody>
      </ns0:sp>
    </ns0:spTree>
  </ns0:cSld>
  <ns0:clrMapOvr>
    <ns1:masterClrMapping/>
  </ns0:clrMapOvr>
</ns0:sld>
</file>

<file path=ppt/slides/slide3.xml><?xml version="1.0" encoding="utf-8"?>
<ns0:sld xmlns:ns0="http://schemas.openxmlformats.org/presentationml/2006/main" xmlns:ns1="http://schemas.openxmlformats.org/drawingml/2006/main">
  <ns0:cSld name="Slide 3">
    <ns0:bg>
      <ns0:bgPr>
        <ns1:solidFill>
          <ns1:srgbClr val="FFFFFF"/>
        </ns1:solidFill>
      </ns0:bgPr>
    </ns0:bg>
    <ns0:spTree>
      <ns0:nvGrpSpPr>
        <ns0:cNvPr id="1" name=""/>
        <ns0:cNvGrpSpPr/>
        <ns0:nvPr/>
      </ns0:nvGrpSpPr>
      <ns0:grpSpPr>
        <ns1:xfrm>
          <ns1:off x="0" y="0"/>
          <ns1:ext cx="0" cy="0"/>
          <ns1:chOff x="0" y="0"/>
          <ns1:chExt cx="0" cy="0"/>
        </ns1:xfrm>
      </ns0:grpSpPr>
      <ns0:sp>
        <ns0:nvSpPr>
          <ns0:cNvPr id="2" name="Shape 0"/>
          <ns0:cNvSpPr/>
          <ns0:nvPr/>
        </ns0:nvSpPr>
        <ns0:spPr>
          <ns1:xfrm>
            <ns1:off x="457200" y="329184"/>
            <ns1:ext cx="420624" cy="420624"/>
          </ns1:xfrm>
          <ns1:prstGeom prst="ellipse">
            <ns1:avLst/>
          </ns1:prstGeom>
          <ns1:solidFill>
            <ns1:srgbClr val="C8553D"/>
          </ns1:solidFill>
          <ns1:ln w="12700">
            <ns1:solidFill>
              <ns1:srgbClr val="C8553D"/>
            </ns1:solidFill>
            <ns1:prstDash val="solid"/>
          </ns1:ln>
        </ns0:spPr>
      </ns0:sp>
      <ns0:sp>
        <ns0:nvSpPr>
          <ns0:cNvPr id="3" name="Text 1"/>
          <ns0:cNvSpPr txBox="1"/>
          <ns0:nvPr/>
        </ns0:nvSpPr>
        <ns0:spPr>
          <ns1:xfrm>
            <ns1:off x="457200" y="329184"/>
            <ns1:ext cx="420624" cy="420624"/>
          </ns1:xfrm>
          <ns1:prstGeom prst="rect">
            <ns1:avLst/>
          </ns1:prstGeom>
          <ns1:noFill/>
          <ns1:ln/>
        </ns0:spPr>
        <ns0:txBody>
          <ns1:bodyPr wrap="square" lIns="0" tIns="0" rIns="0" bIns="0" rtlCol="0" anchor="ctr"/>
          <ns1:lstStyle/>
          <ns1:p>
            <ns1:pPr algn="ctr" indent="0" marL="0" eaLnBrk="0">
              <ns1:buNone/>
            </ns1:pPr>
            <ns1:r>
              <ns1:rPr lang="ko-KR" altLang="en-US" sz="1500" b="1" dirty="0">
                <ns1:solidFill>
                  <ns1:srgbClr val="FFFFFF"/>
                </ns1:solidFill>
                <ns1:latin typeface="Malgun Gothic" pitchFamily="34" charset="0"/>
                <ns1:ea typeface="Malgun Gothic" pitchFamily="34" charset="-122"/>
                <ns1:cs typeface="Malgun Gothic" pitchFamily="34" charset="-120"/>
              </ns1:rPr>
              <ns1:t>2</ns1:t>
            </ns1:r>
            <ns1:endParaRPr lang="ko-KR" sz="1500" dirty="0"/>
          </ns1:p>
        </ns0:txBody>
      </ns0:sp>
      <ns0:sp>
        <ns0:nvSpPr>
          <ns0:cNvPr id="4" name="Text 2"/>
          <ns0:cNvSpPr txBox="1"/>
          <ns0:nvPr/>
        </ns0:nvSpPr>
        <ns0:spPr>
          <ns1:xfrm>
            <ns1:off x="1024128" y="274320"/>
            <ns1:ext cx="7680960" cy="530352"/>
          </ns1:xfrm>
          <ns1:prstGeom prst="rect">
            <ns1:avLst/>
          </ns1:prstGeom>
          <ns1:noFill/>
          <ns1:ln/>
        </ns0:spPr>
        <ns0:txBody>
          <ns1:bodyPr wrap="square" lIns="0" tIns="0" rIns="0" bIns="0" rtlCol="0" anchor="ctr"/>
          <ns1:lstStyle/>
          <ns1:p>
            <ns1:pPr indent="0" marL="0" eaLnBrk="0">
              <ns1:buNone/>
            </ns1:pPr>
            <ns1:r>
              <ns1:rPr lang="ko-KR" altLang="en-US" sz="2400" b="1" dirty="0">
                <ns1:solidFill>
                  <ns1:srgbClr val="1F2328"/>
                </ns1:solidFill>
                <ns1:latin typeface="Malgun Gothic" pitchFamily="34" charset="0"/>
                <ns1:ea typeface="Malgun Gothic" pitchFamily="34" charset="-122"/>
                <ns1:cs typeface="Malgun Gothic" pitchFamily="34" charset="-120"/>
              </ns1:rPr>
              <ns1:t>구조: 모두 이 컴퓨터에서 도는 합성 파이프라인</ns1:t>
            </ns1:r>
            <ns1:endParaRPr lang="ko-KR" sz="2400" dirty="0"/>
          </ns1:p>
        </ns0:txBody>
      </ns0:sp>
      <ns0:sp>
        <ns0:nvSpPr>
          <ns0:cNvPr id="5" name="Shape 3"/>
          <ns0:cNvSpPr/>
          <ns0:nvPr/>
        </ns0:nvSpPr>
        <ns0:spPr>
          <ns1:xfrm>
            <ns1:off x="457200" y="1188720"/>
            <ns1:ext cx="1097280" cy="777240"/>
          </ns1:xfrm>
          <ns1:prstGeom prst="roundRect">
            <ns1:avLst>
              <ns1:gd name="adj" fmla="val 7059"/>
            </ns1:avLst>
          </ns1:prstGeom>
          <ns1:solidFill>
            <ns1:srgbClr val="F2F3F1"/>
          </ns1:solidFill>
          <ns1:ln w="9525">
            <ns1:solidFill>
              <ns1:srgbClr val="F2F3F1"/>
            </ns1:solidFill>
            <ns1:prstDash val="solid"/>
          </ns1:ln>
        </ns0:spPr>
      </ns0:sp>
      <ns0:sp>
        <ns0:nvSpPr>
          <ns0:cNvPr id="6" name="Text 4"/>
          <ns0:cNvSpPr txBox="1"/>
          <ns0:nvPr/>
        </ns0:nvSpPr>
        <ns0:spPr>
          <ns1:xfrm>
            <ns1:off x="530352" y="1188720"/>
            <ns1:ext cx="950976" cy="777240"/>
          </ns1:xfrm>
          <ns1:prstGeom prst="rect">
            <ns1:avLst/>
          </ns1:prstGeom>
          <ns1:noFill/>
          <ns1:ln/>
        </ns0:spPr>
        <ns0:txBody>
          <ns1:bodyPr wrap="square" lIns="0" tIns="0" rIns="0" bIns="0" rtlCol="0" anchor="ctr"/>
          <ns1:lstStyle/>
          <ns1:p>
            <ns1:pPr algn="ctr" indent="0" marL="0" eaLnBrk="0">
              <ns1:buNone/>
            </ns1:pPr>
            <ns1:r>
              <ns1:rPr lang="ko-KR" altLang="en-US" sz="1250" b="1" dirty="0">
                <ns1:solidFill>
                  <ns1:srgbClr val="1F2328"/>
                </ns1:solidFill>
                <ns1:latin typeface="Malgun Gothic" pitchFamily="34" charset="0"/>
                <ns1:ea typeface="Malgun Gothic" pitchFamily="34" charset="-122"/>
                <ns1:cs typeface="Malgun Gothic" pitchFamily="34" charset="-120"/>
              </ns1:rPr>
              <ns1:t>방 사진</ns1:t>
            </ns1:r>
            <ns1:endParaRPr lang="ko-KR" sz="1250" dirty="0"/>
          </ns1:p>
        </ns0:txBody>
      </ns0:sp>
      <ns0:sp>
        <ns0:nvSpPr>
          <ns0:cNvPr id="7" name="Shape 5"/>
          <ns0:cNvSpPr/>
          <ns0:nvPr/>
        </ns0:nvSpPr>
        <ns0:spPr>
          <ns1:xfrm>
            <ns1:off x="457200" y="2331720"/>
            <ns1:ext cx="1097280" cy="777240"/>
          </ns1:xfrm>
          <ns1:prstGeom prst="roundRect">
            <ns1:avLst>
              <ns1:gd name="adj" fmla="val 7059"/>
            </ns1:avLst>
          </ns1:prstGeom>
          <ns1:solidFill>
            <ns1:srgbClr val="F2F3F1"/>
          </ns1:solidFill>
          <ns1:ln w="9525">
            <ns1:solidFill>
              <ns1:srgbClr val="F2F3F1"/>
            </ns1:solidFill>
            <ns1:prstDash val="solid"/>
          </ns1:ln>
        </ns0:spPr>
      </ns0:sp>
      <ns0:sp>
        <ns0:nvSpPr>
          <ns0:cNvPr id="8" name="Text 6"/>
          <ns0:cNvSpPr txBox="1"/>
          <ns0:nvPr/>
        </ns0:nvSpPr>
        <ns0:spPr>
          <ns1:xfrm>
            <ns1:off x="530352" y="2331720"/>
            <ns1:ext cx="950976" cy="777240"/>
          </ns1:xfrm>
          <ns1:prstGeom prst="rect">
            <ns1:avLst/>
          </ns1:prstGeom>
          <ns1:noFill/>
          <ns1:ln/>
        </ns0:spPr>
        <ns0:txBody>
          <ns1:bodyPr wrap="square" lIns="0" tIns="0" rIns="0" bIns="0" rtlCol="0" anchor="ctr"/>
          <ns1:lstStyle/>
          <ns1:p>
            <ns1:pPr algn="ctr" indent="0" marL="0" eaLnBrk="0">
              <ns1:buNone/>
            </ns1:pPr>
            <ns1:r>
              <ns1:rPr lang="ko-KR" altLang="en-US" sz="1250" b="1" dirty="0">
                <ns1:solidFill>
                  <ns1:srgbClr val="1F2328"/>
                </ns1:solidFill>
                <ns1:latin typeface="Malgun Gothic" pitchFamily="34" charset="0"/>
                <ns1:ea typeface="Malgun Gothic" pitchFamily="34" charset="-122"/>
                <ns1:cs typeface="Malgun Gothic" pitchFamily="34" charset="-120"/>
              </ns1:rPr>
              <ns1:t>가구 사진</ns1:t>
            </ns1:r>
            <ns1:endParaRPr lang="ko-KR" sz="1250" dirty="0"/>
          </ns1:p>
        </ns0:txBody>
      </ns0:sp>
      <ns0:sp>
        <ns0:nvSpPr>
          <ns0:cNvPr id="9" name="Shape 7"/>
          <ns0:cNvSpPr/>
          <ns0:nvPr/>
        </ns0:nvSpPr>
        <ns0:spPr>
          <ns1:xfrm>
            <ns1:off x="1874520" y="1188720"/>
            <ns1:ext cx="1691640" cy="777240"/>
          </ns1:xfrm>
          <ns1:prstGeom prst="roundRect">
            <ns1:avLst>
              <ns1:gd name="adj" fmla="val 7059"/>
            </ns1:avLst>
          </ns1:prstGeom>
          <ns1:solidFill>
            <ns1:srgbClr val="F2F3F1"/>
          </ns1:solidFill>
          <ns1:ln w="9525">
            <ns1:solidFill>
              <ns1:srgbClr val="F2F3F1"/>
            </ns1:solidFill>
            <ns1:prstDash val="solid"/>
          </ns1:ln>
        </ns0:spPr>
      </ns0:sp>
      <ns0:sp>
        <ns0:nvSpPr>
          <ns0:cNvPr id="10" name="Text 8"/>
          <ns0:cNvSpPr txBox="1"/>
          <ns0:nvPr/>
        </ns0:nvSpPr>
        <ns0:spPr>
          <ns1:xfrm>
            <ns1:off x="1947672" y="1188720"/>
            <ns1:ext cx="1545336" cy="777240"/>
          </ns1:xfrm>
          <ns1:prstGeom prst="rect">
            <ns1:avLst/>
          </ns1:prstGeom>
          <ns1:noFill/>
          <ns1:ln/>
        </ns0:spPr>
        <ns0:txBody>
          <ns1:bodyPr wrap="square" lIns="0" tIns="0" rIns="0" bIns="0" rtlCol="0" anchor="ctr"/>
          <ns1:lstStyle/>
          <ns1:p>
            <ns1:pPr algn="ctr" indent="0" marL="0" eaLnBrk="0">
              <ns1:buNone/>
            </ns1:pPr>
            <ns1:r>
              <ns1:rPr lang="ko-KR" altLang="en-US" sz="1250" b="1" dirty="0">
                <ns1:solidFill>
                  <ns1:srgbClr val="1F2328"/>
                </ns1:solidFill>
                <ns1:latin typeface="Malgun Gothic" pitchFamily="34" charset="0"/>
                <ns1:ea typeface="Malgun Gothic" pitchFamily="34" charset="-122"/>
                <ns1:cs typeface="Malgun Gothic" pitchFamily="34" charset="-120"/>
              </ns1:rPr>
              <ns1:t>깊이 추정</ns1:t>
            </ns1:r>
            <ns1:endParaRPr lang="ko-KR" sz="1250" dirty="0"/>
          </ns1:p>
          <ns1:p>
            <ns1:pPr algn="ctr" indent="0" marL="0" eaLnBrk="0">
              <ns1:buNone/>
            </ns1:pPr>
            <ns1:r>
              <ns1:rPr lang="ko-KR" altLang="en-US" sz="1000" dirty="0">
                <ns1:solidFill>
                  <ns1:srgbClr val="5F6670"/>
                </ns1:solidFill>
                <ns1:latin typeface="Malgun Gothic" pitchFamily="34" charset="0"/>
                <ns1:ea typeface="Malgun Gothic" pitchFamily="34" charset="-122"/>
                <ns1:cs typeface="Malgun Gothic" pitchFamily="34" charset="-120"/>
              </ns1:rPr>
              <ns1:t>Depth Anything V2</ns1:t>
            </ns1:r>
            <ns1:endParaRPr lang="ko-KR" sz="1250" dirty="0"/>
          </ns1:p>
        </ns0:txBody>
      </ns0:sp>
      <ns0:sp>
        <ns0:nvSpPr>
          <ns0:cNvPr id="11" name="Shape 9"/>
          <ns0:cNvSpPr/>
          <ns0:nvPr/>
        </ns0:nvSpPr>
        <ns0:spPr>
          <ns1:xfrm>
            <ns1:off x="3886200" y="1188720"/>
            <ns1:ext cx="1691640" cy="777240"/>
          </ns1:xfrm>
          <ns1:prstGeom prst="roundRect">
            <ns1:avLst>
              <ns1:gd name="adj" fmla="val 7059"/>
            </ns1:avLst>
          </ns1:prstGeom>
          <ns1:solidFill>
            <ns1:srgbClr val="F2F3F1"/>
          </ns1:solidFill>
          <ns1:ln w="9525">
            <ns1:solidFill>
              <ns1:srgbClr val="F2F3F1"/>
            </ns1:solidFill>
            <ns1:prstDash val="solid"/>
          </ns1:ln>
        </ns0:spPr>
      </ns0:sp>
      <ns0:sp>
        <ns0:nvSpPr>
          <ns0:cNvPr id="12" name="Text 10"/>
          <ns0:cNvSpPr txBox="1"/>
          <ns0:nvPr/>
        </ns0:nvSpPr>
        <ns0:spPr>
          <ns1:xfrm>
            <ns1:off x="3959352" y="1188720"/>
            <ns1:ext cx="1545336" cy="777240"/>
          </ns1:xfrm>
          <ns1:prstGeom prst="rect">
            <ns1:avLst/>
          </ns1:prstGeom>
          <ns1:noFill/>
          <ns1:ln/>
        </ns0:spPr>
        <ns0:txBody>
          <ns1:bodyPr wrap="square" lIns="0" tIns="0" rIns="0" bIns="0" rtlCol="0" anchor="ctr"/>
          <ns1:lstStyle/>
          <ns1:p>
            <ns1:pPr algn="ctr" indent="0" marL="0" eaLnBrk="0">
              <ns1:buNone/>
            </ns1:pPr>
            <ns1:r>
              <ns1:rPr lang="ko-KR" altLang="en-US" sz="1250" b="1" dirty="0">
                <ns1:solidFill>
                  <ns1:srgbClr val="1F2328"/>
                </ns1:solidFill>
                <ns1:latin typeface="Malgun Gothic" pitchFamily="34" charset="0"/>
                <ns1:ea typeface="Malgun Gothic" pitchFamily="34" charset="-122"/>
                <ns1:cs typeface="Malgun Gothic" pitchFamily="34" charset="-120"/>
              </ns1:rPr>
              <ns1:t>바닥 평면</ns1:t>
            </ns1:r>
            <ns1:endParaRPr lang="ko-KR" sz="1250" dirty="0"/>
          </ns1:p>
          <ns1:p>
            <ns1:pPr algn="ctr" indent="0" marL="0" eaLnBrk="0">
              <ns1:buNone/>
            </ns1:pPr>
            <ns1:r>
              <ns1:rPr lang="ko-KR" altLang="en-US" sz="1000" dirty="0">
                <ns1:solidFill>
                  <ns1:srgbClr val="5F6670"/>
                </ns1:solidFill>
                <ns1:latin typeface="Malgun Gothic" pitchFamily="34" charset="0"/>
                <ns1:ea typeface="Malgun Gothic" pitchFamily="34" charset="-122"/>
                <ns1:cs typeface="Malgun Gothic" pitchFamily="34" charset="-120"/>
              </ns1:rPr>
              <ns1:t>역깊이 RANSAC</ns1:t>
            </ns1:r>
            <ns1:endParaRPr lang="ko-KR" sz="1250" dirty="0"/>
          </ns1:p>
        </ns0:txBody>
      </ns0:sp>
      <ns0:sp>
        <ns0:nvSpPr>
          <ns0:cNvPr id="13" name="Text 11"/>
          <ns0:cNvSpPr txBox="1"/>
          <ns0:nvPr/>
        </ns0:nvSpPr>
        <ns0:spPr>
          <ns1:xfrm>
            <ns1:off x="457200" y="3401568"/>
            <ns1:ext cx="5074920" cy="594360"/>
          </ns1:xfrm>
          <ns1:prstGeom prst="rect">
            <ns1:avLst/>
          </ns1:prstGeom>
          <ns1:noFill/>
          <ns1:ln/>
        </ns0:spPr>
        <ns0:txBody>
          <ns1:bodyPr wrap="square" lIns="0" tIns="0" rIns="0" bIns="0" rtlCol="0" anchor="t"/>
          <ns1:lstStyle/>
          <ns1:p>
            <ns1:pPr indent="0" marL="0" eaLnBrk="0">
              <ns1:buNone/>
            </ns1:pPr>
            <ns1:r>
              <ns1:rPr lang="ko-KR" altLang="en-US" sz="1150" dirty="0">
                <ns1:solidFill>
                  <ns1:srgbClr val="5F6670"/>
                </ns1:solidFill>
                <ns1:latin typeface="Malgun Gothic" pitchFamily="34" charset="0"/>
                <ns1:ea typeface="Malgun Gothic" pitchFamily="34" charset="-122"/>
                <ns1:cs typeface="Malgun Gothic" pitchFamily="34" charset="-120"/>
              </ns1:rPr>
              <ns1:t>실제 높이(m) 입력 · 모르면 ‘수동’ 모드를 선택</ns1:t>
            </ns1:r>
            <ns1:endParaRPr lang="ko-KR" sz="1150" dirty="0"/>
          </ns1:p>
          <ns1:p>
            <ns1:pPr indent="0" marL="0" eaLnBrk="0">
              <ns1:buNone/>
            </ns1:pPr>
            <ns1:r>
              <ns1:rPr lang="ko-KR" altLang="en-US" sz="1150" dirty="0">
                <ns1:solidFill>
                  <ns1:srgbClr val="5F6670"/>
                </ns1:solidFill>
                <ns1:latin typeface="Malgun Gothic" pitchFamily="34" charset="0"/>
                <ns1:ea typeface="Malgun Gothic" pitchFamily="34" charset="-122"/>
                <ns1:cs typeface="Malgun Gothic" pitchFamily="34" charset="-120"/>
              </ns1:rPr>
              <ns1:t>바닥 추정 실패: 세우기는 수동 진행, 러그는 명시적 오류</ns1:t>
            </ns1:r>
            <ns1:endParaRPr lang="ko-KR" sz="1150" dirty="0"/>
          </ns1:p>
        </ns0:txBody>
      </ns0:sp>
      <ns0:sp>
        <ns0:nvSpPr>
          <ns0:cNvPr id="14" name="Shape 12"/>
          <ns0:cNvSpPr/>
          <ns0:nvPr/>
        </ns0:nvSpPr>
        <ns0:spPr>
          <ns1:xfrm>
            <ns1:off x="1874520" y="2331720"/>
            <ns1:ext cx="1691640" cy="777240"/>
          </ns1:xfrm>
          <ns1:prstGeom prst="roundRect">
            <ns1:avLst>
              <ns1:gd name="adj" fmla="val 7059"/>
            </ns1:avLst>
          </ns1:prstGeom>
          <ns1:solidFill>
            <ns1:srgbClr val="F2F3F1"/>
          </ns1:solidFill>
          <ns1:ln w="9525">
            <ns1:solidFill>
              <ns1:srgbClr val="F2F3F1"/>
            </ns1:solidFill>
            <ns1:prstDash val="solid"/>
          </ns1:ln>
        </ns0:spPr>
      </ns0:sp>
      <ns0:sp>
        <ns0:nvSpPr>
          <ns0:cNvPr id="15" name="Text 13"/>
          <ns0:cNvSpPr txBox="1"/>
          <ns0:nvPr/>
        </ns0:nvSpPr>
        <ns0:spPr>
          <ns1:xfrm>
            <ns1:off x="1947672" y="2331720"/>
            <ns1:ext cx="1545336" cy="777240"/>
          </ns1:xfrm>
          <ns1:prstGeom prst="rect">
            <ns1:avLst/>
          </ns1:prstGeom>
          <ns1:noFill/>
          <ns1:ln/>
        </ns0:spPr>
        <ns0:txBody>
          <ns1:bodyPr wrap="square" lIns="0" tIns="0" rIns="0" bIns="0" rtlCol="0" anchor="ctr"/>
          <ns1:lstStyle/>
          <ns1:p>
            <ns1:pPr algn="ctr" indent="0" marL="0" eaLnBrk="0">
              <ns1:buNone/>
            </ns1:pPr>
            <ns1:r>
              <ns1:rPr lang="ko-KR" altLang="en-US" sz="1250" b="1" dirty="0">
                <ns1:solidFill>
                  <ns1:srgbClr val="1F2328"/>
                </ns1:solidFill>
                <ns1:latin typeface="Malgun Gothic" pitchFamily="34" charset="0"/>
                <ns1:ea typeface="Malgun Gothic" pitchFamily="34" charset="-122"/>
                <ns1:cs typeface="Malgun Gothic" pitchFamily="34" charset="-120"/>
              </ns1:rPr>
              <ns1:t>누끼</ns1:t>
            </ns1:r>
            <ns1:endParaRPr lang="ko-KR" sz="1250" dirty="0"/>
          </ns1:p>
          <ns1:p>
            <ns1:pPr algn="ctr" indent="0" marL="0" eaLnBrk="0">
              <ns1:buNone/>
            </ns1:pPr>
            <ns1:r>
              <ns1:rPr lang="ko-KR" altLang="en-US" sz="1000" dirty="0">
                <ns1:solidFill>
                  <ns1:srgbClr val="5F6670"/>
                </ns1:solidFill>
                <ns1:latin typeface="Malgun Gothic" pitchFamily="34" charset="0"/>
                <ns1:ea typeface="Malgun Gothic" pitchFamily="34" charset="-122"/>
                <ns1:cs typeface="Malgun Gothic" pitchFamily="34" charset="-120"/>
              </ns1:rPr>
              <ns1:t>SAM ViT-B · 박스 프롬프트</ns1:t>
            </ns1:r>
            <ns1:endParaRPr lang="ko-KR" sz="1250" dirty="0"/>
          </ns1:p>
        </ns0:txBody>
      </ns0:sp>
      <ns0:sp>
        <ns0:nvSpPr>
          <ns0:cNvPr id="16" name="Shape 14"/>
          <ns0:cNvSpPr/>
          <ns0:nvPr/>
        </ns0:nvSpPr>
        <ns0:spPr>
          <ns1:xfrm>
            <ns1:off x="5897880" y="1188720"/>
            <ns1:ext cx="1600200" cy="1920240"/>
          </ns1:xfrm>
          <ns1:prstGeom prst="roundRect">
            <ns1:avLst>
              <ns1:gd name="adj" fmla="val 3429"/>
            </ns1:avLst>
          </ns1:prstGeom>
          <ns1:solidFill>
            <ns1:srgbClr val="22262A"/>
          </ns1:solidFill>
          <ns1:ln w="9525">
            <ns1:solidFill>
              <ns1:srgbClr val="22262A"/>
            </ns1:solidFill>
            <ns1:prstDash val="solid"/>
          </ns1:ln>
        </ns0:spPr>
      </ns0:sp>
      <ns0:sp>
        <ns0:nvSpPr>
          <ns0:cNvPr id="17" name="Text 15"/>
          <ns0:cNvSpPr txBox="1"/>
          <ns0:nvPr/>
        </ns0:nvSpPr>
        <ns0:spPr>
          <ns1:xfrm>
            <ns1:off x="5971032" y="1188720"/>
            <ns1:ext cx="1453896" cy="1920240"/>
          </ns1:xfrm>
          <ns1:prstGeom prst="rect">
            <ns1:avLst/>
          </ns1:prstGeom>
          <ns1:noFill/>
          <ns1:ln/>
        </ns0:spPr>
        <ns0:txBody>
          <ns1:bodyPr wrap="square" lIns="0" tIns="0" rIns="0" bIns="0" rtlCol="0" anchor="ctr"/>
          <ns1:lstStyle/>
          <ns1:p>
            <ns1:pPr algn="ctr" indent="0" marL="0" eaLnBrk="0">
              <ns1:buNone/>
            </ns1:pPr>
            <ns1:r>
              <ns1:rPr lang="ko-KR" altLang="en-US" sz="1250" b="1" dirty="0">
                <ns1:solidFill>
                  <ns1:srgbClr val="FFFFFF"/>
                </ns1:solidFill>
                <ns1:latin typeface="Malgun Gothic" pitchFamily="34" charset="0"/>
                <ns1:ea typeface="Malgun Gothic" pitchFamily="34" charset="-122"/>
                <ns1:cs typeface="Malgun Gothic" pitchFamily="34" charset="-120"/>
              </ns1:rPr>
              <ns1:t>합성</ns1:t>
            </ns1:r>
            <ns1:endParaRPr lang="ko-KR" sz="1250" dirty="0"/>
          </ns1:p>
          <ns1:p>
            <ns1:pPr algn="ctr" indent="0" marL="0" eaLnBrk="0">
              <ns1:buNone/>
            </ns1:pPr>
            <ns1:r>
              <ns1:rPr lang="ko-KR" altLang="en-US" sz="1000" dirty="0">
                <ns1:solidFill>
                  <ns1:srgbClr val="E6E6E6"/>
                </ns1:solidFill>
                <ns1:latin typeface="Malgun Gothic" pitchFamily="34" charset="0"/>
                <ns1:ea typeface="Malgun Gothic" pitchFamily="34" charset="-122"/>
                <ns1:cs typeface="Malgun Gothic" pitchFamily="34" charset="-120"/>
              </ns1:rPr>
              <ns1:t>크기·원근 배치</ns1:t>
            </ns1:r>
            <ns1:endParaRPr lang="ko-KR" sz="1250" dirty="0"/>
          </ns1:p>
          <ns1:p>
            <ns1:pPr algn="ctr" indent="0" marL="0" eaLnBrk="0">
              <ns1:buNone/>
            </ns1:pPr>
            <ns1:r>
              <ns1:rPr lang="ko-KR" altLang="en-US" sz="1000" dirty="0">
                <ns1:solidFill>
                  <ns1:srgbClr val="E6E6E6"/>
                </ns1:solidFill>
                <ns1:latin typeface="Malgun Gothic" pitchFamily="34" charset="0"/>
                <ns1:ea typeface="Malgun Gothic" pitchFamily="34" charset="-122"/>
                <ns1:cs typeface="Malgun Gothic" pitchFamily="34" charset="-120"/>
              </ns1:rPr>
              <ns1:t>조명 정합</ns1:t>
            </ns1:r>
            <ns1:endParaRPr lang="ko-KR" sz="1250" dirty="0"/>
          </ns1:p>
          <ns1:p>
            <ns1:pPr algn="ctr" indent="0" marL="0" eaLnBrk="0">
              <ns1:buNone/>
            </ns1:pPr>
            <ns1:r>
              <ns1:rPr lang="ko-KR" altLang="en-US" sz="1000" dirty="0">
                <ns1:solidFill>
                  <ns1:srgbClr val="E6E6E6"/>
                </ns1:solidFill>
                <ns1:latin typeface="Malgun Gothic" pitchFamily="34" charset="0"/>
                <ns1:ea typeface="Malgun Gothic" pitchFamily="34" charset="-122"/>
                <ns1:cs typeface="Malgun Gothic" pitchFamily="34" charset="-120"/>
              </ns1:rPr>
              <ns1:t>접지 그림자</ns1:t>
            </ns1:r>
            <ns1:endParaRPr lang="ko-KR" sz="1250" dirty="0"/>
          </ns1:p>
          <ns1:p>
            <ns1:pPr algn="ctr" indent="0" marL="0" eaLnBrk="0">
              <ns1:buNone/>
            </ns1:pPr>
            <ns1:r>
              <ns1:rPr lang="ko-KR" altLang="en-US" sz="1000" dirty="0">
                <ns1:solidFill>
                  <ns1:srgbClr val="E6E6E6"/>
                </ns1:solidFill>
                <ns1:latin typeface="Malgun Gothic" pitchFamily="34" charset="0"/>
                <ns1:ea typeface="Malgun Gothic" pitchFamily="34" charset="-122"/>
                <ns1:cs typeface="Malgun Gothic" pitchFamily="34" charset="-120"/>
              </ns1:rPr>
              <ns1:t>깊이 기반 가림</ns1:t>
            </ns1:r>
            <ns1:endParaRPr lang="ko-KR" sz="1250" dirty="0"/>
          </ns1:p>
        </ns0:txBody>
      </ns0:sp>
      <ns0:sp>
        <ns0:nvSpPr>
          <ns0:cNvPr id="18" name="Shape 16"/>
          <ns0:cNvSpPr/>
          <ns0:nvPr/>
        </ns0:nvSpPr>
        <ns0:spPr>
          <ns1:xfrm>
            <ns1:off x="7818120" y="1188720"/>
            <ns1:ext cx="868680" cy="1920240"/>
          </ns1:xfrm>
          <ns1:prstGeom prst="roundRect">
            <ns1:avLst>
              <ns1:gd name="adj" fmla="val 6316"/>
            </ns1:avLst>
          </ns1:prstGeom>
          <ns1:solidFill>
            <ns1:srgbClr val="C8553D"/>
          </ns1:solidFill>
          <ns1:ln w="9525">
            <ns1:solidFill>
              <ns1:srgbClr val="C8553D"/>
            </ns1:solidFill>
            <ns1:prstDash val="solid"/>
          </ns1:ln>
        </ns0:spPr>
      </ns0:sp>
      <ns0:sp>
        <ns0:nvSpPr>
          <ns0:cNvPr id="19" name="Text 17"/>
          <ns0:cNvSpPr txBox="1"/>
          <ns0:nvPr/>
        </ns0:nvSpPr>
        <ns0:spPr>
          <ns1:xfrm>
            <ns1:off x="7891272" y="1188720"/>
            <ns1:ext cx="722376" cy="1920240"/>
          </ns1:xfrm>
          <ns1:prstGeom prst="rect">
            <ns1:avLst/>
          </ns1:prstGeom>
          <ns1:noFill/>
          <ns1:ln/>
        </ns0:spPr>
        <ns0:txBody>
          <ns1:bodyPr wrap="square" lIns="0" tIns="0" rIns="0" bIns="0" rtlCol="0" anchor="ctr"/>
          <ns1:lstStyle/>
          <ns1:p>
            <ns1:pPr algn="ctr" indent="0" marL="0" eaLnBrk="0">
              <ns1:buNone/>
            </ns1:pPr>
            <ns1:r>
              <ns1:rPr lang="ko-KR" altLang="en-US" sz="1250" b="1" dirty="0">
                <ns1:solidFill>
                  <ns1:srgbClr val="FFFFFF"/>
                </ns1:solidFill>
                <ns1:latin typeface="Malgun Gothic" pitchFamily="34" charset="0"/>
                <ns1:ea typeface="Malgun Gothic" pitchFamily="34" charset="-122"/>
                <ns1:cs typeface="Malgun Gothic" pitchFamily="34" charset="-120"/>
              </ns1:rPr>
              <ns1:t>결과</ns1:t>
            </ns1:r>
            <ns1:endParaRPr lang="ko-KR" sz="1250" dirty="0"/>
          </ns1:p>
        </ns0:txBody>
      </ns0:sp>
      <ns0:sp>
        <ns0:nvSpPr>
          <ns0:cNvPr id="20" name="Shape 18"/>
          <ns0:cNvSpPr/>
          <ns0:nvPr/>
        </ns0:nvSpPr>
        <ns0:spPr>
          <ns1:xfrm>
            <ns1:off x="5897880" y="3611880"/>
            <ns1:ext cx="1600200" cy="658368"/>
          </ns1:xfrm>
          <ns1:prstGeom prst="roundRect">
            <ns1:avLst>
              <ns1:gd name="adj" fmla="val 8333"/>
            </ns1:avLst>
          </ns1:prstGeom>
          <ns1:solidFill>
            <ns1:srgbClr val="FFFFFF"/>
          </ns1:solidFill>
          <ns1:ln w="15875">
            <ns1:solidFill>
              <ns1:srgbClr val="5E8A6A"/>
            </ns1:solidFill>
            <ns1:prstDash val="dash"/>
          </ns1:ln>
        </ns0:spPr>
      </ns0:sp>
      <ns0:sp>
        <ns0:nvSpPr>
          <ns0:cNvPr id="21" name="Text 19"/>
          <ns0:cNvSpPr txBox="1"/>
          <ns0:nvPr/>
        </ns0:nvSpPr>
        <ns0:spPr>
          <ns1:xfrm>
            <ns1:off x="5971032" y="3611880"/>
            <ns1:ext cx="1453896" cy="658368"/>
          </ns1:xfrm>
          <ns1:prstGeom prst="rect">
            <ns1:avLst/>
          </ns1:prstGeom>
          <ns1:noFill/>
          <ns1:ln/>
        </ns0:spPr>
        <ns0:txBody>
          <ns1:bodyPr wrap="square" lIns="0" tIns="0" rIns="0" bIns="0" rtlCol="0" anchor="ctr"/>
          <ns1:lstStyle/>
          <ns1:p>
            <ns1:pPr algn="ctr" indent="0" marL="0" eaLnBrk="0">
              <ns1:buNone/>
            </ns1:pPr>
            <ns1:r>
              <ns1:rPr lang="ko-KR" altLang="en-US" sz="1250" b="1" dirty="0">
                <ns1:solidFill>
                  <ns1:srgbClr val="1F2328"/>
                </ns1:solidFill>
                <ns1:latin typeface="Malgun Gothic" pitchFamily="34" charset="0"/>
                <ns1:ea typeface="Malgun Gothic" pitchFamily="34" charset="-122"/>
                <ns1:cs typeface="Malgun Gothic" pitchFamily="34" charset="-120"/>
              </ns1:rPr>
              <ns1:t>선택: AI 다듬기</ns1:t>
            </ns1:r>
            <ns1:endParaRPr lang="ko-KR" sz="1250" dirty="0"/>
          </ns1:p>
          <ns1:p>
            <ns1:pPr algn="ctr" indent="0" marL="0" eaLnBrk="0">
              <ns1:buNone/>
            </ns1:pPr>
            <ns1:r>
              <ns1:rPr lang="ko-KR" altLang="en-US" sz="1000" dirty="0">
                <ns1:solidFill>
                  <ns1:srgbClr val="5F6670"/>
                </ns1:solidFill>
                <ns1:latin typeface="Malgun Gothic" pitchFamily="34" charset="0"/>
                <ns1:ea typeface="Malgun Gothic" pitchFamily="34" charset="-122"/>
                <ns1:cs typeface="Malgun Gothic" pitchFamily="34" charset="-120"/>
              </ns1:rPr>
              <ns1:t>SD 1.5 + ControlNet</ns1:t>
            </ns1:r>
            <ns1:endParaRPr lang="ko-KR" sz="1250" dirty="0"/>
          </ns1:p>
        </ns0:txBody>
      </ns0:sp>
      <ns0:sp>
        <ns0:nvSpPr>
          <ns0:cNvPr id="22" name="Shape 20"/>
          <ns0:cNvSpPr/>
          <ns0:nvPr/>
        </ns0:nvSpPr>
        <ns0:spPr>
          <ns1:xfrm>
            <ns1:off x="1554480" y="1577340"/>
            <ns1:ext cx="320040" cy="0"/>
          </ns1:xfrm>
          <ns1:prstGeom prst="line">
            <ns1:avLst/>
          </ns1:prstGeom>
          <ns1:noFill/>
          <ns1:ln w="19050">
            <ns1:solidFill>
              <ns1:srgbClr val="B3B8BF"/>
            </ns1:solidFill>
            <ns1:prstDash val="solid"/>
            <ns1:tailEnd type="triangle"/>
          </ns1:ln>
        </ns0:spPr>
      </ns0:sp>
      <ns0:sp>
        <ns0:nvSpPr>
          <ns0:cNvPr id="23" name="Shape 21"/>
          <ns0:cNvSpPr/>
          <ns0:nvPr/>
        </ns0:nvSpPr>
        <ns0:spPr>
          <ns1:xfrm>
            <ns1:off x="3566160" y="1577340"/>
            <ns1:ext cx="320040" cy="0"/>
          </ns1:xfrm>
          <ns1:prstGeom prst="line">
            <ns1:avLst/>
          </ns1:prstGeom>
          <ns1:noFill/>
          <ns1:ln w="19050">
            <ns1:solidFill>
              <ns1:srgbClr val="B3B8BF"/>
            </ns1:solidFill>
            <ns1:prstDash val="solid"/>
            <ns1:tailEnd type="triangle"/>
          </ns1:ln>
        </ns0:spPr>
      </ns0:sp>
      <ns0:sp>
        <ns0:nvSpPr>
          <ns0:cNvPr id="24" name="Shape 22"/>
          <ns0:cNvSpPr/>
          <ns0:nvPr/>
        </ns0:nvSpPr>
        <ns0:spPr>
          <ns1:xfrm>
            <ns1:off x="5577840" y="1577340"/>
            <ns1:ext cx="320040" cy="0"/>
          </ns1:xfrm>
          <ns1:prstGeom prst="line">
            <ns1:avLst/>
          </ns1:prstGeom>
          <ns1:noFill/>
          <ns1:ln w="19050">
            <ns1:solidFill>
              <ns1:srgbClr val="B3B8BF"/>
            </ns1:solidFill>
            <ns1:prstDash val="solid"/>
            <ns1:tailEnd type="triangle"/>
          </ns1:ln>
        </ns0:spPr>
      </ns0:sp>
      <ns0:sp>
        <ns0:nvSpPr>
          <ns0:cNvPr id="25" name="Shape 23"/>
          <ns0:cNvSpPr/>
          <ns0:nvPr/>
        </ns0:nvSpPr>
        <ns0:spPr>
          <ns1:xfrm>
            <ns1:off x="1554480" y="2720340"/>
            <ns1:ext cx="320040" cy="0"/>
          </ns1:xfrm>
          <ns1:prstGeom prst="line">
            <ns1:avLst/>
          </ns1:prstGeom>
          <ns1:noFill/>
          <ns1:ln w="19050">
            <ns1:solidFill>
              <ns1:srgbClr val="B3B8BF"/>
            </ns1:solidFill>
            <ns1:prstDash val="solid"/>
            <ns1:tailEnd type="triangle"/>
          </ns1:ln>
        </ns0:spPr>
      </ns0:sp>
      <ns0:sp>
        <ns0:nvSpPr>
          <ns0:cNvPr id="26" name="Shape 24"/>
          <ns0:cNvSpPr/>
          <ns0:nvPr/>
        </ns0:nvSpPr>
        <ns0:spPr>
          <ns1:xfrm>
            <ns1:off x="3566160" y="2720340"/>
            <ns1:ext cx="2331720" cy="0"/>
          </ns1:xfrm>
          <ns1:prstGeom prst="line">
            <ns1:avLst/>
          </ns1:prstGeom>
          <ns1:noFill/>
          <ns1:ln w="19050">
            <ns1:solidFill>
              <ns1:srgbClr val="B3B8BF"/>
            </ns1:solidFill>
            <ns1:prstDash val="solid"/>
            <ns1:tailEnd type="triangle"/>
          </ns1:ln>
        </ns0:spPr>
      </ns0:sp>
      <ns0:sp>
        <ns0:nvSpPr>
          <ns0:cNvPr id="27" name="Shape 25"/>
          <ns0:cNvSpPr/>
          <ns0:nvPr/>
        </ns0:nvSpPr>
        <ns0:spPr>
          <ns1:xfrm>
            <ns1:off x="7498080" y="2148840"/>
            <ns1:ext cx="320040" cy="0"/>
          </ns1:xfrm>
          <ns1:prstGeom prst="line">
            <ns1:avLst/>
          </ns1:prstGeom>
          <ns1:noFill/>
          <ns1:ln w="19050">
            <ns1:solidFill>
              <ns1:srgbClr val="B3B8BF"/>
            </ns1:solidFill>
            <ns1:prstDash val="solid"/>
            <ns1:tailEnd type="triangle"/>
          </ns1:ln>
        </ns0:spPr>
      </ns0:sp>
      <ns0:sp>
        <ns0:nvSpPr>
          <ns0:cNvPr id="28" name="Shape 26"/>
          <ns0:cNvSpPr/>
          <ns0:nvPr/>
        </ns0:nvSpPr>
        <ns0:spPr>
          <ns1:xfrm>
            <ns1:off x="6697980" y="3108960"/>
            <ns1:ext cx="0" cy="502920"/>
          </ns1:xfrm>
          <ns1:prstGeom prst="line">
            <ns1:avLst/>
          </ns1:prstGeom>
          <ns1:noFill/>
          <ns1:ln w="15875">
            <ns1:solidFill>
              <ns1:srgbClr val="5E8A6A"/>
            </ns1:solidFill>
            <ns1:prstDash val="dash"/>
            <ns1:tailEnd type="triangle"/>
          </ns1:ln>
        </ns0:spPr>
      </ns0:sp>
      <ns0:sp>
        <ns0:nvSpPr>
          <ns0:cNvPr id="29" name="Shape 27"/>
          <ns0:cNvSpPr/>
          <ns0:nvPr/>
        </ns0:nvSpPr>
        <ns0:spPr>
          <ns1:xfrm>
            <ns1:off x="7498080" y="3941064"/>
            <ns1:ext cx="754380" cy="0"/>
          </ns1:xfrm>
          <ns1:prstGeom prst="line">
            <ns1:avLst/>
          </ns1:prstGeom>
          <ns1:noFill/>
          <ns1:ln w="15875">
            <ns1:solidFill>
              <ns1:srgbClr val="5E8A6A"/>
            </ns1:solidFill>
            <ns1:prstDash val="dash"/>
          </ns1:ln>
        </ns0:spPr>
      </ns0:sp>
      <ns0:sp>
        <ns0:nvSpPr>
          <ns0:cNvPr id="30" name="Shape 28"/>
          <ns0:cNvSpPr/>
          <ns0:nvPr/>
        </ns0:nvSpPr>
        <ns0:spPr>
          <ns1:xfrm>
            <ns1:off x="8252460" y="3108960"/>
            <ns1:ext cx="0" cy="832104"/>
          </ns1:xfrm>
          <ns1:prstGeom prst="line">
            <ns1:avLst/>
          </ns1:prstGeom>
          <ns1:noFill/>
          <ns1:ln w="15875">
            <ns1:solidFill>
              <ns1:srgbClr val="5E8A6A"/>
            </ns1:solidFill>
            <ns1:prstDash val="dash"/>
            <ns1:headEnd type="triangle"/>
          </ns1:ln>
        </ns0:spPr>
      </ns0:sp>
      <ns0:sp>
        <ns0:nvSpPr>
          <ns0:cNvPr id="31" name="Shape 29"/>
          <ns0:cNvSpPr/>
          <ns0:nvPr/>
        </ns0:nvSpPr>
        <ns0:spPr>
          <ns1:xfrm>
            <ns1:off x="457200" y="4434840"/>
            <ns1:ext cx="1143000" cy="310896"/>
          </ns1:xfrm>
          <ns1:prstGeom prst="roundRect">
            <ns1:avLst>
              <ns1:gd name="adj" fmla="val 23529"/>
            </ns1:avLst>
          </ns1:prstGeom>
          <ns1:solidFill>
            <ns1:srgbClr val="E9F1EB"/>
          </ns1:solidFill>
          <ns1:ln w="12700">
            <ns1:solidFill>
              <ns1:srgbClr val="E9F1EB"/>
            </ns1:solidFill>
            <ns1:prstDash val="solid"/>
          </ns1:ln>
        </ns0:spPr>
      </ns0:sp>
      <ns0:sp>
        <ns0:nvSpPr>
          <ns0:cNvPr id="32" name="Text 30"/>
          <ns0:cNvSpPr txBox="1"/>
          <ns0:nvPr/>
        </ns0:nvSpPr>
        <ns0:spPr>
          <ns1:xfrm>
            <ns1:off x="457200" y="4434840"/>
            <ns1:ext cx="1143000" cy="310896"/>
          </ns1:xfrm>
          <ns1:prstGeom prst="rect">
            <ns1:avLst/>
          </ns1:prstGeom>
          <ns1:noFill/>
          <ns1:ln/>
        </ns0:spPr>
        <ns0:txBody>
          <ns1:bodyPr wrap="square" lIns="0" tIns="0" rIns="0" bIns="0" rtlCol="0" anchor="ctr"/>
          <ns1:lstStyle/>
          <ns1:p>
            <ns1:pPr algn="ctr" indent="0" marL="0" eaLnBrk="0">
              <ns1:buNone/>
            </ns1:pPr>
            <ns1:r>
              <ns1:rPr lang="ko-KR" altLang="en-US" sz="1000" b="1" dirty="0">
                <ns1:solidFill>
                  <ns1:srgbClr val="5E8A6A"/>
                </ns1:solidFill>
                <ns1:latin typeface="Malgun Gothic" pitchFamily="34" charset="0"/>
                <ns1:ea typeface="Malgun Gothic" pitchFamily="34" charset="-122"/>
                <ns1:cs typeface="Malgun Gothic" pitchFamily="34" charset="-120"/>
              </ns1:rPr>
              <ns1:t>PyTorch (MPS)</ns1:t>
            </ns1:r>
            <ns1:endParaRPr lang="ko-KR" sz="1000" dirty="0"/>
          </ns1:p>
        </ns0:txBody>
      </ns0:sp>
      <ns0:sp>
        <ns0:nvSpPr>
          <ns0:cNvPr id="33" name="Shape 31"/>
          <ns0:cNvSpPr/>
          <ns0:nvPr/>
        </ns0:nvSpPr>
        <ns0:spPr>
          <ns1:xfrm>
            <ns1:off x="1709928" y="4434840"/>
            <ns1:ext cx="1417320" cy="310896"/>
          </ns1:xfrm>
          <ns1:prstGeom prst="roundRect">
            <ns1:avLst>
              <ns1:gd name="adj" fmla="val 23529"/>
            </ns1:avLst>
          </ns1:prstGeom>
          <ns1:solidFill>
            <ns1:srgbClr val="E9F1EB"/>
          </ns1:solidFill>
          <ns1:ln w="12700">
            <ns1:solidFill>
              <ns1:srgbClr val="E9F1EB"/>
            </ns1:solidFill>
            <ns1:prstDash val="solid"/>
          </ns1:ln>
        </ns0:spPr>
      </ns0:sp>
      <ns0:sp>
        <ns0:nvSpPr>
          <ns0:cNvPr id="34" name="Text 32"/>
          <ns0:cNvSpPr txBox="1"/>
          <ns0:nvPr/>
        </ns0:nvSpPr>
        <ns0:spPr>
          <ns1:xfrm>
            <ns1:off x="1709928" y="4434840"/>
            <ns1:ext cx="1417320" cy="310896"/>
          </ns1:xfrm>
          <ns1:prstGeom prst="rect">
            <ns1:avLst/>
          </ns1:prstGeom>
          <ns1:noFill/>
          <ns1:ln/>
        </ns0:spPr>
        <ns0:txBody>
          <ns1:bodyPr wrap="square" lIns="0" tIns="0" rIns="0" bIns="0" rtlCol="0" anchor="ctr"/>
          <ns1:lstStyle/>
          <ns1:p>
            <ns1:pPr algn="ctr" indent="0" marL="0" eaLnBrk="0">
              <ns1:buNone/>
            </ns1:pPr>
            <ns1:r>
              <ns1:rPr lang="ko-KR" altLang="en-US" sz="1000" b="1" dirty="0">
                <ns1:solidFill>
                  <ns1:srgbClr val="5E8A6A"/>
                </ns1:solidFill>
                <ns1:latin typeface="Malgun Gothic" pitchFamily="34" charset="0"/>
                <ns1:ea typeface="Malgun Gothic" pitchFamily="34" charset="-122"/>
                <ns1:cs typeface="Malgun Gothic" pitchFamily="34" charset="-120"/>
              </ns1:rPr>
              <ns1:t>Depth Anything V2</ns1:t>
            </ns1:r>
            <ns1:endParaRPr lang="ko-KR" sz="1000" dirty="0"/>
          </ns1:p>
        </ns0:txBody>
      </ns0:sp>
      <ns0:sp>
        <ns0:nvSpPr>
          <ns0:cNvPr id="35" name="Shape 33"/>
          <ns0:cNvSpPr/>
          <ns0:nvPr/>
        </ns0:nvSpPr>
        <ns0:spPr>
          <ns1:xfrm>
            <ns1:off x="3236976" y="4434840"/>
            <ns1:ext cx="548640" cy="310896"/>
          </ns1:xfrm>
          <ns1:prstGeom prst="roundRect">
            <ns1:avLst>
              <ns1:gd name="adj" fmla="val 23529"/>
            </ns1:avLst>
          </ns1:prstGeom>
          <ns1:solidFill>
            <ns1:srgbClr val="E9F1EB"/>
          </ns1:solidFill>
          <ns1:ln w="12700">
            <ns1:solidFill>
              <ns1:srgbClr val="E9F1EB"/>
            </ns1:solidFill>
            <ns1:prstDash val="solid"/>
          </ns1:ln>
        </ns0:spPr>
      </ns0:sp>
      <ns0:sp>
        <ns0:nvSpPr>
          <ns0:cNvPr id="36" name="Text 34"/>
          <ns0:cNvSpPr txBox="1"/>
          <ns0:nvPr/>
        </ns0:nvSpPr>
        <ns0:spPr>
          <ns1:xfrm>
            <ns1:off x="3236976" y="4434840"/>
            <ns1:ext cx="548640" cy="310896"/>
          </ns1:xfrm>
          <ns1:prstGeom prst="rect">
            <ns1:avLst/>
          </ns1:prstGeom>
          <ns1:noFill/>
          <ns1:ln/>
        </ns0:spPr>
        <ns0:txBody>
          <ns1:bodyPr wrap="square" lIns="0" tIns="0" rIns="0" bIns="0" rtlCol="0" anchor="ctr"/>
          <ns1:lstStyle/>
          <ns1:p>
            <ns1:pPr algn="ctr" indent="0" marL="0" eaLnBrk="0">
              <ns1:buNone/>
            </ns1:pPr>
            <ns1:r>
              <ns1:rPr lang="ko-KR" altLang="en-US" sz="1000" b="1" dirty="0">
                <ns1:solidFill>
                  <ns1:srgbClr val="5E8A6A"/>
                </ns1:solidFill>
                <ns1:latin typeface="Malgun Gothic" pitchFamily="34" charset="0"/>
                <ns1:ea typeface="Malgun Gothic" pitchFamily="34" charset="-122"/>
                <ns1:cs typeface="Malgun Gothic" pitchFamily="34" charset="-120"/>
              </ns1:rPr>
              <ns1:t>SAM</ns1:t>
            </ns1:r>
            <ns1:endParaRPr lang="ko-KR" sz="1000" dirty="0"/>
          </ns1:p>
        </ns0:txBody>
      </ns0:sp>
      <ns0:sp>
        <ns0:nvSpPr>
          <ns0:cNvPr id="37" name="Shape 35"/>
          <ns0:cNvSpPr/>
          <ns0:nvPr/>
        </ns0:nvSpPr>
        <ns0:spPr>
          <ns1:xfrm>
            <ns1:off x="3895344" y="4434840"/>
            <ns1:ext cx="777240" cy="310896"/>
          </ns1:xfrm>
          <ns1:prstGeom prst="roundRect">
            <ns1:avLst>
              <ns1:gd name="adj" fmla="val 23529"/>
            </ns1:avLst>
          </ns1:prstGeom>
          <ns1:solidFill>
            <ns1:srgbClr val="E9F1EB"/>
          </ns1:solidFill>
          <ns1:ln w="12700">
            <ns1:solidFill>
              <ns1:srgbClr val="E9F1EB"/>
            </ns1:solidFill>
            <ns1:prstDash val="solid"/>
          </ns1:ln>
        </ns0:spPr>
      </ns0:sp>
      <ns0:sp>
        <ns0:nvSpPr>
          <ns0:cNvPr id="38" name="Text 36"/>
          <ns0:cNvSpPr txBox="1"/>
          <ns0:nvPr/>
        </ns0:nvSpPr>
        <ns0:spPr>
          <ns1:xfrm>
            <ns1:off x="3895344" y="4434840"/>
            <ns1:ext cx="777240" cy="310896"/>
          </ns1:xfrm>
          <ns1:prstGeom prst="rect">
            <ns1:avLst/>
          </ns1:prstGeom>
          <ns1:noFill/>
          <ns1:ln/>
        </ns0:spPr>
        <ns0:txBody>
          <ns1:bodyPr wrap="square" lIns="0" tIns="0" rIns="0" bIns="0" rtlCol="0" anchor="ctr"/>
          <ns1:lstStyle/>
          <ns1:p>
            <ns1:pPr algn="ctr" indent="0" marL="0" eaLnBrk="0">
              <ns1:buNone/>
            </ns1:pPr>
            <ns1:r>
              <ns1:rPr lang="ko-KR" altLang="en-US" sz="1000" b="1" dirty="0">
                <ns1:solidFill>
                  <ns1:srgbClr val="5E8A6A"/>
                </ns1:solidFill>
                <ns1:latin typeface="Malgun Gothic" pitchFamily="34" charset="0"/>
                <ns1:ea typeface="Malgun Gothic" pitchFamily="34" charset="-122"/>
                <ns1:cs typeface="Malgun Gothic" pitchFamily="34" charset="-120"/>
              </ns1:rPr>
              <ns1:t>OpenCV</ns1:t>
            </ns1:r>
            <ns1:endParaRPr lang="ko-KR" sz="1000" dirty="0"/>
          </ns1:p>
        </ns0:txBody>
      </ns0:sp>
      <ns0:sp>
        <ns0:nvSpPr>
          <ns0:cNvPr id="39" name="Shape 37"/>
          <ns0:cNvSpPr/>
          <ns0:nvPr/>
        </ns0:nvSpPr>
        <ns0:spPr>
          <ns1:xfrm>
            <ns1:off x="4782312" y="4434840"/>
            <ns1:ext cx="960120" cy="310896"/>
          </ns1:xfrm>
          <ns1:prstGeom prst="roundRect">
            <ns1:avLst>
              <ns1:gd name="adj" fmla="val 23529"/>
            </ns1:avLst>
          </ns1:prstGeom>
          <ns1:solidFill>
            <ns1:srgbClr val="E9F1EB"/>
          </ns1:solidFill>
          <ns1:ln w="12700">
            <ns1:solidFill>
              <ns1:srgbClr val="E9F1EB"/>
            </ns1:solidFill>
            <ns1:prstDash val="solid"/>
          </ns1:ln>
        </ns0:spPr>
      </ns0:sp>
      <ns0:sp>
        <ns0:nvSpPr>
          <ns0:cNvPr id="40" name="Text 38"/>
          <ns0:cNvSpPr txBox="1"/>
          <ns0:nvPr/>
        </ns0:nvSpPr>
        <ns0:spPr>
          <ns1:xfrm>
            <ns1:off x="4782312" y="4434840"/>
            <ns1:ext cx="960120" cy="310896"/>
          </ns1:xfrm>
          <ns1:prstGeom prst="rect">
            <ns1:avLst/>
          </ns1:prstGeom>
          <ns1:noFill/>
          <ns1:ln/>
        </ns0:spPr>
        <ns0:txBody>
          <ns1:bodyPr wrap="square" lIns="0" tIns="0" rIns="0" bIns="0" rtlCol="0" anchor="ctr"/>
          <ns1:lstStyle/>
          <ns1:p>
            <ns1:pPr algn="ctr" indent="0" marL="0" eaLnBrk="0">
              <ns1:buNone/>
            </ns1:pPr>
            <ns1:r>
              <ns1:rPr lang="ko-KR" altLang="en-US" sz="1000" b="1" dirty="0">
                <ns1:solidFill>
                  <ns1:srgbClr val="5E8A6A"/>
                </ns1:solidFill>
                <ns1:latin typeface="Malgun Gothic" pitchFamily="34" charset="0"/>
                <ns1:ea typeface="Malgun Gothic" pitchFamily="34" charset="-122"/>
                <ns1:cs typeface="Malgun Gothic" pitchFamily="34" charset="-120"/>
              </ns1:rPr>
              <ns1:t>CLIP (평가)</ns1:t>
            </ns1:r>
            <ns1:endParaRPr lang="ko-KR" sz="1000" dirty="0"/>
          </ns1:p>
        </ns0:txBody>
      </ns0:sp>
      <ns0:sp>
        <ns0:nvSpPr>
          <ns0:cNvPr id="41" name="Shape 39"/>
          <ns0:cNvSpPr/>
          <ns0:nvPr/>
        </ns0:nvSpPr>
        <ns0:spPr>
          <ns1:xfrm>
            <ns1:off x="5852160" y="4434840"/>
            <ns1:ext cx="2103120" cy="310896"/>
          </ns1:xfrm>
          <ns1:prstGeom prst="roundRect">
            <ns1:avLst>
              <ns1:gd name="adj" fmla="val 23529"/>
            </ns1:avLst>
          </ns1:prstGeom>
          <ns1:solidFill>
            <ns1:srgbClr val="E9F1EB"/>
          </ns1:solidFill>
          <ns1:ln w="12700">
            <ns1:solidFill>
              <ns1:srgbClr val="E9F1EB"/>
            </ns1:solidFill>
            <ns1:prstDash val="solid"/>
          </ns1:ln>
        </ns0:spPr>
      </ns0:sp>
      <ns0:sp>
        <ns0:nvSpPr>
          <ns0:cNvPr id="42" name="Text 40"/>
          <ns0:cNvSpPr txBox="1"/>
          <ns0:nvPr/>
        </ns0:nvSpPr>
        <ns0:spPr>
          <ns1:xfrm>
            <ns1:off x="5852160" y="4434840"/>
            <ns1:ext cx="2103120" cy="310896"/>
          </ns1:xfrm>
          <ns1:prstGeom prst="rect">
            <ns1:avLst/>
          </ns1:prstGeom>
          <ns1:noFill/>
          <ns1:ln/>
        </ns0:spPr>
        <ns0:txBody>
          <ns1:bodyPr wrap="square" lIns="0" tIns="0" rIns="0" bIns="0" rtlCol="0" anchor="ctr"/>
          <ns1:lstStyle/>
          <ns1:p>
            <ns1:pPr algn="ctr" indent="0" marL="0" eaLnBrk="0">
              <ns1:buNone/>
            </ns1:pPr>
            <ns1:r>
              <ns1:rPr lang="ko-KR" altLang="en-US" sz="1000" b="1" dirty="0">
                <ns1:solidFill>
                  <ns1:srgbClr val="5E8A6A"/>
                </ns1:solidFill>
                <ns1:latin typeface="Malgun Gothic" pitchFamily="34" charset="0"/>
                <ns1:ea typeface="Malgun Gothic" pitchFamily="34" charset="-122"/>
                <ns1:cs typeface="Malgun Gothic" pitchFamily="34" charset="-120"/>
              </ns1:rPr>
              <ns1:t>Stable Diffusion + ControlNet</ns1:t>
            </ns1:r>
            <ns1:endParaRPr lang="ko-KR" sz="1000" dirty="0"/>
          </ns1:p>
        </ns0:txBody>
      </ns0:sp>
    </ns0:spTree>
  </ns0:cSld>
  <ns0:clrMapOvr>
    <ns1:masterClrMapping/>
  </ns0:clrMapOvr>
</ns0:sld>
</file>

<file path=ppt/slides/slide4.xml><?xml version="1.0" encoding="utf-8"?>
<ns0:sld xmlns:ns0="http://schemas.openxmlformats.org/presentationml/2006/main" xmlns:ns1="http://schemas.openxmlformats.org/drawingml/2006/main" xmlns:ns2="http://schemas.openxmlformats.org/drawingml/2006/chart" xmlns:ns3="http://schemas.openxmlformats.org/officeDocument/2006/relationships">
  <ns0:cSld name="Slide 4">
    <ns0:bg>
      <ns0:bgPr>
        <ns1:solidFill>
          <ns1:srgbClr val="FFFFFF"/>
        </ns1:solidFill>
      </ns0:bgPr>
    </ns0:bg>
    <ns0:spTree>
      <ns0:nvGrpSpPr>
        <ns0:cNvPr id="1" name=""/>
        <ns0:cNvGrpSpPr/>
        <ns0:nvPr/>
      </ns0:nvGrpSpPr>
      <ns0:grpSpPr>
        <ns1:xfrm>
          <ns1:off x="0" y="0"/>
          <ns1:ext cx="0" cy="0"/>
          <ns1:chOff x="0" y="0"/>
          <ns1:chExt cx="0" cy="0"/>
        </ns1:xfrm>
      </ns0:grpSpPr>
      <ns0:sp>
        <ns0:nvSpPr>
          <ns0:cNvPr id="2" name="Shape 0"/>
          <ns0:cNvSpPr/>
          <ns0:nvPr/>
        </ns0:nvSpPr>
        <ns0:spPr>
          <ns1:xfrm>
            <ns1:off x="457200" y="329184"/>
            <ns1:ext cx="420624" cy="420624"/>
          </ns1:xfrm>
          <ns1:prstGeom prst="ellipse">
            <ns1:avLst/>
          </ns1:prstGeom>
          <ns1:solidFill>
            <ns1:srgbClr val="C8553D"/>
          </ns1:solidFill>
          <ns1:ln w="12700">
            <ns1:solidFill>
              <ns1:srgbClr val="C8553D"/>
            </ns1:solidFill>
            <ns1:prstDash val="solid"/>
          </ns1:ln>
        </ns0:spPr>
      </ns0:sp>
      <ns0:sp>
        <ns0:nvSpPr>
          <ns0:cNvPr id="3" name="Text 1"/>
          <ns0:cNvSpPr txBox="1"/>
          <ns0:nvPr/>
        </ns0:nvSpPr>
        <ns0:spPr>
          <ns1:xfrm>
            <ns1:off x="457200" y="329184"/>
            <ns1:ext cx="420624" cy="420624"/>
          </ns1:xfrm>
          <ns1:prstGeom prst="rect">
            <ns1:avLst/>
          </ns1:prstGeom>
          <ns1:noFill/>
          <ns1:ln/>
        </ns0:spPr>
        <ns0:txBody>
          <ns1:bodyPr wrap="square" lIns="0" tIns="0" rIns="0" bIns="0" rtlCol="0" anchor="ctr"/>
          <ns1:lstStyle/>
          <ns1:p>
            <ns1:pPr algn="ctr" indent="0" marL="0" eaLnBrk="0">
              <ns1:buNone/>
            </ns1:pPr>
            <ns1:r>
              <ns1:rPr lang="ko-KR" altLang="en-US" sz="1500" b="1" dirty="0">
                <ns1:solidFill>
                  <ns1:srgbClr val="FFFFFF"/>
                </ns1:solidFill>
                <ns1:latin typeface="Malgun Gothic" pitchFamily="34" charset="0"/>
                <ns1:ea typeface="Malgun Gothic" pitchFamily="34" charset="-122"/>
                <ns1:cs typeface="Malgun Gothic" pitchFamily="34" charset="-120"/>
              </ns1:rPr>
              <ns1:t>3</ns1:t>
            </ns1:r>
            <ns1:endParaRPr lang="ko-KR" sz="1500" dirty="0"/>
          </ns1:p>
        </ns0:txBody>
      </ns0:sp>
      <ns0:sp>
        <ns0:nvSpPr>
          <ns0:cNvPr id="4" name="Text 2"/>
          <ns0:cNvSpPr txBox="1"/>
          <ns0:nvPr/>
        </ns0:nvSpPr>
        <ns0:spPr>
          <ns1:xfrm>
            <ns1:off x="1024128" y="274320"/>
            <ns1:ext cx="7680960" cy="530352"/>
          </ns1:xfrm>
          <ns1:prstGeom prst="rect">
            <ns1:avLst/>
          </ns1:prstGeom>
          <ns1:noFill/>
          <ns1:ln/>
        </ns0:spPr>
        <ns0:txBody>
          <ns1:bodyPr wrap="square" lIns="0" tIns="0" rIns="0" bIns="0" rtlCol="0" anchor="ctr"/>
          <ns1:lstStyle/>
          <ns1:p>
            <ns1:pPr indent="0" marL="0" eaLnBrk="0">
              <ns1:buNone/>
            </ns1:pPr>
            <ns1:r>
              <ns1:rPr lang="ko-KR" altLang="en-US" sz="2400" b="1" dirty="0">
                <ns1:solidFill>
                  <ns1:srgbClr val="1F2328"/>
                </ns1:solidFill>
                <ns1:latin typeface="Malgun Gothic" pitchFamily="34" charset="0"/>
                <ns1:ea typeface="Malgun Gothic" pitchFamily="34" charset="-122"/>
                <ns1:cs typeface="Malgun Gothic" pitchFamily="34" charset="-120"/>
              </ns1:rPr>
              <ns1:t>바닥 평면: 이전 구현의 외부 정답 평가</ns1:t>
            </ns1:r>
            <ns1:endParaRPr lang="ko-KR" sz="2400" dirty="0"/>
          </ns1:p>
        </ns0:txBody>
      </ns0:sp>
      <ns0:sp>
        <ns0:nvSpPr>
          <ns0:cNvPr id="5" name="Text 3"/>
          <ns0:cNvSpPr txBox="1"/>
          <ns0:nvPr/>
        </ns0:nvSpPr>
        <ns0:spPr>
          <ns1:xfrm>
            <ns1:off x="457200" y="4901184"/>
            <ns1:ext cx="8229600" cy="128016"/>
          </ns1:xfrm>
          <ns1:prstGeom prst="rect">
            <ns1:avLst/>
          </ns1:prstGeom>
          <ns1:noFill/>
          <ns1:ln/>
        </ns0:spPr>
        <ns0:txBody>
          <ns1:bodyPr wrap="square" lIns="0" tIns="0" rIns="0" bIns="0" rtlCol="0" anchor="t"/>
          <ns1:lstStyle/>
          <ns1:p>
            <ns1:pPr indent="0" marL="0" eaLnBrk="0">
              <ns1:buNone/>
            </ns1:pPr>
            <ns1:r>
              <ns1:rPr lang="ko-KR" altLang="en-US" sz="800" dirty="0">
                <ns1:solidFill>
                  <ns1:srgbClr val="5F6670"/>
                </ns1:solidFill>
                <ns1:latin typeface="Malgun Gothic" pitchFamily="34" charset="0"/>
                <ns1:ea typeface="Malgun Gothic" pitchFamily="34" charset="-122"/>
                <ns1:cs typeface="Malgun Gothic" pitchFamily="34" charset="-120"/>
              </ns1:rPr>
              <ns1:t>2026-09-19 이전 구현의 실험 기록 · 09-21 수정 후 품질은 아직 재측정하지 않음</ns1:t>
            </ns1:r>
            <ns1:endParaRPr lang="ko-KR" sz="800" dirty="0"/>
          </ns1:p>
        </ns0:txBody>
      </ns0:sp>
      <ns0:graphicFrame>
        <ns0:nvGraphicFramePr>
          <ns0:cNvPr id="6" name="Chart 0" descr=""/>
          <ns0:cNvGraphicFramePr/>
          <ns0:nvPr/>
        </ns0:nvGraphicFramePr>
        <ns0:xfrm>
          <ns1:off x="365760" y="1051560"/>
          <ns1:ext cx="4389120" cy="3063240"/>
        </ns0:xfrm>
        <ns1:graphic>
          <ns1:graphicData uri="http://schemas.openxmlformats.org/drawingml/2006/chart">
            <ns2:chart ns3:id="rId1"/>
          </ns1:graphicData>
        </ns1:graphic>
      </ns0:graphicFrame>
      <ns0:sp>
        <ns0:nvSpPr>
          <ns0:cNvPr id="7" name="Text 4"/>
          <ns0:cNvSpPr txBox="1"/>
          <ns0:nvPr/>
        </ns0:nvSpPr>
        <ns0:spPr>
          <ns1:xfrm>
            <ns1:off x="457200" y="4206240"/>
            <ns1:ext cx="4297680" cy="457200"/>
          </ns1:xfrm>
          <ns1:prstGeom prst="rect">
            <ns1:avLst/>
          </ns1:prstGeom>
          <ns1:noFill/>
          <ns1:ln/>
        </ns0:spPr>
        <ns0:txBody>
          <ns1:bodyPr wrap="square" lIns="0" tIns="0" rIns="0" bIns="0" rtlCol="0" anchor="t"/>
          <ns1:lstStyle/>
          <ns1:p>
            <ns1:pPr indent="0" marL="0" eaLnBrk="0">
              <ns1:buNone/>
            </ns1:pPr>
            <ns1:r>
              <ns1:rPr lang="ko-KR" altLang="en-US" sz="1050" dirty="0">
                <ns1:solidFill>
                  <ns1:srgbClr val="5F6670"/>
                </ns1:solidFill>
                <ns1:latin typeface="Malgun Gothic" pitchFamily="34" charset="0"/>
                <ns1:ea typeface="Malgun Gothic" pitchFamily="34" charset="-122"/>
                <ns1:cs typeface="Malgun Gothic" pitchFamily="34" charset="-120"/>
              </ns1:rPr>
              <ns1:t>ADE20K 정답 바닥과의 IoU (1이면 완벽). 마지막 막대는 튜닝에 한 번도 쓰지 않은 방</ns1:t>
            </ns1:r>
            <ns1:endParaRPr lang="ko-KR" sz="1050" dirty="0"/>
          </ns1:p>
        </ns0:txBody>
      </ns0:sp>
      <ns0:pic>
        <ns0:nvPicPr>
          <ns0:cNvPr id="8" name="Image 0" descr="/Users/minyoung/Library/Mobile Documents/com~apple~CloudDocs/GTEC/2-2/Capstone/presentation/assets/floor.jpg">    </ns0:cNvPr>
          <ns0:cNvPicPr>
            <ns1:picLocks noChangeAspect="1"/>
          </ns0:cNvPicPr>
          <ns0:nvPr/>
        </ns0:nvPicPr>
        <ns0:blipFill>
          <ns1:blip ns3:embed="rId2"/>
          <ns1:stretch>
            <ns1:fillRect/>
          </ns1:stretch>
        </ns0:blipFill>
        <ns0:spPr>
          <ns1:xfrm>
            <ns1:off x="4937760" y="1097280"/>
            <ns1:ext cx="3749040" cy="1582353"/>
          </ns1:xfrm>
          <ns1:prstGeom prst="rect">
            <ns1:avLst/>
          </ns1:prstGeom>
          <ns1:effectLst>
            <ns1:outerShdw sx="100000" sy="100000" kx="0" ky="0" algn="bl" rotWithShape="0" blurRad="76200" dist="25400" dir="5400000">
              <ns1:srgbClr val="000000">
                <ns1:alpha val="18000"/>
              </ns1:srgbClr>
            </ns1:outerShdw>
          </ns1:effectLst>
        </ns0:spPr>
      </ns0:pic>
      <ns0:sp>
        <ns0:nvSpPr>
          <ns0:cNvPr id="9" name="Text 5"/>
          <ns0:cNvSpPr txBox="1"/>
          <ns0:nvPr/>
        </ns0:nvSpPr>
        <ns0:spPr>
          <ns1:xfrm>
            <ns1:off x="4937760" y="2752785"/>
            <ns1:ext cx="3749040" cy="274320"/>
          </ns1:xfrm>
          <ns1:prstGeom prst="rect">
            <ns1:avLst/>
          </ns1:prstGeom>
          <ns1:noFill/>
          <ns1:ln/>
        </ns0:spPr>
        <ns0:txBody>
          <ns1:bodyPr wrap="square" lIns="0" tIns="0" rIns="0" bIns="0" rtlCol="0" anchor="t"/>
          <ns1:lstStyle/>
          <ns1:p>
            <ns1:pPr indent="0" marL="0" eaLnBrk="0">
              <ns1:buNone/>
            </ns1:pPr>
            <ns1:r>
              <ns1:rPr lang="ko-KR" altLang="en-US" sz="1050" dirty="0">
                <ns1:solidFill>
                  <ns1:srgbClr val="5F6670"/>
                </ns1:solidFill>
                <ns1:latin typeface="Malgun Gothic" pitchFamily="34" charset="0"/>
                <ns1:ea typeface="Malgun Gothic" pitchFamily="34" charset="-122"/>
                <ns1:cs typeface="Malgun Gothic" pitchFamily="34" charset="-120"/>
              </ns1:rPr>
              <ns1:t>초록 = 추정한 바닥, 선 = 계산한 지평선</ns1:t>
            </ns1:r>
            <ns1:endParaRPr lang="ko-KR" sz="1050" dirty="0"/>
          </ns1:p>
        </ns0:txBody>
      </ns0:sp>
      <ns0:sp>
        <ns0:nvSpPr>
          <ns0:cNvPr id="10" name="Text 6"/>
          <ns0:cNvSpPr txBox="1"/>
          <ns0:nvPr/>
        </ns0:nvSpPr>
        <ns0:spPr>
          <ns1:xfrm>
            <ns1:off x="4937760" y="3154680"/>
            <ns1:ext cx="3749040" cy="685800"/>
          </ns1:xfrm>
          <ns1:prstGeom prst="rect">
            <ns1:avLst/>
          </ns1:prstGeom>
          <ns1:noFill/>
          <ns1:ln/>
        </ns0:spPr>
        <ns0:txBody>
          <ns1:bodyPr wrap="square" lIns="0" tIns="0" rIns="0" bIns="0" rtlCol="0" anchor="t"/>
          <ns1:lstStyle/>
          <ns1:p>
            <ns1:pPr indent="0" marL="0" eaLnBrk="0">
              <ns1:buNone/>
            </ns1:pPr>
            <ns1:r>
              <ns1:rPr lang="ko-KR" altLang="en-US" sz="1200" b="1" dirty="0">
                <ns1:solidFill>
                  <ns1:srgbClr val="5E8A6A"/>
                </ns1:solidFill>
                <ns1:latin typeface="Malgun Gothic" pitchFamily="34" charset="0"/>
                <ns1:ea typeface="Malgun Gothic" pitchFamily="34" charset="-122"/>
                <ns1:cs typeface="Malgun Gothic" pitchFamily="34" charset="-120"/>
              </ns1:rPr>
              <ns1:t>원리  </ns1:t>
            </ns1:r>
            <ns1:pPr indent="0" marL="0">
              <ns1:buNone/>
            </ns1:pPr>
            <ns1:r>
              <ns1:rPr lang="ko-KR" altLang="en-US" sz="1200" dirty="0">
                <ns1:solidFill>
                  <ns1:srgbClr val="1F2328"/>
                </ns1:solidFill>
                <ns1:latin typeface="Malgun Gothic" pitchFamily="34" charset="0"/>
                <ns1:ea typeface="Malgun Gothic" pitchFamily="34" charset="-122"/>
                <ns1:cs typeface="Malgun Gothic" pitchFamily="34" charset="-120"/>
              </ns1:rPr>
              <ns1:t>바닥 같은 평면에서는 역깊이가 화면 좌표의 1차식이다. 깊이맵에서 그 식에 맞는 픽셀을 RANSAC으로 찾는다</ns1:t>
            </ns1:r>
            <ns1:endParaRPr lang="ko-KR" sz="1200" dirty="0"/>
          </ns1:p>
        </ns0:txBody>
      </ns0:sp>
      <ns0:sp>
        <ns0:nvSpPr>
          <ns0:cNvPr id="11" name="Text 7"/>
          <ns0:cNvSpPr txBox="1"/>
          <ns0:nvPr/>
        </ns0:nvSpPr>
        <ns0:spPr>
          <ns1:xfrm>
            <ns1:off x="4937760" y="3931920"/>
            <ns1:ext cx="3749040" cy="685800"/>
          </ns1:xfrm>
          <ns1:prstGeom prst="rect">
            <ns1:avLst/>
          </ns1:prstGeom>
          <ns1:noFill/>
          <ns1:ln/>
        </ns0:spPr>
        <ns0:txBody>
          <ns1:bodyPr wrap="square" lIns="0" tIns="0" rIns="0" bIns="0" rtlCol="0" anchor="t"/>
          <ns1:lstStyle/>
          <ns1:p>
            <ns1:pPr indent="0" marL="0" eaLnBrk="0">
              <ns1:buNone/>
            </ns1:pPr>
            <ns1:r>
              <ns1:rPr lang="ko-KR" altLang="en-US" sz="1200" b="1" dirty="0">
                <ns1:solidFill>
                  <ns1:srgbClr val="C8553D"/>
                </ns1:solidFill>
                <ns1:latin typeface="Malgun Gothic" pitchFamily="34" charset="0"/>
                <ns1:ea typeface="Malgun Gothic" pitchFamily="34" charset="-122"/>
                <ns1:cs typeface="Malgun Gothic" pitchFamily="34" charset="-120"/>
              </ns1:rPr>
              <ns1:t>교훈  </ns1:t>
            </ns1:r>
            <ns1:pPr indent="0" marL="0">
              <ns1:buNone/>
            </ns1:pPr>
            <ns1:r>
              <ns1:rPr lang="ko-KR" altLang="en-US" sz="1200" dirty="0">
                <ns1:solidFill>
                  <ns1:srgbClr val="1F2328"/>
                </ns1:solidFill>
                <ns1:latin typeface="Malgun Gothic" pitchFamily="34" charset="0"/>
                <ns1:ea typeface="Malgun Gothic" pitchFamily="34" charset="-122"/>
                <ns1:cs typeface="Malgun Gothic" pitchFamily="34" charset="-120"/>
              </ns1:rPr>
              <ns1:t>0.68 → 0.86은 새 규칙이 아니라 이미 있던 허용오차를 훑어서 얻었다.</ns1:t>
            </ns1:r>
            <ns1:endParaRPr lang="ko-KR" sz="1200" dirty="0"/>
          </ns1:p>
        </ns0:txBody>
      </ns0:sp>
    </ns0:spTree>
  </ns0:cSld>
  <ns0:clrMapOvr>
    <ns1:masterClrMapping/>
  </ns0:clrMapOvr>
</ns0:sld>
</file>

<file path=ppt/slides/slide5.xml><?xml version="1.0" encoding="utf-8"?>
<ns0:sld xmlns:ns0="http://schemas.openxmlformats.org/presentationml/2006/main" xmlns:ns1="http://schemas.openxmlformats.org/drawingml/2006/main" xmlns:ns2="http://schemas.openxmlformats.org/officeDocument/2006/relationships">
  <ns0:cSld name="Slide 5">
    <ns0:bg>
      <ns0:bgPr>
        <ns1:solidFill>
          <ns1:srgbClr val="FFFFFF"/>
        </ns1:solidFill>
      </ns0:bgPr>
    </ns0:bg>
    <ns0:spTree>
      <ns0:nvGrpSpPr>
        <ns0:cNvPr id="1" name=""/>
        <ns0:cNvGrpSpPr/>
        <ns0:nvPr/>
      </ns0:nvGrpSpPr>
      <ns0:grpSpPr>
        <ns1:xfrm>
          <ns1:off x="0" y="0"/>
          <ns1:ext cx="0" cy="0"/>
          <ns1:chOff x="0" y="0"/>
          <ns1:chExt cx="0" cy="0"/>
        </ns1:xfrm>
      </ns0:grpSpPr>
      <ns0:sp>
        <ns0:nvSpPr>
          <ns0:cNvPr id="2" name="Shape 0"/>
          <ns0:cNvSpPr/>
          <ns0:nvPr/>
        </ns0:nvSpPr>
        <ns0:spPr>
          <ns1:xfrm>
            <ns1:off x="457200" y="329184"/>
            <ns1:ext cx="420624" cy="420624"/>
          </ns1:xfrm>
          <ns1:prstGeom prst="ellipse">
            <ns1:avLst/>
          </ns1:prstGeom>
          <ns1:solidFill>
            <ns1:srgbClr val="C8553D"/>
          </ns1:solidFill>
          <ns1:ln w="12700">
            <ns1:solidFill>
              <ns1:srgbClr val="C8553D"/>
            </ns1:solidFill>
            <ns1:prstDash val="solid"/>
          </ns1:ln>
        </ns0:spPr>
      </ns0:sp>
      <ns0:sp>
        <ns0:nvSpPr>
          <ns0:cNvPr id="3" name="Text 1"/>
          <ns0:cNvSpPr txBox="1"/>
          <ns0:nvPr/>
        </ns0:nvSpPr>
        <ns0:spPr>
          <ns1:xfrm>
            <ns1:off x="457200" y="329184"/>
            <ns1:ext cx="420624" cy="420624"/>
          </ns1:xfrm>
          <ns1:prstGeom prst="rect">
            <ns1:avLst/>
          </ns1:prstGeom>
          <ns1:noFill/>
          <ns1:ln/>
        </ns0:spPr>
        <ns0:txBody>
          <ns1:bodyPr wrap="square" lIns="0" tIns="0" rIns="0" bIns="0" rtlCol="0" anchor="ctr"/>
          <ns1:lstStyle/>
          <ns1:p>
            <ns1:pPr algn="ctr" indent="0" marL="0" eaLnBrk="0">
              <ns1:buNone/>
            </ns1:pPr>
            <ns1:r>
              <ns1:rPr lang="ko-KR" altLang="en-US" sz="1500" b="1" dirty="0">
                <ns1:solidFill>
                  <ns1:srgbClr val="FFFFFF"/>
                </ns1:solidFill>
                <ns1:latin typeface="Malgun Gothic" pitchFamily="34" charset="0"/>
                <ns1:ea typeface="Malgun Gothic" pitchFamily="34" charset="-122"/>
                <ns1:cs typeface="Malgun Gothic" pitchFamily="34" charset="-120"/>
              </ns1:rPr>
              <ns1:t>4</ns1:t>
            </ns1:r>
            <ns1:endParaRPr lang="ko-KR" sz="1500" dirty="0"/>
          </ns1:p>
        </ns0:txBody>
      </ns0:sp>
      <ns0:sp>
        <ns0:nvSpPr>
          <ns0:cNvPr id="4" name="Text 2"/>
          <ns0:cNvSpPr txBox="1"/>
          <ns0:nvPr/>
        </ns0:nvSpPr>
        <ns0:spPr>
          <ns1:xfrm>
            <ns1:off x="1024128" y="274320"/>
            <ns1:ext cx="7680960" cy="530352"/>
          </ns1:xfrm>
          <ns1:prstGeom prst="rect">
            <ns1:avLst/>
          </ns1:prstGeom>
          <ns1:noFill/>
          <ns1:ln/>
        </ns0:spPr>
        <ns0:txBody>
          <ns1:bodyPr wrap="square" lIns="0" tIns="0" rIns="0" bIns="0" rtlCol="0" anchor="ctr"/>
          <ns1:lstStyle/>
          <ns1:p>
            <ns1:pPr indent="0" marL="0" eaLnBrk="0">
              <ns1:buNone/>
            </ns1:pPr>
            <ns1:r>
              <ns1:rPr lang="ko-KR" altLang="en-US" sz="2400" b="1" dirty="0">
                <ns1:solidFill>
                  <ns1:srgbClr val="1F2328"/>
                </ns1:solidFill>
                <ns1:latin typeface="Malgun Gothic" pitchFamily="34" charset="0"/>
                <ns1:ea typeface="Malgun Gothic" pitchFamily="34" charset="-122"/>
                <ns1:cs typeface="Malgun Gothic" pitchFamily="34" charset="-120"/>
              </ns1:rPr>
              <ns1:t>이전 누끼 실험: 가구를 칠하면 4/10 → 8/10</ns1:t>
            </ns1:r>
            <ns1:endParaRPr lang="ko-KR" sz="2400" dirty="0"/>
          </ns1:p>
        </ns0:txBody>
      </ns0:sp>
      <ns0:sp>
        <ns0:nvSpPr>
          <ns0:cNvPr id="5" name="Text 3"/>
          <ns0:cNvSpPr txBox="1"/>
          <ns0:nvPr/>
        </ns0:nvSpPr>
        <ns0:spPr>
          <ns1:xfrm>
            <ns1:off x="457200" y="4901184"/>
            <ns1:ext cx="8229600" cy="128016"/>
          </ns1:xfrm>
          <ns1:prstGeom prst="rect">
            <ns1:avLst/>
          </ns1:prstGeom>
          <ns1:noFill/>
          <ns1:ln/>
        </ns0:spPr>
        <ns0:txBody>
          <ns1:bodyPr wrap="square" lIns="0" tIns="0" rIns="0" bIns="0" rtlCol="0" anchor="t"/>
          <ns1:lstStyle/>
          <ns1:p>
            <ns1:pPr indent="0" marL="0" eaLnBrk="0">
              <ns1:buNone/>
            </ns1:pPr>
            <ns1:r>
              <ns1:rPr lang="ko-KR" altLang="en-US" sz="800" dirty="0">
                <ns1:solidFill>
                  <ns1:srgbClr val="5F6670"/>
                </ns1:solidFill>
                <ns1:latin typeface="Malgun Gothic" pitchFamily="34" charset="0"/>
                <ns1:ea typeface="Malgun Gothic" pitchFamily="34" charset="-122"/>
                <ns1:cs typeface="Malgun Gothic" pitchFamily="34" charset="-120"/>
              </ns1:rPr>
              <ns1:t>2026-09-19 이전 구현의 실험 기록 · 09-21 수정 후 품질은 아직 재측정하지 않음</ns1:t>
            </ns1:r>
            <ns1:endParaRPr lang="ko-KR" sz="800" dirty="0"/>
          </ns1:p>
        </ns0:txBody>
      </ns0:sp>
      <ns0:pic>
        <ns0:nvPicPr>
          <ns0:cNvPr id="6" name="Image 0" descr="/Users/minyoung/Library/Mobile Documents/com~apple~CloudDocs/GTEC/2-2/Capstone/presentation/assets/sam_03_local_auto.jpg">    </ns0:cNvPr>
          <ns0:cNvPicPr>
            <ns1:picLocks noChangeAspect="1"/>
          </ns0:cNvPicPr>
          <ns0:nvPr/>
        </ns0:nvPicPr>
        <ns0:blipFill>
          <ns1:blip ns2:embed="rId1"/>
          <ns1:stretch>
            <ns1:fillRect/>
          </ns1:stretch>
        </ns0:blipFill>
        <ns0:spPr>
          <ns1:xfrm>
            <ns1:off x="457200" y="1051560"/>
            <ns1:ext cx="2078946" cy="1572768"/>
          </ns1:xfrm>
          <ns1:prstGeom prst="rect">
            <ns1:avLst/>
          </ns1:prstGeom>
          <ns1:effectLst>
            <ns1:outerShdw sx="100000" sy="100000" kx="0" ky="0" algn="bl" rotWithShape="0" blurRad="76200" dist="25400" dir="5400000">
              <ns1:srgbClr val="000000">
                <ns1:alpha val="18000"/>
              </ns1:srgbClr>
            </ns1:outerShdw>
          </ns1:effectLst>
        </ns0:spPr>
      </ns0:pic>
      <ns0:sp>
        <ns0:nvSpPr>
          <ns0:cNvPr id="7" name="Text 4"/>
          <ns0:cNvSpPr txBox="1"/>
          <ns0:nvPr/>
        </ns0:nvSpPr>
        <ns0:spPr>
          <ns1:xfrm>
            <ns1:off x="457200" y="2679192"/>
            <ns1:ext cx="2194560" cy="274320"/>
          </ns1:xfrm>
          <ns1:prstGeom prst="rect">
            <ns1:avLst/>
          </ns1:prstGeom>
          <ns1:noFill/>
          <ns1:ln/>
        </ns0:spPr>
        <ns0:txBody>
          <ns1:bodyPr wrap="square" lIns="0" tIns="0" rIns="0" bIns="0" rtlCol="0" anchor="t"/>
          <ns1:lstStyle/>
          <ns1:p>
            <ns1:pPr indent="0" marL="0" eaLnBrk="0">
              <ns1:buNone/>
            </ns1:pPr>
            <ns1:r>
              <ns1:rPr lang="ko-KR" altLang="en-US" sz="1100" b="1" dirty="0">
                <ns1:solidFill>
                  <ns1:srgbClr val="C8553D"/>
                </ns1:solidFill>
                <ns1:latin typeface="Malgun Gothic" pitchFamily="34" charset="0"/>
                <ns1:ea typeface="Malgun Gothic" pitchFamily="34" charset="-122"/>
                <ns1:cs typeface="Malgun Gothic" pitchFamily="34" charset="-120"/>
              </ns1:rPr>
              <ns1:t>칠하지 않음: 좌판만</ns1:t>
            </ns1:r>
            <ns1:endParaRPr lang="ko-KR" sz="1100" dirty="0"/>
          </ns1:p>
        </ns0:txBody>
      </ns0:sp>
      <ns0:pic>
        <ns0:nvPicPr>
          <ns0:cNvPr id="8" name="Image 1" descr="/Users/minyoung/Library/Mobile Documents/com~apple~CloudDocs/GTEC/2-2/Capstone/presentation/assets/sam_03_local_box.jpg">    </ns0:cNvPr>
          <ns0:cNvPicPr>
            <ns1:picLocks noChangeAspect="1"/>
          </ns0:cNvPicPr>
          <ns0:nvPr/>
        </ns0:nvPicPr>
        <ns0:blipFill>
          <ns1:blip ns2:embed="rId2"/>
          <ns1:stretch>
            <ns1:fillRect/>
          </ns1:stretch>
        </ns0:blipFill>
        <ns0:spPr>
          <ns1:xfrm>
            <ns1:off x="2834640" y="1051560"/>
            <ns1:ext cx="2078946" cy="1572768"/>
          </ns1:xfrm>
          <ns1:prstGeom prst="rect">
            <ns1:avLst/>
          </ns1:prstGeom>
          <ns1:effectLst>
            <ns1:outerShdw sx="100000" sy="100000" kx="0" ky="0" algn="bl" rotWithShape="0" blurRad="76200" dist="25400" dir="5400000">
              <ns1:srgbClr val="000000">
                <ns1:alpha val="18000"/>
              </ns1:srgbClr>
            </ns1:outerShdw>
          </ns1:effectLst>
        </ns0:spPr>
      </ns0:pic>
      <ns0:sp>
        <ns0:nvSpPr>
          <ns0:cNvPr id="9" name="Text 5"/>
          <ns0:cNvSpPr txBox="1"/>
          <ns0:nvPr/>
        </ns0:nvSpPr>
        <ns0:spPr>
          <ns1:xfrm>
            <ns1:off x="2834640" y="2679192"/>
            <ns1:ext cx="2194560" cy="274320"/>
          </ns1:xfrm>
          <ns1:prstGeom prst="rect">
            <ns1:avLst/>
          </ns1:prstGeom>
          <ns1:noFill/>
          <ns1:ln/>
        </ns0:spPr>
        <ns0:txBody>
          <ns1:bodyPr wrap="square" lIns="0" tIns="0" rIns="0" bIns="0" rtlCol="0" anchor="t"/>
          <ns1:lstStyle/>
          <ns1:p>
            <ns1:pPr indent="0" marL="0" eaLnBrk="0">
              <ns1:buNone/>
            </ns1:pPr>
            <ns1:r>
              <ns1:rPr lang="ko-KR" altLang="en-US" sz="1100" b="1" dirty="0">
                <ns1:solidFill>
                  <ns1:srgbClr val="5E8A6A"/>
                </ns1:solidFill>
                <ns1:latin typeface="Malgun Gothic" pitchFamily="34" charset="0"/>
                <ns1:ea typeface="Malgun Gothic" pitchFamily="34" charset="-122"/>
                <ns1:cs typeface="Malgun Gothic" pitchFamily="34" charset="-120"/>
              </ns1:rPr>
              <ns1:t>칠함: 의자 전체</ns1:t>
            </ns1:r>
            <ns1:endParaRPr lang="ko-KR" sz="1100" dirty="0"/>
          </ns1:p>
        </ns0:txBody>
      </ns0:sp>
      <ns0:pic>
        <ns0:nvPicPr>
          <ns0:cNvPr id="10" name="Image 2" descr="/Users/minyoung/Library/Mobile Documents/com~apple~CloudDocs/GTEC/2-2/Capstone/presentation/assets/sam_08_local_auto.jpg">    </ns0:cNvPr>
          <ns0:cNvPicPr>
            <ns1:picLocks noChangeAspect="1"/>
          </ns0:cNvPicPr>
          <ns0:nvPr/>
        </ns0:nvPicPr>
        <ns0:blipFill>
          <ns1:blip ns2:embed="rId3"/>
          <ns1:stretch>
            <ns1:fillRect/>
          </ns1:stretch>
        </ns0:blipFill>
        <ns0:spPr>
          <ns1:xfrm>
            <ns1:off x="457200" y="2971800"/>
            <ns1:ext cx="2104802" cy="1572768"/>
          </ns1:xfrm>
          <ns1:prstGeom prst="rect">
            <ns1:avLst/>
          </ns1:prstGeom>
          <ns1:effectLst>
            <ns1:outerShdw sx="100000" sy="100000" kx="0" ky="0" algn="bl" rotWithShape="0" blurRad="76200" dist="25400" dir="5400000">
              <ns1:srgbClr val="000000">
                <ns1:alpha val="18000"/>
              </ns1:srgbClr>
            </ns1:outerShdw>
          </ns1:effectLst>
        </ns0:spPr>
      </ns0:pic>
      <ns0:sp>
        <ns0:nvSpPr>
          <ns0:cNvPr id="11" name="Text 6"/>
          <ns0:cNvSpPr txBox="1"/>
          <ns0:nvPr/>
        </ns0:nvSpPr>
        <ns0:spPr>
          <ns1:xfrm>
            <ns1:off x="457200" y="4599432"/>
            <ns1:ext cx="2194560" cy="274320"/>
          </ns1:xfrm>
          <ns1:prstGeom prst="rect">
            <ns1:avLst/>
          </ns1:prstGeom>
          <ns1:noFill/>
          <ns1:ln/>
        </ns0:spPr>
        <ns0:txBody>
          <ns1:bodyPr wrap="square" lIns="0" tIns="0" rIns="0" bIns="0" rtlCol="0" anchor="t"/>
          <ns1:lstStyle/>
          <ns1:p>
            <ns1:pPr indent="0" marL="0" eaLnBrk="0">
              <ns1:buNone/>
            </ns1:pPr>
            <ns1:r>
              <ns1:rPr lang="ko-KR" altLang="en-US" sz="1100" b="1" dirty="0">
                <ns1:solidFill>
                  <ns1:srgbClr val="C8553D"/>
                </ns1:solidFill>
                <ns1:latin typeface="Malgun Gothic" pitchFamily="34" charset="0"/>
                <ns1:ea typeface="Malgun Gothic" pitchFamily="34" charset="-122"/>
                <ns1:cs typeface="Malgun Gothic" pitchFamily="34" charset="-120"/>
              </ns1:rPr>
              <ns1:t>칠하지 않음: 뒤쪽 벽 조각</ns1:t>
            </ns1:r>
            <ns1:endParaRPr lang="ko-KR" sz="1100" dirty="0"/>
          </ns1:p>
        </ns0:txBody>
      </ns0:sp>
      <ns0:pic>
        <ns0:nvPicPr>
          <ns0:cNvPr id="12" name="Image 3" descr="/Users/minyoung/Library/Mobile Documents/com~apple~CloudDocs/GTEC/2-2/Capstone/presentation/assets/sam_08_local_box.jpg">    </ns0:cNvPr>
          <ns0:cNvPicPr>
            <ns1:picLocks noChangeAspect="1"/>
          </ns0:cNvPicPr>
          <ns0:nvPr/>
        </ns0:nvPicPr>
        <ns0:blipFill>
          <ns1:blip ns2:embed="rId4"/>
          <ns1:stretch>
            <ns1:fillRect/>
          </ns1:stretch>
        </ns0:blipFill>
        <ns0:spPr>
          <ns1:xfrm>
            <ns1:off x="2834640" y="2971800"/>
            <ns1:ext cx="2104802" cy="1572768"/>
          </ns1:xfrm>
          <ns1:prstGeom prst="rect">
            <ns1:avLst/>
          </ns1:prstGeom>
          <ns1:effectLst>
            <ns1:outerShdw sx="100000" sy="100000" kx="0" ky="0" algn="bl" rotWithShape="0" blurRad="76200" dist="25400" dir="5400000">
              <ns1:srgbClr val="000000">
                <ns1:alpha val="18000"/>
              </ns1:srgbClr>
            </ns1:outerShdw>
          </ns1:effectLst>
        </ns0:spPr>
      </ns0:pic>
      <ns0:sp>
        <ns0:nvSpPr>
          <ns0:cNvPr id="13" name="Text 7"/>
          <ns0:cNvSpPr txBox="1"/>
          <ns0:nvPr/>
        </ns0:nvSpPr>
        <ns0:spPr>
          <ns1:xfrm>
            <ns1:off x="2834640" y="4599432"/>
            <ns1:ext cx="2194560" cy="274320"/>
          </ns1:xfrm>
          <ns1:prstGeom prst="rect">
            <ns1:avLst/>
          </ns1:prstGeom>
          <ns1:noFill/>
          <ns1:ln/>
        </ns0:spPr>
        <ns0:txBody>
          <ns1:bodyPr wrap="square" lIns="0" tIns="0" rIns="0" bIns="0" rtlCol="0" anchor="t"/>
          <ns1:lstStyle/>
          <ns1:p>
            <ns1:pPr indent="0" marL="0" eaLnBrk="0">
              <ns1:buNone/>
            </ns1:pPr>
            <ns1:r>
              <ns1:rPr lang="ko-KR" altLang="en-US" sz="1100" b="1" dirty="0">
                <ns1:solidFill>
                  <ns1:srgbClr val="5E8A6A"/>
                </ns1:solidFill>
                <ns1:latin typeface="Malgun Gothic" pitchFamily="34" charset="0"/>
                <ns1:ea typeface="Malgun Gothic" pitchFamily="34" charset="-122"/>
                <ns1:cs typeface="Malgun Gothic" pitchFamily="34" charset="-120"/>
              </ns1:rPr>
              <ns1:t>칠함: 라운지체어</ns1:t>
            </ns1:r>
            <ns1:endParaRPr lang="ko-KR" sz="1100" dirty="0"/>
          </ns1:p>
        </ns0:txBody>
      </ns0:sp>
      <ns0:sp>
        <ns0:nvSpPr>
          <ns0:cNvPr id="14" name="Text 8"/>
          <ns0:cNvSpPr txBox="1"/>
          <ns0:nvPr/>
        </ns0:nvSpPr>
        <ns0:spPr>
          <ns1:xfrm>
            <ns1:off x="5394960" y="1097280"/>
            <ns1:ext cx="3291840" cy="822960"/>
          </ns1:xfrm>
          <ns1:prstGeom prst="rect">
            <ns1:avLst/>
          </ns1:prstGeom>
          <ns1:noFill/>
          <ns1:ln/>
        </ns0:spPr>
        <ns0:txBody>
          <ns1:bodyPr wrap="square" lIns="0" tIns="0" rIns="0" bIns="0" rtlCol="0" anchor="t"/>
          <ns1:lstStyle/>
          <ns1:p>
            <ns1:pPr indent="0" marL="0" eaLnBrk="0">
              <ns1:buNone/>
            </ns1:pPr>
            <ns1:r>
              <ns1:rPr lang="ko-KR" altLang="en-US" sz="4800" b="1" dirty="0">
                <ns1:solidFill>
                  <ns1:srgbClr val="C8553D"/>
                </ns1:solidFill>
                <ns1:latin typeface="Malgun Gothic" pitchFamily="34" charset="0"/>
                <ns1:ea typeface="Malgun Gothic" pitchFamily="34" charset="-122"/>
                <ns1:cs typeface="Malgun Gothic" pitchFamily="34" charset="-120"/>
              </ns1:rPr>
              <ns1:t>4 → 8</ns1:t>
            </ns1:r>
            <ns1:endParaRPr lang="ko-KR" sz="4800" dirty="0"/>
          </ns1:p>
        </ns0:txBody>
      </ns0:sp>
      <ns0:sp>
        <ns0:nvSpPr>
          <ns0:cNvPr id="15" name="Text 9"/>
          <ns0:cNvSpPr txBox="1"/>
          <ns0:nvPr/>
        </ns0:nvSpPr>
        <ns0:spPr>
          <ns1:xfrm>
            <ns1:off x="5394960" y="1920240"/>
            <ns1:ext cx="3291840" cy="320040"/>
          </ns1:xfrm>
          <ns1:prstGeom prst="rect">
            <ns1:avLst/>
          </ns1:prstGeom>
          <ns1:noFill/>
          <ns1:ln/>
        </ns0:spPr>
        <ns0:txBody>
          <ns1:bodyPr wrap="square" lIns="0" tIns="0" rIns="0" bIns="0" rtlCol="0" anchor="t"/>
          <ns1:lstStyle/>
          <ns1:p>
            <ns1:pPr indent="0" marL="0" eaLnBrk="0">
              <ns1:buNone/>
            </ns1:pPr>
            <ns1:r>
              <ns1:rPr lang="ko-KR" altLang="en-US" sz="1200" dirty="0">
                <ns1:solidFill>
                  <ns1:srgbClr val="5F6670"/>
                </ns1:solidFill>
                <ns1:latin typeface="Malgun Gothic" pitchFamily="34" charset="0"/>
                <ns1:ea typeface="Malgun Gothic" pitchFamily="34" charset="-122"/>
                <ns1:cs typeface="Malgun Gothic" pitchFamily="34" charset="-120"/>
              </ns1:rPr>
              <ns1:t>누끼가 제대로 나온 가구 수 (10개 중, 육안)</ns1:t>
            </ns1:r>
            <ns1:endParaRPr lang="ko-KR" sz="1200" dirty="0"/>
          </ns1:p>
        </ns0:txBody>
      </ns0:sp>
      <ns0:sp>
        <ns0:nvSpPr>
          <ns0:cNvPr id="16" name="Text 10"/>
          <ns0:cNvSpPr txBox="1"/>
          <ns0:nvPr/>
        </ns0:nvSpPr>
        <ns0:spPr>
          <ns1:xfrm>
            <ns1:off x="5394960" y="2423160"/>
            <ns1:ext cx="3291840" cy="2103120"/>
          </ns1:xfrm>
          <ns1:prstGeom prst="rect">
            <ns1:avLst/>
          </ns1:prstGeom>
          <ns1:noFill/>
          <ns1:ln/>
        </ns0:spPr>
        <ns0:txBody>
          <ns1:bodyPr wrap="square" lIns="0" tIns="0" rIns="0" bIns="0" rtlCol="0" anchor="t"/>
          <ns1:lstStyle/>
          <ns1:p>
            <ns1:pPr marL="152400" indent="-152400" eaLnBrk="0">
              <ns1:spcAft>
                <ns1:spcPts val="800"/>
              </ns1:spcAft>
              <ns1:buSzPct val="100000"/>
              <ns1:buChar char="•"/>
            </ns1:pPr>
            <ns1:r>
              <ns1:rPr lang="ko-KR" altLang="en-US" sz="1200" dirty="0">
                <ns1:solidFill>
                  <ns1:srgbClr val="1F2328"/>
                </ns1:solidFill>
                <ns1:latin typeface="Malgun Gothic" pitchFamily="34" charset="0"/>
                <ns1:ea typeface="Malgun Gothic" pitchFamily="34" charset="-122"/>
                <ns1:cs typeface="Malgun Gothic" pitchFamily="34" charset="-120"/>
              </ns1:rPr>
              <ns1:t>SAM에 가구를 감싸는 박스를 주면 정확해진다 — 박스 7/10 &gt; 중앙점 5/10 &gt; 전체 2/10</ns1:t>
            </ns1:r>
            <ns1:endParaRPr lang="ko-KR" sz="1200" dirty="0"/>
          </ns1:p>
          <ns1:p>
            <ns1:pPr marL="152400" indent="-152400" eaLnBrk="0">
              <ns1:spcAft>
                <ns1:spcPts val="800"/>
              </ns1:spcAft>
              <ns1:buSzPct val="100000"/>
              <ns1:buChar char="•"/>
            </ns1:pPr>
            <ns1:r>
              <ns1:rPr lang="ko-KR" altLang="en-US" sz="1200" dirty="0">
                <ns1:solidFill>
                  <ns1:srgbClr val="1F2328"/>
                </ns1:solidFill>
                <ns1:latin typeface="Malgun Gothic" pitchFamily="34" charset="0"/>
                <ns1:ea typeface="Malgun Gothic" pitchFamily="34" charset="-122"/>
                <ns1:cs typeface="Malgun Gothic" pitchFamily="34" charset="-120"/>
              </ns1:rPr>
              <ns1:t>앱의 샘플은 미리 정해 둔 박스를 쓴다 (칠하지 않아도)</ns1:t>
            </ns1:r>
            <ns1:endParaRPr lang="ko-KR" sz="1200" dirty="0"/>
          </ns1:p>
          <ns1:p>
            <ns1:pPr marL="152400" indent="-152400" eaLnBrk="0">
              <ns1:spcAft>
                <ns1:spcPts val="800"/>
              </ns1:spcAft>
              <ns1:buSzPct val="100000"/>
              <ns1:buChar char="•"/>
            </ns1:pPr>
            <ns1:r>
              <ns1:rPr lang="ko-KR" altLang="en-US" sz="1200" dirty="0">
                <ns1:solidFill>
                  <ns1:srgbClr val="1F2328"/>
                </ns1:solidFill>
                <ns1:latin typeface="Malgun Gothic" pitchFamily="34" charset="0"/>
                <ns1:ea typeface="Malgun Gothic" pitchFamily="34" charset="-122"/>
                <ns1:cs typeface="Malgun Gothic" pitchFamily="34" charset="-120"/>
              </ns1:rPr>
              <ns1:t>박스는 누끼 결과를 보기 전에 정했다 — 결과를 보고 고르면 평가셋에 맞춘 선택</ns1:t>
            </ns1:r>
            <ns1:endParaRPr lang="ko-KR" sz="1200" dirty="0"/>
          </ns1:p>
        </ns0:txBody>
      </ns0:sp>
    </ns0:spTree>
  </ns0:cSld>
  <ns0:clrMapOvr>
    <ns1:masterClrMapping/>
  </ns0:clrMapOvr>
</ns0:sld>
</file>

<file path=ppt/slides/slide6.xml><?xml version="1.0" encoding="utf-8"?>
<ns0:sld xmlns:ns0="http://schemas.openxmlformats.org/presentationml/2006/main" xmlns:ns1="http://schemas.openxmlformats.org/drawingml/2006/main" xmlns:ns2="http://schemas.openxmlformats.org/officeDocument/2006/relationships">
  <ns0:cSld name="Slide 6">
    <ns0:bg>
      <ns0:bgPr>
        <ns1:solidFill>
          <ns1:srgbClr val="FFFFFF"/>
        </ns1:solidFill>
      </ns0:bgPr>
    </ns0:bg>
    <ns0:spTree>
      <ns0:nvGrpSpPr>
        <ns0:cNvPr id="1" name=""/>
        <ns0:cNvGrpSpPr/>
        <ns0:nvPr/>
      </ns0:nvGrpSpPr>
      <ns0:grpSpPr>
        <ns1:xfrm>
          <ns1:off x="0" y="0"/>
          <ns1:ext cx="0" cy="0"/>
          <ns1:chOff x="0" y="0"/>
          <ns1:chExt cx="0" cy="0"/>
        </ns1:xfrm>
      </ns0:grpSpPr>
      <ns0:sp>
        <ns0:nvSpPr>
          <ns0:cNvPr id="2" name="Shape 0"/>
          <ns0:cNvSpPr/>
          <ns0:nvPr/>
        </ns0:nvSpPr>
        <ns0:spPr>
          <ns1:xfrm>
            <ns1:off x="457200" y="329184"/>
            <ns1:ext cx="420624" cy="420624"/>
          </ns1:xfrm>
          <ns1:prstGeom prst="ellipse">
            <ns1:avLst/>
          </ns1:prstGeom>
          <ns1:solidFill>
            <ns1:srgbClr val="C8553D"/>
          </ns1:solidFill>
          <ns1:ln w="12700">
            <ns1:solidFill>
              <ns1:srgbClr val="C8553D"/>
            </ns1:solidFill>
            <ns1:prstDash val="solid"/>
          </ns1:ln>
        </ns0:spPr>
      </ns0:sp>
      <ns0:sp>
        <ns0:nvSpPr>
          <ns0:cNvPr id="3" name="Text 1"/>
          <ns0:cNvSpPr txBox="1"/>
          <ns0:nvPr/>
        </ns0:nvSpPr>
        <ns0:spPr>
          <ns1:xfrm>
            <ns1:off x="457200" y="329184"/>
            <ns1:ext cx="420624" cy="420624"/>
          </ns1:xfrm>
          <ns1:prstGeom prst="rect">
            <ns1:avLst/>
          </ns1:prstGeom>
          <ns1:noFill/>
          <ns1:ln/>
        </ns0:spPr>
        <ns0:txBody>
          <ns1:bodyPr wrap="square" lIns="0" tIns="0" rIns="0" bIns="0" rtlCol="0" anchor="ctr"/>
          <ns1:lstStyle/>
          <ns1:p>
            <ns1:pPr algn="ctr" indent="0" marL="0" eaLnBrk="0">
              <ns1:buNone/>
            </ns1:pPr>
            <ns1:r>
              <ns1:rPr lang="ko-KR" altLang="en-US" sz="1500" b="1" dirty="0">
                <ns1:solidFill>
                  <ns1:srgbClr val="FFFFFF"/>
                </ns1:solidFill>
                <ns1:latin typeface="Malgun Gothic" pitchFamily="34" charset="0"/>
                <ns1:ea typeface="Malgun Gothic" pitchFamily="34" charset="-122"/>
                <ns1:cs typeface="Malgun Gothic" pitchFamily="34" charset="-120"/>
              </ns1:rPr>
              <ns1:t>5</ns1:t>
            </ns1:r>
            <ns1:endParaRPr lang="ko-KR" sz="1500" dirty="0"/>
          </ns1:p>
        </ns0:txBody>
      </ns0:sp>
      <ns0:sp>
        <ns0:nvSpPr>
          <ns0:cNvPr id="4" name="Text 2"/>
          <ns0:cNvSpPr txBox="1"/>
          <ns0:nvPr/>
        </ns0:nvSpPr>
        <ns0:spPr>
          <ns1:xfrm>
            <ns1:off x="1024128" y="274320"/>
            <ns1:ext cx="7680960" cy="530352"/>
          </ns1:xfrm>
          <ns1:prstGeom prst="rect">
            <ns1:avLst/>
          </ns1:prstGeom>
          <ns1:noFill/>
          <ns1:ln/>
        </ns0:spPr>
        <ns0:txBody>
          <ns1:bodyPr wrap="square" lIns="0" tIns="0" rIns="0" bIns="0" rtlCol="0" anchor="ctr"/>
          <ns1:lstStyle/>
          <ns1:p>
            <ns1:pPr indent="0" marL="0" eaLnBrk="0">
              <ns1:buNone/>
            </ns1:pPr>
            <ns1:r>
              <ns1:rPr lang="ko-KR" altLang="en-US" sz="2400" b="1" dirty="0">
                <ns1:solidFill>
                  <ns1:srgbClr val="1F2328"/>
                </ns1:solidFill>
                <ns1:latin typeface="Malgun Gothic" pitchFamily="34" charset="0"/>
                <ns1:ea typeface="Malgun Gothic" pitchFamily="34" charset="-122"/>
                <ns1:cs typeface="Malgun Gothic" pitchFamily="34" charset="-120"/>
              </ns1:rPr>
              <ns1:t>합성: 빛·그림자·가림을 근사한 실험</ns1:t>
            </ns1:r>
            <ns1:endParaRPr lang="ko-KR" sz="2400" dirty="0"/>
          </ns1:p>
        </ns0:txBody>
      </ns0:sp>
      <ns0:sp>
        <ns0:nvSpPr>
          <ns0:cNvPr id="5" name="Text 3"/>
          <ns0:cNvSpPr txBox="1"/>
          <ns0:nvPr/>
        </ns0:nvSpPr>
        <ns0:spPr>
          <ns1:xfrm>
            <ns1:off x="457200" y="4901184"/>
            <ns1:ext cx="8229600" cy="128016"/>
          </ns1:xfrm>
          <ns1:prstGeom prst="rect">
            <ns1:avLst/>
          </ns1:prstGeom>
          <ns1:noFill/>
          <ns1:ln/>
        </ns0:spPr>
        <ns0:txBody>
          <ns1:bodyPr wrap="square" lIns="0" tIns="0" rIns="0" bIns="0" rtlCol="0" anchor="t"/>
          <ns1:lstStyle/>
          <ns1:p>
            <ns1:pPr indent="0" marL="0" eaLnBrk="0">
              <ns1:buNone/>
            </ns1:pPr>
            <ns1:r>
              <ns1:rPr lang="ko-KR" altLang="en-US" sz="800" dirty="0">
                <ns1:solidFill>
                  <ns1:srgbClr val="5F6670"/>
                </ns1:solidFill>
                <ns1:latin typeface="Malgun Gothic" pitchFamily="34" charset="0"/>
                <ns1:ea typeface="Malgun Gothic" pitchFamily="34" charset="-122"/>
                <ns1:cs typeface="Malgun Gothic" pitchFamily="34" charset="-120"/>
              </ns1:rPr>
              <ns1:t>2026-09-19 이전 구현의 실험 기록 · 09-21 수정 후 품질은 아직 재측정하지 않음</ns1:t>
            </ns1:r>
            <ns1:endParaRPr lang="ko-KR" sz="800" dirty="0"/>
          </ns1:p>
        </ns0:txBody>
      </ns0:sp>
      <ns0:sp>
        <ns0:nvSpPr>
          <ns0:cNvPr id="6" name="Shape 4"/>
          <ns0:cNvSpPr/>
          <ns0:nvPr/>
        </ns0:nvSpPr>
        <ns0:spPr>
          <ns1:xfrm>
            <ns1:off x="457200" y="1051560"/>
            <ns1:ext cx="2606040" cy="3611880"/>
          </ns1:xfrm>
          <ns1:prstGeom prst="roundRect">
            <ns1:avLst>
              <ns1:gd name="adj" fmla="val 2807"/>
            </ns1:avLst>
          </ns1:prstGeom>
          <ns1:solidFill>
            <ns1:srgbClr val="F2F3F1"/>
          </ns1:solidFill>
          <ns1:ln w="12700">
            <ns1:solidFill>
              <ns1:srgbClr val="F2F3F1"/>
            </ns1:solidFill>
            <ns1:prstDash val="solid"/>
          </ns1:ln>
        </ns0:spPr>
      </ns0:sp>
      <ns0:sp>
        <ns0:nvSpPr>
          <ns0:cNvPr id="7" name="Text 5"/>
          <ns0:cNvSpPr txBox="1"/>
          <ns0:nvPr/>
        </ns0:nvSpPr>
        <ns0:spPr>
          <ns1:xfrm>
            <ns1:off x="594360" y="1188720"/>
            <ns1:ext cx="2331720" cy="320040"/>
          </ns1:xfrm>
          <ns1:prstGeom prst="rect">
            <ns1:avLst/>
          </ns1:prstGeom>
          <ns1:noFill/>
          <ns1:ln/>
        </ns0:spPr>
        <ns0:txBody>
          <ns1:bodyPr wrap="square" lIns="0" tIns="0" rIns="0" bIns="0" rtlCol="0" anchor="t"/>
          <ns1:lstStyle/>
          <ns1:p>
            <ns1:pPr indent="0" marL="0" eaLnBrk="0">
              <ns1:buNone/>
            </ns1:pPr>
            <ns1:r>
              <ns1:rPr lang="ko-KR" altLang="en-US" sz="1400" b="1" dirty="0">
                <ns1:solidFill>
                  <ns1:srgbClr val="1F2328"/>
                </ns1:solidFill>
                <ns1:latin typeface="Malgun Gothic" pitchFamily="34" charset="0"/>
                <ns1:ea typeface="Malgun Gothic" pitchFamily="34" charset="-122"/>
                <ns1:cs typeface="Malgun Gothic" pitchFamily="34" charset="-120"/>
              </ns1:rPr>
              <ns1:t>조명 정합</ns1:t>
            </ns1:r>
            <ns1:endParaRPr lang="ko-KR" sz="1400" dirty="0"/>
          </ns1:p>
        </ns0:txBody>
      </ns0:sp>
      <ns0:pic>
        <ns0:nvPicPr>
          <ns0:cNvPr id="8" name="Image 0" descr="/Users/minyoung/Library/Mobile Documents/com~apple~CloudDocs/GTEC/2-2/Capstone/presentation/assets/harm_old.jpg">    </ns0:cNvPr>
          <ns0:cNvPicPr>
            <ns1:picLocks noChangeAspect="1"/>
          </ns0:cNvPicPr>
          <ns0:nvPr/>
        </ns0:nvPicPr>
        <ns0:blipFill>
          <ns1:blip ns2:embed="rId1"/>
          <ns1:stretch>
            <ns1:fillRect/>
          </ns1:stretch>
        </ns0:blipFill>
        <ns0:spPr>
          <ns1:xfrm>
            <ns1:off x="566928" y="1600200"/>
            <ns1:ext cx="1161288" cy="840370"/>
          </ns1:xfrm>
          <ns1:prstGeom prst="rect">
            <ns1:avLst/>
          </ns1:prstGeom>
        </ns0:spPr>
      </ns0:pic>
      <ns0:sp>
        <ns0:nvSpPr>
          <ns0:cNvPr id="9" name="Text 6"/>
          <ns0:cNvSpPr txBox="1"/>
          <ns0:nvPr/>
        </ns0:nvSpPr>
        <ns0:spPr>
          <ns1:xfrm>
            <ns1:off x="566928" y="2697480"/>
            <ns1:ext cx="1161288" cy="274320"/>
          </ns1:xfrm>
          <ns1:prstGeom prst="rect">
            <ns1:avLst/>
          </ns1:prstGeom>
          <ns1:noFill/>
          <ns1:ln/>
        </ns0:spPr>
        <ns0:txBody>
          <ns1:bodyPr wrap="square" lIns="0" tIns="0" rIns="0" bIns="0" rtlCol="0" anchor="t"/>
          <ns1:lstStyle/>
          <ns1:p>
            <ns1:pPr algn="ctr" indent="0" marL="0" eaLnBrk="0">
              <ns1:buNone/>
            </ns1:pPr>
            <ns1:r>
              <ns1:rPr lang="ko-KR" altLang="en-US" sz="900" dirty="0">
                <ns1:solidFill>
                  <ns1:srgbClr val="5F6670"/>
                </ns1:solidFill>
                <ns1:latin typeface="Malgun Gothic" pitchFamily="34" charset="0"/>
                <ns1:ea typeface="Malgun Gothic" pitchFamily="34" charset="-122"/>
                <ns1:cs typeface="Malgun Gothic" pitchFamily="34" charset="-120"/>
              </ns1:rPr>
              <ns1:t>기존 방식 · 채도 6.7</ns1:t>
            </ns1:r>
            <ns1:endParaRPr lang="ko-KR" sz="900" dirty="0"/>
          </ns1:p>
        </ns0:txBody>
      </ns0:sp>
      <ns0:pic>
        <ns0:nvPicPr>
          <ns0:cNvPr id="10" name="Image 1" descr="/Users/minyoung/Library/Mobile Documents/com~apple~CloudDocs/GTEC/2-2/Capstone/presentation/assets/harm_new.jpg">    </ns0:cNvPr>
          <ns0:cNvPicPr>
            <ns1:picLocks noChangeAspect="1"/>
          </ns0:cNvPicPr>
          <ns0:nvPr/>
        </ns0:nvPicPr>
        <ns0:blipFill>
          <ns1:blip ns2:embed="rId2"/>
          <ns1:stretch>
            <ns1:fillRect/>
          </ns1:stretch>
        </ns0:blipFill>
        <ns0:spPr>
          <ns1:xfrm>
            <ns1:off x="1783080" y="1600200"/>
            <ns1:ext cx="1161288" cy="840370"/>
          </ns1:xfrm>
          <ns1:prstGeom prst="rect">
            <ns1:avLst/>
          </ns1:prstGeom>
        </ns0:spPr>
      </ns0:pic>
      <ns0:sp>
        <ns0:nvSpPr>
          <ns0:cNvPr id="11" name="Text 7"/>
          <ns0:cNvSpPr txBox="1"/>
          <ns0:nvPr/>
        </ns0:nvSpPr>
        <ns0:spPr>
          <ns1:xfrm>
            <ns1:off x="1783080" y="2697480"/>
            <ns1:ext cx="1161288" cy="274320"/>
          </ns1:xfrm>
          <ns1:prstGeom prst="rect">
            <ns1:avLst/>
          </ns1:prstGeom>
          <ns1:noFill/>
          <ns1:ln/>
        </ns0:spPr>
        <ns0:txBody>
          <ns1:bodyPr wrap="square" lIns="0" tIns="0" rIns="0" bIns="0" rtlCol="0" anchor="t"/>
          <ns1:lstStyle/>
          <ns1:p>
            <ns1:pPr algn="ctr" indent="0" marL="0" eaLnBrk="0">
              <ns1:buNone/>
            </ns1:pPr>
            <ns1:r>
              <ns1:rPr lang="ko-KR" altLang="en-US" sz="900" b="1" dirty="0">
                <ns1:solidFill>
                  <ns1:srgbClr val="5E8A6A"/>
                </ns1:solidFill>
                <ns1:latin typeface="Malgun Gothic" pitchFamily="34" charset="0"/>
                <ns1:ea typeface="Malgun Gothic" pitchFamily="34" charset="-122"/>
                <ns1:cs typeface="Malgun Gothic" pitchFamily="34" charset="-120"/>
              </ns1:rPr>
              <ns1:t>새 방식 · 채도 5.0</ns1:t>
            </ns1:r>
            <ns1:endParaRPr lang="ko-KR" sz="900" dirty="0"/>
          </ns1:p>
        </ns0:txBody>
      </ns0:sp>
      <ns0:sp>
        <ns0:nvSpPr>
          <ns0:cNvPr id="12" name="Text 8"/>
          <ns0:cNvSpPr txBox="1"/>
          <ns0:nvPr/>
        </ns0:nvSpPr>
        <ns0:spPr>
          <ns1:xfrm>
            <ns1:off x="594360" y="3063240"/>
            <ns1:ext cx="2331720" cy="1051560"/>
          </ns1:xfrm>
          <ns1:prstGeom prst="rect">
            <ns1:avLst/>
          </ns1:prstGeom>
          <ns1:noFill/>
          <ns1:ln/>
        </ns0:spPr>
        <ns0:txBody>
          <ns1:bodyPr wrap="square" lIns="0" tIns="0" rIns="0" bIns="0" rtlCol="0" anchor="t"/>
          <ns1:lstStyle/>
          <ns1:p>
            <ns1:pPr indent="0" marL="0" eaLnBrk="0">
              <ns1:buNone/>
            </ns1:pPr>
            <ns1:r>
              <ns1:rPr lang="ko-KR" altLang="en-US" sz="1100" dirty="0">
                <ns1:solidFill>
                  <ns1:srgbClr val="1F2328"/>
                </ns1:solidFill>
                <ns1:latin typeface="Malgun Gothic" pitchFamily="34" charset="0"/>
                <ns1:ea typeface="Malgun Gothic" pitchFamily="34" charset="-122"/>
                <ns1:cs typeface="Malgun Gothic" pitchFamily="34" charset="-120"/>
              </ns1:rPr>
              <ns1:t>바닥이 아니라 방의 밝은 부분에서 조명색을 가져와, 흰 가구가 누렇게 변하던 문제를 없앴다. 기존 방식은 보정 안 한 것(5.7)보다도 나빴다.</ns1:t>
            </ns1:r>
            <ns1:endParaRPr lang="ko-KR" sz="1100" dirty="0"/>
          </ns1:p>
        </ns0:txBody>
      </ns0:sp>
      <ns0:sp>
        <ns0:nvSpPr>
          <ns0:cNvPr id="13" name="Text 9"/>
          <ns0:cNvSpPr txBox="1"/>
          <ns0:nvPr/>
        </ns0:nvSpPr>
        <ns0:spPr>
          <ns1:xfrm>
            <ns1:off x="594360" y="4114800"/>
            <ns1:ext cx="2331720" cy="411480"/>
          </ns1:xfrm>
          <ns1:prstGeom prst="rect">
            <ns1:avLst/>
          </ns1:prstGeom>
          <ns1:noFill/>
          <ns1:ln/>
        </ns0:spPr>
        <ns0:txBody>
          <ns1:bodyPr wrap="square" lIns="0" tIns="0" rIns="0" bIns="0" rtlCol="0" anchor="t"/>
          <ns1:lstStyle/>
          <ns1:p>
            <ns1:pPr indent="0" marL="0" eaLnBrk="0">
              <ns1:buNone/>
            </ns1:pPr>
            <ns1:r>
              <ns1:rPr lang="ko-KR" altLang="en-US" sz="1700" b="1" dirty="0">
                <ns1:solidFill>
                  <ns1:srgbClr val="C8553D"/>
                </ns1:solidFill>
                <ns1:latin typeface="Malgun Gothic" pitchFamily="34" charset="0"/>
                <ns1:ea typeface="Malgun Gothic" pitchFamily="34" charset="-122"/>
                <ns1:cs typeface="Malgun Gothic" pitchFamily="34" charset="-120"/>
              </ns1:rPr>
              <ns1:t>채도 6.7 → 5.0</ns1:t>
            </ns1:r>
            <ns1:endParaRPr lang="ko-KR" sz="1700" dirty="0"/>
          </ns1:p>
        </ns0:txBody>
      </ns0:sp>
      <ns0:sp>
        <ns0:nvSpPr>
          <ns0:cNvPr id="14" name="Shape 10"/>
          <ns0:cNvSpPr/>
          <ns0:nvPr/>
        </ns0:nvSpPr>
        <ns0:spPr>
          <ns1:xfrm>
            <ns1:off x="3246120" y="1051560"/>
            <ns1:ext cx="2606040" cy="3611880"/>
          </ns1:xfrm>
          <ns1:prstGeom prst="roundRect">
            <ns1:avLst>
              <ns1:gd name="adj" fmla="val 2807"/>
            </ns1:avLst>
          </ns1:prstGeom>
          <ns1:solidFill>
            <ns1:srgbClr val="F2F3F1"/>
          </ns1:solidFill>
          <ns1:ln w="12700">
            <ns1:solidFill>
              <ns1:srgbClr val="F2F3F1"/>
            </ns1:solidFill>
            <ns1:prstDash val="solid"/>
          </ns1:ln>
        </ns0:spPr>
      </ns0:sp>
      <ns0:sp>
        <ns0:nvSpPr>
          <ns0:cNvPr id="15" name="Text 11"/>
          <ns0:cNvSpPr txBox="1"/>
          <ns0:nvPr/>
        </ns0:nvSpPr>
        <ns0:spPr>
          <ns1:xfrm>
            <ns1:off x="3383280" y="1188720"/>
            <ns1:ext cx="2331720" cy="320040"/>
          </ns1:xfrm>
          <ns1:prstGeom prst="rect">
            <ns1:avLst/>
          </ns1:prstGeom>
          <ns1:noFill/>
          <ns1:ln/>
        </ns0:spPr>
        <ns0:txBody>
          <ns1:bodyPr wrap="square" lIns="0" tIns="0" rIns="0" bIns="0" rtlCol="0" anchor="t"/>
          <ns1:lstStyle/>
          <ns1:p>
            <ns1:pPr indent="0" marL="0" eaLnBrk="0">
              <ns1:buNone/>
            </ns1:pPr>
            <ns1:r>
              <ns1:rPr lang="ko-KR" altLang="en-US" sz="1400" b="1" dirty="0">
                <ns1:solidFill>
                  <ns1:srgbClr val="1F2328"/>
                </ns1:solidFill>
                <ns1:latin typeface="Malgun Gothic" pitchFamily="34" charset="0"/>
                <ns1:ea typeface="Malgun Gothic" pitchFamily="34" charset="-122"/>
                <ns1:cs typeface="Malgun Gothic" pitchFamily="34" charset="-120"/>
              </ns1:rPr>
              <ns1:t>원근 반영 그림자</ns1:t>
            </ns1:r>
            <ns1:endParaRPr lang="ko-KR" sz="1400" dirty="0"/>
          </ns1:p>
        </ns0:txBody>
      </ns0:sp>
      <ns0:pic>
        <ns0:nvPicPr>
          <ns0:cNvPr id="16" name="Image 2" descr="/Users/minyoung/Library/Mobile Documents/com~apple~CloudDocs/GTEC/2-2/Capstone/presentation/assets/shadow_before.jpg">    </ns0:cNvPr>
          <ns0:cNvPicPr>
            <ns1:picLocks noChangeAspect="1"/>
          </ns0:cNvPicPr>
          <ns0:nvPr/>
        </ns0:nvPicPr>
        <ns0:blipFill>
          <ns1:blip ns2:embed="rId3"/>
          <ns1:stretch>
            <ns1:fillRect/>
          </ns1:stretch>
        </ns0:blipFill>
        <ns0:spPr>
          <ns1:xfrm>
            <ns1:off x="3355848" y="1600200"/>
            <ns1:ext cx="1161288" cy="759702"/>
          </ns1:xfrm>
          <ns1:prstGeom prst="rect">
            <ns1:avLst/>
          </ns1:prstGeom>
        </ns0:spPr>
      </ns0:pic>
      <ns0:sp>
        <ns0:nvSpPr>
          <ns0:cNvPr id="17" name="Text 12"/>
          <ns0:cNvSpPr txBox="1"/>
          <ns0:nvPr/>
        </ns0:nvSpPr>
        <ns0:spPr>
          <ns1:xfrm>
            <ns1:off x="3355848" y="2697480"/>
            <ns1:ext cx="1161288" cy="274320"/>
          </ns1:xfrm>
          <ns1:prstGeom prst="rect">
            <ns1:avLst/>
          </ns1:prstGeom>
          <ns1:noFill/>
          <ns1:ln/>
        </ns0:spPr>
        <ns0:txBody>
          <ns1:bodyPr wrap="square" lIns="0" tIns="0" rIns="0" bIns="0" rtlCol="0" anchor="t"/>
          <ns1:lstStyle/>
          <ns1:p>
            <ns1:pPr algn="ctr" indent="0" marL="0" eaLnBrk="0">
              <ns1:buNone/>
            </ns1:pPr>
            <ns1:r>
              <ns1:rPr lang="ko-KR" altLang="en-US" sz="900" dirty="0">
                <ns1:solidFill>
                  <ns1:srgbClr val="5F6670"/>
                </ns1:solidFill>
                <ns1:latin typeface="Malgun Gothic" pitchFamily="34" charset="0"/>
                <ns1:ea typeface="Malgun Gothic" pitchFamily="34" charset="-122"/>
                <ns1:cs typeface="Malgun Gothic" pitchFamily="34" charset="-120"/>
              </ns1:rPr>
              <ns1:t>상수 폭</ns1:t>
            </ns1:r>
            <ns1:endParaRPr lang="ko-KR" sz="900" dirty="0"/>
          </ns1:p>
        </ns0:txBody>
      </ns0:sp>
      <ns0:pic>
        <ns0:nvPicPr>
          <ns0:cNvPr id="18" name="Image 3" descr="/Users/minyoung/Library/Mobile Documents/com~apple~CloudDocs/GTEC/2-2/Capstone/presentation/assets/shadow_after.jpg">    </ns0:cNvPr>
          <ns0:cNvPicPr>
            <ns1:picLocks noChangeAspect="1"/>
          </ns0:cNvPicPr>
          <ns0:nvPr/>
        </ns0:nvPicPr>
        <ns0:blipFill>
          <ns1:blip ns2:embed="rId4"/>
          <ns1:stretch>
            <ns1:fillRect/>
          </ns1:stretch>
        </ns0:blipFill>
        <ns0:spPr>
          <ns1:xfrm>
            <ns1:off x="4572000" y="1600200"/>
            <ns1:ext cx="1161288" cy="759702"/>
          </ns1:xfrm>
          <ns1:prstGeom prst="rect">
            <ns1:avLst/>
          </ns1:prstGeom>
        </ns0:spPr>
      </ns0:pic>
      <ns0:sp>
        <ns0:nvSpPr>
          <ns0:cNvPr id="19" name="Text 13"/>
          <ns0:cNvSpPr txBox="1"/>
          <ns0:nvPr/>
        </ns0:nvSpPr>
        <ns0:spPr>
          <ns1:xfrm>
            <ns1:off x="4572000" y="2697480"/>
            <ns1:ext cx="1161288" cy="274320"/>
          </ns1:xfrm>
          <ns1:prstGeom prst="rect">
            <ns1:avLst/>
          </ns1:prstGeom>
          <ns1:noFill/>
          <ns1:ln/>
        </ns0:spPr>
        <ns0:txBody>
          <ns1:bodyPr wrap="square" lIns="0" tIns="0" rIns="0" bIns="0" rtlCol="0" anchor="t"/>
          <ns1:lstStyle/>
          <ns1:p>
            <ns1:pPr algn="ctr" indent="0" marL="0" eaLnBrk="0">
              <ns1:buNone/>
            </ns1:pPr>
            <ns1:r>
              <ns1:rPr lang="ko-KR" altLang="en-US" sz="900" b="1" dirty="0">
                <ns1:solidFill>
                  <ns1:srgbClr val="5E8A6A"/>
                </ns1:solidFill>
                <ns1:latin typeface="Malgun Gothic" pitchFamily="34" charset="0"/>
                <ns1:ea typeface="Malgun Gothic" pitchFamily="34" charset="-122"/>
                <ns1:cs typeface="Malgun Gothic" pitchFamily="34" charset="-120"/>
              </ns1:rPr>
              <ns1:t>바닥 평면으로 계산</ns1:t>
            </ns1:r>
            <ns1:endParaRPr lang="ko-KR" sz="900" dirty="0"/>
          </ns1:p>
        </ns0:txBody>
      </ns0:sp>
      <ns0:sp>
        <ns0:nvSpPr>
          <ns0:cNvPr id="20" name="Text 14"/>
          <ns0:cNvSpPr txBox="1"/>
          <ns0:nvPr/>
        </ns0:nvSpPr>
        <ns0:spPr>
          <ns1:xfrm>
            <ns1:off x="3383280" y="3063240"/>
            <ns1:ext cx="2331720" cy="1051560"/>
          </ns1:xfrm>
          <ns1:prstGeom prst="rect">
            <ns1:avLst/>
          </ns1:prstGeom>
          <ns1:noFill/>
          <ns1:ln/>
        </ns0:spPr>
        <ns0:txBody>
          <ns1:bodyPr wrap="square" lIns="0" tIns="0" rIns="0" bIns="0" rtlCol="0" anchor="t"/>
          <ns1:lstStyle/>
          <ns1:p>
            <ns1:pPr indent="0" marL="0" eaLnBrk="0">
              <ns1:buNone/>
            </ns1:pPr>
            <ns1:r>
              <ns1:rPr lang="ko-KR" altLang="en-US" sz="1100" dirty="0">
                <ns1:solidFill>
                  <ns1:srgbClr val="1F2328"/>
                </ns1:solidFill>
                <ns1:latin typeface="Malgun Gothic" pitchFamily="34" charset="0"/>
                <ns1:ea typeface="Malgun Gothic" pitchFamily="34" charset="-122"/>
                <ns1:cs typeface="Malgun Gothic" pitchFamily="34" charset="-120"/>
              </ns1:rPr>
              <ns1:t>이전 지평선 설정에서 상수 폭과 원근 근사를 비교했다. 실제 그림자를 측정한 정답은 아니다.</ns1:t>
            </ns1:r>
            <ns1:endParaRPr lang="ko-KR" sz="1100" dirty="0"/>
          </ns1:p>
        </ns0:txBody>
      </ns0:sp>
      <ns0:sp>
        <ns0:nvSpPr>
          <ns0:cNvPr id="21" name="Text 15"/>
          <ns0:cNvSpPr txBox="1"/>
          <ns0:nvPr/>
        </ns0:nvSpPr>
        <ns0:spPr>
          <ns1:xfrm>
            <ns1:off x="3383280" y="4114800"/>
            <ns1:ext cx="2331720" cy="411480"/>
          </ns1:xfrm>
          <ns1:prstGeom prst="rect">
            <ns1:avLst/>
          </ns1:prstGeom>
          <ns1:noFill/>
          <ns1:ln/>
        </ns0:spPr>
        <ns0:txBody>
          <ns1:bodyPr wrap="square" lIns="0" tIns="0" rIns="0" bIns="0" rtlCol="0" anchor="t"/>
          <ns1:lstStyle/>
          <ns1:p>
            <ns1:pPr indent="0" marL="0" eaLnBrk="0">
              <ns1:buNone/>
            </ns1:pPr>
            <ns1:r>
              <ns1:rPr lang="ko-KR" altLang="en-US" sz="1700" b="1" dirty="0">
                <ns1:solidFill>
                  <ns1:srgbClr val="C8553D"/>
                </ns1:solidFill>
                <ns1:latin typeface="Malgun Gothic" pitchFamily="34" charset="0"/>
                <ns1:ea typeface="Malgun Gothic" pitchFamily="34" charset="-122"/>
                <ns1:cs typeface="Malgun Gothic" pitchFamily="34" charset="-120"/>
              </ns1:rPr>
              <ns1:t>이전 설정 7px → 3px</ns1:t>
            </ns1:r>
            <ns1:endParaRPr lang="ko-KR" sz="1700" dirty="0"/>
          </ns1:p>
        </ns0:txBody>
      </ns0:sp>
      <ns0:sp>
        <ns0:nvSpPr>
          <ns0:cNvPr id="22" name="Shape 16"/>
          <ns0:cNvSpPr/>
          <ns0:nvPr/>
        </ns0:nvSpPr>
        <ns0:spPr>
          <ns1:xfrm>
            <ns1:off x="6035040" y="1051560"/>
            <ns1:ext cx="2606040" cy="3611880"/>
          </ns1:xfrm>
          <ns1:prstGeom prst="roundRect">
            <ns1:avLst>
              <ns1:gd name="adj" fmla="val 2807"/>
            </ns1:avLst>
          </ns1:prstGeom>
          <ns1:solidFill>
            <ns1:srgbClr val="F2F3F1"/>
          </ns1:solidFill>
          <ns1:ln w="12700">
            <ns1:solidFill>
              <ns1:srgbClr val="F2F3F1"/>
            </ns1:solidFill>
            <ns1:prstDash val="solid"/>
          </ns1:ln>
        </ns0:spPr>
      </ns0:sp>
      <ns0:sp>
        <ns0:nvSpPr>
          <ns0:cNvPr id="23" name="Text 17"/>
          <ns0:cNvSpPr txBox="1"/>
          <ns0:nvPr/>
        </ns0:nvSpPr>
        <ns0:spPr>
          <ns1:xfrm>
            <ns1:off x="6172200" y="1188720"/>
            <ns1:ext cx="2331720" cy="320040"/>
          </ns1:xfrm>
          <ns1:prstGeom prst="rect">
            <ns1:avLst/>
          </ns1:prstGeom>
          <ns1:noFill/>
          <ns1:ln/>
        </ns0:spPr>
        <ns0:txBody>
          <ns1:bodyPr wrap="square" lIns="0" tIns="0" rIns="0" bIns="0" rtlCol="0" anchor="t"/>
          <ns1:lstStyle/>
          <ns1:p>
            <ns1:pPr indent="0" marL="0" eaLnBrk="0">
              <ns1:buNone/>
            </ns1:pPr>
            <ns1:r>
              <ns1:rPr lang="ko-KR" altLang="en-US" sz="1400" b="1" dirty="0">
                <ns1:solidFill>
                  <ns1:srgbClr val="1F2328"/>
                </ns1:solidFill>
                <ns1:latin typeface="Malgun Gothic" pitchFamily="34" charset="0"/>
                <ns1:ea typeface="Malgun Gothic" pitchFamily="34" charset="-122"/>
                <ns1:cs typeface="Malgun Gothic" pitchFamily="34" charset="-120"/>
              </ns1:rPr>
              <ns1:t>깊이 기반 가림</ns1:t>
            </ns1:r>
            <ns1:endParaRPr lang="ko-KR" sz="1400" dirty="0"/>
          </ns1:p>
        </ns0:txBody>
      </ns0:sp>
      <ns0:pic>
        <ns0:nvPicPr>
          <ns0:cNvPr id="24" name="Image 4" descr="/Users/minyoung/Library/Mobile Documents/com~apple~CloudDocs/GTEC/2-2/Capstone/presentation/assets/occ_before.jpg">    </ns0:cNvPr>
          <ns0:cNvPicPr>
            <ns1:picLocks noChangeAspect="1"/>
          </ns0:cNvPicPr>
          <ns0:nvPr/>
        </ns0:nvPicPr>
        <ns0:blipFill>
          <ns1:blip ns2:embed="rId5"/>
          <ns1:stretch>
            <ns1:fillRect/>
          </ns1:stretch>
        </ns0:blipFill>
        <ns0:spPr>
          <ns1:xfrm>
            <ns1:off x="6144768" y="1600200"/>
            <ns1:ext cx="1161288" cy="961576"/>
          </ns1:xfrm>
          <ns1:prstGeom prst="rect">
            <ns1:avLst/>
          </ns1:prstGeom>
        </ns0:spPr>
      </ns0:pic>
      <ns0:sp>
        <ns0:nvSpPr>
          <ns0:cNvPr id="25" name="Text 18"/>
          <ns0:cNvSpPr txBox="1"/>
          <ns0:nvPr/>
        </ns0:nvSpPr>
        <ns0:spPr>
          <ns1:xfrm>
            <ns1:off x="6144768" y="2697480"/>
            <ns1:ext cx="1161288" cy="274320"/>
          </ns1:xfrm>
          <ns1:prstGeom prst="rect">
            <ns1:avLst/>
          </ns1:prstGeom>
          <ns1:noFill/>
          <ns1:ln/>
        </ns0:spPr>
        <ns0:txBody>
          <ns1:bodyPr wrap="square" lIns="0" tIns="0" rIns="0" bIns="0" rtlCol="0" anchor="t"/>
          <ns1:lstStyle/>
          <ns1:p>
            <ns1:pPr algn="ctr" indent="0" marL="0" eaLnBrk="0">
              <ns1:buNone/>
            </ns1:pPr>
            <ns1:r>
              <ns1:rPr lang="ko-KR" altLang="en-US" sz="900" dirty="0">
                <ns1:solidFill>
                  <ns1:srgbClr val="5F6670"/>
                </ns1:solidFill>
                <ns1:latin typeface="Malgun Gothic" pitchFamily="34" charset="0"/>
                <ns1:ea typeface="Malgun Gothic" pitchFamily="34" charset="-122"/>
                <ns1:cs typeface="Malgun Gothic" pitchFamily="34" charset="-120"/>
              </ns1:rPr>
              <ns1:t>수정 전</ns1:t>
            </ns1:r>
            <ns1:endParaRPr lang="ko-KR" sz="900" dirty="0"/>
          </ns1:p>
        </ns0:txBody>
      </ns0:sp>
      <ns0:pic>
        <ns0:nvPicPr>
          <ns0:cNvPr id="26" name="Image 5" descr="/Users/minyoung/Library/Mobile Documents/com~apple~CloudDocs/GTEC/2-2/Capstone/presentation/assets/occ_after.jpg">    </ns0:cNvPr>
          <ns0:cNvPicPr>
            <ns1:picLocks noChangeAspect="1"/>
          </ns0:cNvPicPr>
          <ns0:nvPr/>
        </ns0:nvPicPr>
        <ns0:blipFill>
          <ns1:blip ns2:embed="rId6"/>
          <ns1:stretch>
            <ns1:fillRect/>
          </ns1:stretch>
        </ns0:blipFill>
        <ns0:spPr>
          <ns1:xfrm>
            <ns1:off x="7360920" y="1600200"/>
            <ns1:ext cx="1161288" cy="961576"/>
          </ns1:xfrm>
          <ns1:prstGeom prst="rect">
            <ns1:avLst/>
          </ns1:prstGeom>
        </ns0:spPr>
      </ns0:pic>
      <ns0:sp>
        <ns0:nvSpPr>
          <ns0:cNvPr id="27" name="Text 19"/>
          <ns0:cNvSpPr txBox="1"/>
          <ns0:nvPr/>
        </ns0:nvSpPr>
        <ns0:spPr>
          <ns1:xfrm>
            <ns1:off x="7360920" y="2697480"/>
            <ns1:ext cx="1161288" cy="274320"/>
          </ns1:xfrm>
          <ns1:prstGeom prst="rect">
            <ns1:avLst/>
          </ns1:prstGeom>
          <ns1:noFill/>
          <ns1:ln/>
        </ns0:spPr>
        <ns0:txBody>
          <ns1:bodyPr wrap="square" lIns="0" tIns="0" rIns="0" bIns="0" rtlCol="0" anchor="t"/>
          <ns1:lstStyle/>
          <ns1:p>
            <ns1:pPr algn="ctr" indent="0" marL="0" eaLnBrk="0">
              <ns1:buNone/>
            </ns1:pPr>
            <ns1:r>
              <ns1:rPr lang="ko-KR" altLang="en-US" sz="900" b="1" dirty="0">
                <ns1:solidFill>
                  <ns1:srgbClr val="5E8A6A"/>
                </ns1:solidFill>
                <ns1:latin typeface="Malgun Gothic" pitchFamily="34" charset="0"/>
                <ns1:ea typeface="Malgun Gothic" pitchFamily="34" charset="-122"/>
                <ns1:cs typeface="Malgun Gothic" pitchFamily="34" charset="-120"/>
              </ns1:rPr>
              <ns1:t>수정 후</ns1:t>
            </ns1:r>
            <ns1:endParaRPr lang="ko-KR" sz="900" dirty="0"/>
          </ns1:p>
        </ns0:txBody>
      </ns0:sp>
      <ns0:sp>
        <ns0:nvSpPr>
          <ns0:cNvPr id="28" name="Text 20"/>
          <ns0:cNvSpPr txBox="1"/>
          <ns0:nvPr/>
        </ns0:nvSpPr>
        <ns0:spPr>
          <ns1:xfrm>
            <ns1:off x="6172200" y="3063240"/>
            <ns1:ext cx="2331720" cy="1051560"/>
          </ns1:xfrm>
          <ns1:prstGeom prst="rect">
            <ns1:avLst/>
          </ns1:prstGeom>
          <ns1:noFill/>
          <ns1:ln/>
        </ns0:spPr>
        <ns0:txBody>
          <ns1:bodyPr wrap="square" lIns="0" tIns="0" rIns="0" bIns="0" rtlCol="0" anchor="t"/>
          <ns1:lstStyle/>
          <ns1:p>
            <ns1:pPr indent="0" marL="0" eaLnBrk="0">
              <ns1:buNone/>
            </ns1:pPr>
            <ns1:r>
              <ns1:rPr lang="ko-KR" altLang="en-US" sz="1100" dirty="0">
                <ns1:solidFill>
                  <ns1:srgbClr val="1F2328"/>
                </ns1:solidFill>
                <ns1:latin typeface="Malgun Gothic" pitchFamily="34" charset="0"/>
                <ns1:ea typeface="Malgun Gothic" pitchFamily="34" charset="-122"/>
                <ns1:cs typeface="Malgun Gothic" pitchFamily="34" charset="-120"/>
              </ns1:rPr>
              <ns1:t>가구보다 가까운 물체(침대 기둥)가 가구를 가린다. 이전 10쌍에서 1쌍에만 작동했다. 물체 충돌이나 3D 위치를 검증한 것은 아니다.</ns1:t>
            </ns1:r>
            <ns1:endParaRPr lang="ko-KR" sz="1100" dirty="0"/>
          </ns1:p>
        </ns0:txBody>
      </ns0:sp>
      <ns0:sp>
        <ns0:nvSpPr>
          <ns0:cNvPr id="29" name="Text 21"/>
          <ns0:cNvSpPr txBox="1"/>
          <ns0:nvPr/>
        </ns0:nvSpPr>
        <ns0:spPr>
          <ns1:xfrm>
            <ns1:off x="6172200" y="4114800"/>
            <ns1:ext cx="2331720" cy="411480"/>
          </ns1:xfrm>
          <ns1:prstGeom prst="rect">
            <ns1:avLst/>
          </ns1:prstGeom>
          <ns1:noFill/>
          <ns1:ln/>
        </ns0:spPr>
        <ns0:txBody>
          <ns1:bodyPr wrap="square" lIns="0" tIns="0" rIns="0" bIns="0" rtlCol="0" anchor="t"/>
          <ns1:lstStyle/>
          <ns1:p>
            <ns1:pPr indent="0" marL="0" eaLnBrk="0">
              <ns1:buNone/>
            </ns1:pPr>
            <ns1:r>
              <ns1:rPr lang="ko-KR" altLang="en-US" sz="1700" b="1" dirty="0">
                <ns1:solidFill>
                  <ns1:srgbClr val="C8553D"/>
                </ns1:solidFill>
                <ns1:latin typeface="Malgun Gothic" pitchFamily="34" charset="0"/>
                <ns1:ea typeface="Malgun Gothic" pitchFamily="34" charset="-122"/>
                <ns1:cs typeface="Malgun Gothic" pitchFamily="34" charset="-120"/>
              </ns1:rPr>
              <ns1:t>새 파라미터 0개</ns1:t>
            </ns1:r>
            <ns1:endParaRPr lang="ko-KR" sz="1700" dirty="0"/>
          </ns1:p>
        </ns0:txBody>
      </ns0:sp>
    </ns0:spTree>
  </ns0:cSld>
  <ns0:clrMapOvr>
    <ns1:masterClrMapping/>
  </ns0:clrMapOvr>
</ns0:sld>
</file>

<file path=ppt/slides/slide7.xml><?xml version="1.0" encoding="utf-8"?>
<ns0:sld xmlns:ns0="http://schemas.openxmlformats.org/presentationml/2006/main" xmlns:ns1="http://schemas.openxmlformats.org/drawingml/2006/main" xmlns:ns2="http://schemas.openxmlformats.org/drawingml/2006/chart" xmlns:ns3="http://schemas.openxmlformats.org/officeDocument/2006/relationships">
  <ns0:cSld name="Slide 7">
    <ns0:bg>
      <ns0:bgPr>
        <ns1:solidFill>
          <ns1:srgbClr val="FFFFFF"/>
        </ns1:solidFill>
      </ns0:bgPr>
    </ns0:bg>
    <ns0:spTree>
      <ns0:nvGrpSpPr>
        <ns0:cNvPr id="1" name=""/>
        <ns0:cNvGrpSpPr/>
        <ns0:nvPr/>
      </ns0:nvGrpSpPr>
      <ns0:grpSpPr>
        <ns1:xfrm>
          <ns1:off x="0" y="0"/>
          <ns1:ext cx="0" cy="0"/>
          <ns1:chOff x="0" y="0"/>
          <ns1:chExt cx="0" cy="0"/>
        </ns1:xfrm>
      </ns0:grpSpPr>
      <ns0:sp>
        <ns0:nvSpPr>
          <ns0:cNvPr id="2" name="Shape 0"/>
          <ns0:cNvSpPr/>
          <ns0:nvPr/>
        </ns0:nvSpPr>
        <ns0:spPr>
          <ns1:xfrm>
            <ns1:off x="457200" y="329184"/>
            <ns1:ext cx="420624" cy="420624"/>
          </ns1:xfrm>
          <ns1:prstGeom prst="ellipse">
            <ns1:avLst/>
          </ns1:prstGeom>
          <ns1:solidFill>
            <ns1:srgbClr val="C8553D"/>
          </ns1:solidFill>
          <ns1:ln w="12700">
            <ns1:solidFill>
              <ns1:srgbClr val="C8553D"/>
            </ns1:solidFill>
            <ns1:prstDash val="solid"/>
          </ns1:ln>
        </ns0:spPr>
      </ns0:sp>
      <ns0:sp>
        <ns0:nvSpPr>
          <ns0:cNvPr id="3" name="Text 1"/>
          <ns0:cNvSpPr txBox="1"/>
          <ns0:nvPr/>
        </ns0:nvSpPr>
        <ns0:spPr>
          <ns1:xfrm>
            <ns1:off x="457200" y="329184"/>
            <ns1:ext cx="420624" cy="420624"/>
          </ns1:xfrm>
          <ns1:prstGeom prst="rect">
            <ns1:avLst/>
          </ns1:prstGeom>
          <ns1:noFill/>
          <ns1:ln/>
        </ns0:spPr>
        <ns0:txBody>
          <ns1:bodyPr wrap="square" lIns="0" tIns="0" rIns="0" bIns="0" rtlCol="0" anchor="ctr"/>
          <ns1:lstStyle/>
          <ns1:p>
            <ns1:pPr algn="ctr" indent="0" marL="0" eaLnBrk="0">
              <ns1:buNone/>
            </ns1:pPr>
            <ns1:r>
              <ns1:rPr lang="ko-KR" altLang="en-US" sz="1500" b="1" dirty="0">
                <ns1:solidFill>
                  <ns1:srgbClr val="FFFFFF"/>
                </ns1:solidFill>
                <ns1:latin typeface="Malgun Gothic" pitchFamily="34" charset="0"/>
                <ns1:ea typeface="Malgun Gothic" pitchFamily="34" charset="-122"/>
                <ns1:cs typeface="Malgun Gothic" pitchFamily="34" charset="-120"/>
              </ns1:rPr>
              <ns1:t>6</ns1:t>
            </ns1:r>
            <ns1:endParaRPr lang="ko-KR" sz="1500" dirty="0"/>
          </ns1:p>
        </ns0:txBody>
      </ns0:sp>
      <ns0:sp>
        <ns0:nvSpPr>
          <ns0:cNvPr id="4" name="Text 2"/>
          <ns0:cNvSpPr txBox="1"/>
          <ns0:nvPr/>
        </ns0:nvSpPr>
        <ns0:spPr>
          <ns1:xfrm>
            <ns1:off x="1024128" y="274320"/>
            <ns1:ext cx="7680960" cy="530352"/>
          </ns1:xfrm>
          <ns1:prstGeom prst="rect">
            <ns1:avLst/>
          </ns1:prstGeom>
          <ns1:noFill/>
          <ns1:ln/>
        </ns0:spPr>
        <ns0:txBody>
          <ns1:bodyPr wrap="square" lIns="0" tIns="0" rIns="0" bIns="0" rtlCol="0" anchor="ctr"/>
          <ns1:lstStyle/>
          <ns1:p>
            <ns1:pPr indent="0" marL="0" eaLnBrk="0">
              <ns1:buNone/>
            </ns1:pPr>
            <ns1:r>
              <ns1:rPr lang="ko-KR" altLang="en-US" sz="2400" b="1" dirty="0">
                <ns1:solidFill>
                  <ns1:srgbClr val="1F2328"/>
                </ns1:solidFill>
                <ns1:latin typeface="Malgun Gothic" pitchFamily="34" charset="0"/>
                <ns1:ea typeface="Malgun Gothic" pitchFamily="34" charset="-122"/>
                <ns1:cs typeface="Malgun Gothic" pitchFamily="34" charset="-120"/>
              </ns1:rPr>
              <ns1:t>크기: 문 높이를 가정한 대리 평가</ns1:t>
            </ns1:r>
            <ns1:endParaRPr lang="ko-KR" sz="2400" dirty="0"/>
          </ns1:p>
        </ns0:txBody>
      </ns0:sp>
      <ns0:sp>
        <ns0:nvSpPr>
          <ns0:cNvPr id="5" name="Text 3"/>
          <ns0:cNvSpPr txBox="1"/>
          <ns0:nvPr/>
        </ns0:nvSpPr>
        <ns0:spPr>
          <ns1:xfrm>
            <ns1:off x="457200" y="4901184"/>
            <ns1:ext cx="8229600" cy="128016"/>
          </ns1:xfrm>
          <ns1:prstGeom prst="rect">
            <ns1:avLst/>
          </ns1:prstGeom>
          <ns1:noFill/>
          <ns1:ln/>
        </ns0:spPr>
        <ns0:txBody>
          <ns1:bodyPr wrap="square" lIns="0" tIns="0" rIns="0" bIns="0" rtlCol="0" anchor="t"/>
          <ns1:lstStyle/>
          <ns1:p>
            <ns1:pPr indent="0" marL="0" eaLnBrk="0">
              <ns1:buNone/>
            </ns1:pPr>
            <ns1:r>
              <ns1:rPr lang="ko-KR" altLang="en-US" sz="800" dirty="0">
                <ns1:solidFill>
                  <ns1:srgbClr val="5F6670"/>
                </ns1:solidFill>
                <ns1:latin typeface="Malgun Gothic" pitchFamily="34" charset="0"/>
                <ns1:ea typeface="Malgun Gothic" pitchFamily="34" charset="-122"/>
                <ns1:cs typeface="Malgun Gothic" pitchFamily="34" charset="-120"/>
              </ns1:rPr>
              <ns1:t>2026-09-19 이전 구현의 실험 기록 · 09-21 수정 후 품질은 아직 재측정하지 않음</ns1:t>
            </ns1:r>
            <ns1:endParaRPr lang="ko-KR" sz="800" dirty="0"/>
          </ns1:p>
        </ns0:txBody>
      </ns0:sp>
      <ns0:graphicFrame>
        <ns0:nvGraphicFramePr>
          <ns0:cNvPr id="6" name="Chart 0" descr=""/>
          <ns0:cNvGraphicFramePr/>
          <ns0:nvPr/>
        </ns0:nvGraphicFramePr>
        <ns0:xfrm>
          <ns1:off x="365760" y="1005840"/>
          <ns1:ext cx="4572000" cy="2743200"/>
        </ns0:xfrm>
        <ns1:graphic>
          <ns1:graphicData uri="http://schemas.openxmlformats.org/drawingml/2006/chart">
            <ns2:chart ns3:id="rId1"/>
          </ns1:graphicData>
        </ns1:graphic>
      </ns0:graphicFrame>
      <ns0:sp>
        <ns0:nvSpPr>
          <ns0:cNvPr id="7" name="Text 4"/>
          <ns0:cNvSpPr txBox="1"/>
          <ns0:nvPr/>
        </ns0:nvSpPr>
        <ns0:spPr>
          <ns1:xfrm>
            <ns1:off x="457200" y="3794760"/>
            <ns1:ext cx="4480560" cy="411480"/>
          </ns1:xfrm>
          <ns1:prstGeom prst="rect">
            <ns1:avLst/>
          </ns1:prstGeom>
          <ns1:noFill/>
          <ns1:ln/>
        </ns0:spPr>
        <ns0:txBody>
          <ns1:bodyPr wrap="square" lIns="0" tIns="0" rIns="0" bIns="0" rtlCol="0" anchor="t"/>
          <ns1:lstStyle/>
          <ns1:p>
            <ns1:pPr indent="0" marL="0" eaLnBrk="0">
              <ns1:buNone/>
            </ns1:pPr>
            <ns1:r>
              <ns1:rPr lang="ko-KR" altLang="en-US" sz="1050" dirty="0">
                <ns1:solidFill>
                  <ns1:srgbClr val="5F6670"/>
                </ns1:solidFill>
                <ns1:latin typeface="Malgun Gothic" pitchFamily="34" charset="0"/>
                <ns1:ea typeface="Malgun Gothic" pitchFamily="34" charset="-122"/>
                <ns1:cs typeface="Malgun Gothic" pitchFamily="34" charset="-120"/>
              </ns1:rPr>
              <ns1:t>문 2.03m · 카메라 1.4m 가정, 계산 가능 62/90개</ns1:t>
            </ns1:r>
            <ns1:endParaRPr lang="ko-KR" sz="1050" dirty="0"/>
          </ns1:p>
          <ns1:p>
            <ns1:pPr indent="0" marL="0" eaLnBrk="0">
              <ns1:buNone/>
            </ns1:pPr>
            <ns1:r>
              <ns1:rPr lang="ko-KR" altLang="en-US" sz="1050" dirty="0">
                <ns1:solidFill>
                  <ns1:srgbClr val="5F6670"/>
                </ns1:solidFill>
                <ns1:latin typeface="Malgun Gothic" pitchFamily="34" charset="0"/>
                <ns1:ea typeface="Malgun Gothic" pitchFamily="34" charset="-122"/>
                <ns1:cs typeface="Malgun Gothic" pitchFamily="34" charset="-120"/>
              </ns1:rPr>
              <ns1:t>문 단위 분할: dev/test에 같은 방 15장 중복 · 방 단위 재검증 필요</ns1:t>
            </ns1:r>
            <ns1:endParaRPr lang="ko-KR" sz="1050" dirty="0"/>
          </ns1:p>
        </ns0:txBody>
      </ns0:sp>
      <ns0:sp>
        <ns0:nvSpPr>
          <ns0:cNvPr id="8" name="Text 5"/>
          <ns0:cNvSpPr txBox="1"/>
          <ns0:nvPr/>
        </ns0:nvSpPr>
        <ns0:spPr>
          <ns1:xfrm>
            <ns1:off x="457200" y="4251960"/>
            <ns1:ext cx="4480560" cy="457200"/>
          </ns1:xfrm>
          <ns1:prstGeom prst="rect">
            <ns1:avLst/>
          </ns1:prstGeom>
          <ns1:noFill/>
          <ns1:ln/>
        </ns0:spPr>
        <ns0:txBody>
          <ns1:bodyPr wrap="square" lIns="0" tIns="0" rIns="0" bIns="0" rtlCol="0" anchor="ctr"/>
          <ns1:lstStyle/>
          <ns1:p>
            <ns1:pPr indent="0" marL="0" eaLnBrk="0">
              <ns1:buNone/>
            </ns1:pPr>
            <ns1:r>
              <ns1:rPr lang="ko-KR" altLang="en-US" sz="1400" dirty="0">
                <ns1:solidFill>
                  <ns1:srgbClr val="1F2328"/>
                </ns1:solidFill>
                <ns1:latin typeface="Malgun Gothic" pitchFamily="34" charset="0"/>
                <ns1:ea typeface="Malgun Gothic" pitchFamily="34" charset="-122"/>
                <ns1:cs typeface="Malgun Gothic" pitchFamily="34" charset="-120"/>
              </ns1:rPr>
              <ns1:t>±25% 안  </ns1:t>
            </ns1:r>
            <ns1:pPr indent="0" marL="0">
              <ns1:buNone/>
            </ns1:pPr>
            <ns1:r>
              <ns1:rPr lang="ko-KR" altLang="en-US" sz="2200" b="1" dirty="0">
                <ns1:solidFill>
                  <ns1:srgbClr val="C8553D"/>
                </ns1:solidFill>
                <ns1:latin typeface="Malgun Gothic" pitchFamily="34" charset="0"/>
                <ns1:ea typeface="Malgun Gothic" pitchFamily="34" charset="-122"/>
                <ns1:cs typeface="Malgun Gothic" pitchFamily="34" charset="-120"/>
              </ns1:rPr>
              <ns1:t>5/62 → 36/62</ns1:t>
            </ns1:r>
            <ns1:endParaRPr lang="ko-KR" sz="1400" dirty="0"/>
          </ns1:p>
        </ns0:txBody>
      </ns0:sp>
      <ns0:pic>
        <ns0:nvPicPr>
          <ns0:cNvPr id="9" name="Image 0" descr="/Users/minyoung/Library/Mobile Documents/com~apple~CloudDocs/GTEC/2-2/Capstone/presentation/assets/size_03_old.jpg">    </ns0:cNvPr>
          <ns0:cNvPicPr>
            <ns1:picLocks noChangeAspect="1"/>
          </ns0:cNvPicPr>
          <ns0:nvPr/>
        </ns0:nvPicPr>
        <ns0:blipFill>
          <ns1:blip ns3:embed="rId2"/>
          <ns1:stretch>
            <ns1:fillRect/>
          </ns1:stretch>
        </ns0:blipFill>
        <ns0:spPr>
          <ns1:xfrm>
            <ns1:off x="5212080" y="1051560"/>
            <ns1:ext cx="1691640" cy="1454937"/>
          </ns1:xfrm>
          <ns1:prstGeom prst="rect">
            <ns1:avLst/>
          </ns1:prstGeom>
        </ns0:spPr>
      </ns0:pic>
      <ns0:sp>
        <ns0:nvSpPr>
          <ns0:cNvPr id="10" name="Text 6"/>
          <ns0:cNvSpPr txBox="1"/>
          <ns0:nvPr/>
        </ns0:nvSpPr>
        <ns0:spPr>
          <ns1:xfrm>
            <ns1:off x="5212080" y="2552217"/>
            <ns1:ext cx="1691640" cy="274320"/>
          </ns1:xfrm>
          <ns1:prstGeom prst="rect">
            <ns1:avLst/>
          </ns1:prstGeom>
          <ns1:noFill/>
          <ns1:ln/>
        </ns0:spPr>
        <ns0:txBody>
          <ns1:bodyPr wrap="square" lIns="0" tIns="0" rIns="0" bIns="0" rtlCol="0" anchor="t"/>
          <ns1:lstStyle/>
          <ns1:p>
            <ns1:pPr algn="ctr" indent="0" marL="0" eaLnBrk="0">
              <ns1:buNone/>
            </ns1:pPr>
            <ns1:r>
              <ns1:rPr lang="ko-KR" altLang="en-US" sz="900" dirty="0">
                <ns1:solidFill>
                  <ns1:srgbClr val="5F6670"/>
                </ns1:solidFill>
                <ns1:latin typeface="Malgun Gothic" pitchFamily="34" charset="0"/>
                <ns1:ea typeface="Malgun Gothic" pitchFamily="34" charset="-122"/>
                <ns1:cs typeface="Malgun Gothic" pitchFamily="34" charset="-120"/>
              </ns1:rPr>
              <ns1:t>이전: 0.95m 의자 ≈ 탁자 높이</ns1:t>
            </ns1:r>
            <ns1:endParaRPr lang="ko-KR" sz="900" dirty="0"/>
          </ns1:p>
        </ns0:txBody>
      </ns0:sp>
      <ns0:pic>
        <ns0:nvPicPr>
          <ns0:cNvPr id="11" name="Image 1" descr="/Users/minyoung/Library/Mobile Documents/com~apple~CloudDocs/GTEC/2-2/Capstone/presentation/assets/size_03_new.jpg">    </ns0:cNvPr>
          <ns0:cNvPicPr>
            <ns1:picLocks noChangeAspect="1"/>
          </ns0:cNvPicPr>
          <ns0:nvPr/>
        </ns0:nvPicPr>
        <ns0:blipFill>
          <ns1:blip ns3:embed="rId3"/>
          <ns1:stretch>
            <ns1:fillRect/>
          </ns1:stretch>
        </ns0:blipFill>
        <ns0:spPr>
          <ns1:xfrm>
            <ns1:off x="7040880" y="1051560"/>
            <ns1:ext cx="1691640" cy="1454937"/>
          </ns1:xfrm>
          <ns1:prstGeom prst="rect">
            <ns1:avLst/>
          </ns1:prstGeom>
        </ns0:spPr>
      </ns0:pic>
      <ns0:sp>
        <ns0:nvSpPr>
          <ns0:cNvPr id="12" name="Text 7"/>
          <ns0:cNvSpPr txBox="1"/>
          <ns0:nvPr/>
        </ns0:nvSpPr>
        <ns0:spPr>
          <ns1:xfrm>
            <ns1:off x="7040880" y="2552217"/>
            <ns1:ext cx="1691640" cy="274320"/>
          </ns1:xfrm>
          <ns1:prstGeom prst="rect">
            <ns1:avLst/>
          </ns1:prstGeom>
          <ns1:noFill/>
          <ns1:ln/>
        </ns0:spPr>
        <ns0:txBody>
          <ns1:bodyPr wrap="square" lIns="0" tIns="0" rIns="0" bIns="0" rtlCol="0" anchor="t"/>
          <ns1:lstStyle/>
          <ns1:p>
            <ns1:pPr algn="ctr" indent="0" marL="0" eaLnBrk="0">
              <ns1:buNone/>
            </ns1:pPr>
            <ns1:r>
              <ns1:rPr lang="ko-KR" altLang="en-US" sz="900" b="1" dirty="0">
                <ns1:solidFill>
                  <ns1:srgbClr val="5E8A6A"/>
                </ns1:solidFill>
                <ns1:latin typeface="Malgun Gothic" pitchFamily="34" charset="0"/>
                <ns1:ea typeface="Malgun Gothic" pitchFamily="34" charset="-122"/>
                <ns1:cs typeface="Malgun Gothic" pitchFamily="34" charset="-120"/>
              </ns1:rPr>
              <ns1:t>수정: 의자가 탁자보다 크다</ns1:t>
            </ns1:r>
            <ns1:endParaRPr lang="ko-KR" sz="900" dirty="0"/>
          </ns1:p>
        </ns0:txBody>
      </ns0:sp>
      <ns0:pic>
        <ns0:nvPicPr>
          <ns0:cNvPr id="13" name="Image 2" descr="/Users/minyoung/Library/Mobile Documents/com~apple~CloudDocs/GTEC/2-2/Capstone/presentation/assets/size_09_old.jpg">    </ns0:cNvPr>
          <ns0:cNvPicPr>
            <ns1:picLocks noChangeAspect="1"/>
          </ns0:cNvPicPr>
          <ns0:nvPr/>
        </ns0:nvPicPr>
        <ns0:blipFill>
          <ns1:blip ns3:embed="rId4"/>
          <ns1:stretch>
            <ns1:fillRect/>
          </ns1:stretch>
        </ns0:blipFill>
        <ns0:spPr>
          <ns1:xfrm>
            <ns1:off x="5212080" y="2926080"/>
            <ns1:ext cx="1691640" cy="1217625"/>
          </ns1:xfrm>
          <ns1:prstGeom prst="rect">
            <ns1:avLst/>
          </ns1:prstGeom>
        </ns0:spPr>
      </ns0:pic>
      <ns0:sp>
        <ns0:nvSpPr>
          <ns0:cNvPr id="14" name="Text 8"/>
          <ns0:cNvSpPr txBox="1"/>
          <ns0:nvPr/>
        </ns0:nvSpPr>
        <ns0:spPr>
          <ns1:xfrm>
            <ns1:off x="5212080" y="4189425"/>
            <ns1:ext cx="1691640" cy="274320"/>
          </ns1:xfrm>
          <ns1:prstGeom prst="rect">
            <ns1:avLst/>
          </ns1:prstGeom>
          <ns1:noFill/>
          <ns1:ln/>
        </ns0:spPr>
        <ns0:txBody>
          <ns1:bodyPr wrap="square" lIns="0" tIns="0" rIns="0" bIns="0" rtlCol="0" anchor="t"/>
          <ns1:lstStyle/>
          <ns1:p>
            <ns1:pPr algn="ctr" indent="0" marL="0" eaLnBrk="0">
              <ns1:buNone/>
            </ns1:pPr>
            <ns1:r>
              <ns1:rPr lang="ko-KR" altLang="en-US" sz="900" dirty="0">
                <ns1:solidFill>
                  <ns1:srgbClr val="5F6670"/>
                </ns1:solidFill>
                <ns1:latin typeface="Malgun Gothic" pitchFamily="34" charset="0"/>
                <ns1:ea typeface="Malgun Gothic" pitchFamily="34" charset="-122"/>
                <ns1:cs typeface="Malgun Gothic" pitchFamily="34" charset="-120"/>
              </ns1:rPr>
              <ns1:t>이전: 0.5m 탁자가 점</ns1:t>
            </ns1:r>
            <ns1:endParaRPr lang="ko-KR" sz="900" dirty="0"/>
          </ns1:p>
        </ns0:txBody>
      </ns0:sp>
      <ns0:pic>
        <ns0:nvPicPr>
          <ns0:cNvPr id="15" name="Image 3" descr="/Users/minyoung/Library/Mobile Documents/com~apple~CloudDocs/GTEC/2-2/Capstone/presentation/assets/size_09_new.jpg">    </ns0:cNvPr>
          <ns0:cNvPicPr>
            <ns1:picLocks noChangeAspect="1"/>
          </ns0:cNvPicPr>
          <ns0:nvPr/>
        </ns0:nvPicPr>
        <ns0:blipFill>
          <ns1:blip ns3:embed="rId5"/>
          <ns1:stretch>
            <ns1:fillRect/>
          </ns1:stretch>
        </ns0:blipFill>
        <ns0:spPr>
          <ns1:xfrm>
            <ns1:off x="7040880" y="2926080"/>
            <ns1:ext cx="1691640" cy="1217625"/>
          </ns1:xfrm>
          <ns1:prstGeom prst="rect">
            <ns1:avLst/>
          </ns1:prstGeom>
        </ns0:spPr>
      </ns0:pic>
      <ns0:sp>
        <ns0:nvSpPr>
          <ns0:cNvPr id="16" name="Text 9"/>
          <ns0:cNvSpPr txBox="1"/>
          <ns0:nvPr/>
        </ns0:nvSpPr>
        <ns0:spPr>
          <ns1:xfrm>
            <ns1:off x="7040880" y="4189425"/>
            <ns1:ext cx="1691640" cy="274320"/>
          </ns1:xfrm>
          <ns1:prstGeom prst="rect">
            <ns1:avLst/>
          </ns1:prstGeom>
          <ns1:noFill/>
          <ns1:ln/>
        </ns0:spPr>
        <ns0:txBody>
          <ns1:bodyPr wrap="square" lIns="0" tIns="0" rIns="0" bIns="0" rtlCol="0" anchor="t"/>
          <ns1:lstStyle/>
          <ns1:p>
            <ns1:pPr algn="ctr" indent="0" marL="0" eaLnBrk="0">
              <ns1:buNone/>
            </ns1:pPr>
            <ns1:r>
              <ns1:rPr lang="ko-KR" altLang="en-US" sz="900" b="1" dirty="0">
                <ns1:solidFill>
                  <ns1:srgbClr val="5E8A6A"/>
                </ns1:solidFill>
                <ns1:latin typeface="Malgun Gothic" pitchFamily="34" charset="0"/>
                <ns1:ea typeface="Malgun Gothic" pitchFamily="34" charset="-122"/>
                <ns1:cs typeface="Malgun Gothic" pitchFamily="34" charset="-120"/>
              </ns1:rPr>
              <ns1:t>수정: 리클라이너 절반 높이</ns1:t>
            </ns1:r>
            <ns1:endParaRPr lang="ko-KR" sz="900" dirty="0"/>
          </ns1:p>
        </ns0:txBody>
      </ns0:sp>
    </ns0:spTree>
  </ns0:cSld>
  <ns0:clrMapOvr>
    <ns1:masterClrMapping/>
  </ns0:clrMapOvr>
</ns0:sld>
</file>

<file path=ppt/slides/slide8.xml><?xml version="1.0" encoding="utf-8"?>
<ns0:sld xmlns:ns0="http://schemas.openxmlformats.org/presentationml/2006/main" xmlns:ns1="http://schemas.openxmlformats.org/drawingml/2006/main" xmlns:ns2="http://schemas.openxmlformats.org/officeDocument/2006/relationships">
  <ns0:cSld name="Slide 8">
    <ns0:bg>
      <ns0:bgPr>
        <ns1:solidFill>
          <ns1:srgbClr val="FFFFFF"/>
        </ns1:solidFill>
      </ns0:bgPr>
    </ns0:bg>
    <ns0:spTree>
      <ns0:nvGrpSpPr>
        <ns0:cNvPr id="1" name=""/>
        <ns0:cNvGrpSpPr/>
        <ns0:nvPr/>
      </ns0:nvGrpSpPr>
      <ns0:grpSpPr>
        <ns1:xfrm>
          <ns1:off x="0" y="0"/>
          <ns1:ext cx="0" cy="0"/>
          <ns1:chOff x="0" y="0"/>
          <ns1:chExt cx="0" cy="0"/>
        </ns1:xfrm>
      </ns0:grpSpPr>
      <ns0:sp>
        <ns0:nvSpPr>
          <ns0:cNvPr id="2" name="Shape 0"/>
          <ns0:cNvSpPr/>
          <ns0:nvPr/>
        </ns0:nvSpPr>
        <ns0:spPr>
          <ns1:xfrm>
            <ns1:off x="457200" y="329184"/>
            <ns1:ext cx="420624" cy="420624"/>
          </ns1:xfrm>
          <ns1:prstGeom prst="ellipse">
            <ns1:avLst/>
          </ns1:prstGeom>
          <ns1:solidFill>
            <ns1:srgbClr val="C8553D"/>
          </ns1:solidFill>
          <ns1:ln w="12700">
            <ns1:solidFill>
              <ns1:srgbClr val="C8553D"/>
            </ns1:solidFill>
            <ns1:prstDash val="solid"/>
          </ns1:ln>
        </ns0:spPr>
      </ns0:sp>
      <ns0:sp>
        <ns0:nvSpPr>
          <ns0:cNvPr id="3" name="Text 1"/>
          <ns0:cNvSpPr txBox="1"/>
          <ns0:nvPr/>
        </ns0:nvSpPr>
        <ns0:spPr>
          <ns1:xfrm>
            <ns1:off x="457200" y="329184"/>
            <ns1:ext cx="420624" cy="420624"/>
          </ns1:xfrm>
          <ns1:prstGeom prst="rect">
            <ns1:avLst/>
          </ns1:prstGeom>
          <ns1:noFill/>
          <ns1:ln/>
        </ns0:spPr>
        <ns0:txBody>
          <ns1:bodyPr wrap="square" lIns="0" tIns="0" rIns="0" bIns="0" rtlCol="0" anchor="ctr"/>
          <ns1:lstStyle/>
          <ns1:p>
            <ns1:pPr algn="ctr" indent="0" marL="0" eaLnBrk="0">
              <ns1:buNone/>
            </ns1:pPr>
            <ns1:r>
              <ns1:rPr lang="ko-KR" altLang="en-US" sz="1500" b="1" dirty="0">
                <ns1:solidFill>
                  <ns1:srgbClr val="FFFFFF"/>
                </ns1:solidFill>
                <ns1:latin typeface="Malgun Gothic" pitchFamily="34" charset="0"/>
                <ns1:ea typeface="Malgun Gothic" pitchFamily="34" charset="-122"/>
                <ns1:cs typeface="Malgun Gothic" pitchFamily="34" charset="-120"/>
              </ns1:rPr>
              <ns1:t>7</ns1:t>
            </ns1:r>
            <ns1:endParaRPr lang="ko-KR" sz="1500" dirty="0"/>
          </ns1:p>
        </ns0:txBody>
      </ns0:sp>
      <ns0:sp>
        <ns0:nvSpPr>
          <ns0:cNvPr id="4" name="Text 2"/>
          <ns0:cNvSpPr txBox="1"/>
          <ns0:nvPr/>
        </ns0:nvSpPr>
        <ns0:spPr>
          <ns1:xfrm>
            <ns1:off x="1024128" y="274320"/>
            <ns1:ext cx="7680960" cy="530352"/>
          </ns1:xfrm>
          <ns1:prstGeom prst="rect">
            <ns1:avLst/>
          </ns1:prstGeom>
          <ns1:noFill/>
          <ns1:ln/>
        </ns0:spPr>
        <ns0:txBody>
          <ns1:bodyPr wrap="square" lIns="0" tIns="0" rIns="0" bIns="0" rtlCol="0" anchor="ctr"/>
          <ns1:lstStyle/>
          <ns1:p>
            <ns1:pPr indent="0" marL="0" eaLnBrk="0">
              <ns1:buNone/>
            </ns1:pPr>
            <ns1:r>
              <ns1:rPr lang="ko-KR" altLang="en-US" sz="2400" b="1" dirty="0">
                <ns1:solidFill>
                  <ns1:srgbClr val="1F2328"/>
                </ns1:solidFill>
                <ns1:latin typeface="Malgun Gothic" pitchFamily="34" charset="0"/>
                <ns1:ea typeface="Malgun Gothic" pitchFamily="34" charset="-122"/>
                <ns1:cs typeface="Malgun Gothic" pitchFamily="34" charset="-120"/>
              </ns1:rPr>
              <ns1:t>평가의 함정: CLIP이 벽 조각에 더 높은 점수</ns1:t>
            </ns1:r>
            <ns1:endParaRPr lang="ko-KR" sz="2400" dirty="0"/>
          </ns1:p>
        </ns0:txBody>
      </ns0:sp>
      <ns0:sp>
        <ns0:nvSpPr>
          <ns0:cNvPr id="5" name="Text 3"/>
          <ns0:cNvSpPr txBox="1"/>
          <ns0:nvPr/>
        </ns0:nvSpPr>
        <ns0:spPr>
          <ns1:xfrm>
            <ns1:off x="457200" y="4901184"/>
            <ns1:ext cx="8229600" cy="128016"/>
          </ns1:xfrm>
          <ns1:prstGeom prst="rect">
            <ns1:avLst/>
          </ns1:prstGeom>
          <ns1:noFill/>
          <ns1:ln/>
        </ns0:spPr>
        <ns0:txBody>
          <ns1:bodyPr wrap="square" lIns="0" tIns="0" rIns="0" bIns="0" rtlCol="0" anchor="t"/>
          <ns1:lstStyle/>
          <ns1:p>
            <ns1:pPr indent="0" marL="0" eaLnBrk="0">
              <ns1:buNone/>
            </ns1:pPr>
            <ns1:r>
              <ns1:rPr lang="ko-KR" altLang="en-US" sz="800" dirty="0">
                <ns1:solidFill>
                  <ns1:srgbClr val="5F6670"/>
                </ns1:solidFill>
                <ns1:latin typeface="Malgun Gothic" pitchFamily="34" charset="0"/>
                <ns1:ea typeface="Malgun Gothic" pitchFamily="34" charset="-122"/>
                <ns1:cs typeface="Malgun Gothic" pitchFamily="34" charset="-120"/>
              </ns1:rPr>
              <ns1:t>2026-09-19 이전 구현의 실험 기록 · 09-21 수정 후 품질은 아직 재측정하지 않음</ns1:t>
            </ns1:r>
            <ns1:endParaRPr lang="ko-KR" sz="800" dirty="0"/>
          </ns1:p>
        </ns0:txBody>
      </ns0:sp>
      <ns0:pic>
        <ns0:nvPicPr>
          <ns0:cNvPr id="6" name="Image 0" descr="/Users/minyoung/Library/Mobile Documents/com~apple~CloudDocs/GTEC/2-2/Capstone/presentation/assets/sam_08_local_auto.jpg">    </ns0:cNvPr>
          <ns0:cNvPicPr>
            <ns1:picLocks noChangeAspect="1"/>
          </ns0:cNvPicPr>
          <ns0:nvPr/>
        </ns0:nvPicPr>
        <ns0:blipFill>
          <ns1:blip ns2:embed="rId1"/>
          <ns1:stretch>
            <ns1:fillRect/>
          </ns1:stretch>
        </ns0:blipFill>
        <ns0:spPr>
          <ns1:xfrm>
            <ns1:off x="457200" y="1051560"/>
            <ns1:ext cx="2011680" cy="1503184"/>
          </ns1:xfrm>
          <ns1:prstGeom prst="rect">
            <ns1:avLst/>
          </ns1:prstGeom>
          <ns1:effectLst>
            <ns1:outerShdw sx="100000" sy="100000" kx="0" ky="0" algn="bl" rotWithShape="0" blurRad="76200" dist="25400" dir="5400000">
              <ns1:srgbClr val="000000">
                <ns1:alpha val="18000"/>
              </ns1:srgbClr>
            </ns1:outerShdw>
          </ns1:effectLst>
        </ns0:spPr>
      </ns0:pic>
      <ns0:sp>
        <ns0:nvSpPr>
          <ns0:cNvPr id="7" name="Text 4"/>
          <ns0:cNvSpPr txBox="1"/>
          <ns0:nvPr/>
        </ns0:nvSpPr>
        <ns0:spPr>
          <ns1:xfrm>
            <ns1:off x="457200" y="2627896"/>
            <ns1:ext cx="2011680" cy="274320"/>
          </ns1:xfrm>
          <ns1:prstGeom prst="rect">
            <ns1:avLst/>
          </ns1:prstGeom>
          <ns1:noFill/>
          <ns1:ln/>
        </ns0:spPr>
        <ns0:txBody>
          <ns1:bodyPr wrap="square" lIns="0" tIns="0" rIns="0" bIns="0" rtlCol="0" anchor="t"/>
          <ns1:lstStyle/>
          <ns1:p>
            <ns1:pPr indent="0" marL="0" eaLnBrk="0">
              <ns1:buNone/>
            </ns1:pPr>
            <ns1:r>
              <ns1:rPr lang="ko-KR" altLang="en-US" sz="1200" b="1" dirty="0">
                <ns1:solidFill>
                  <ns1:srgbClr val="C8553D"/>
                </ns1:solidFill>
                <ns1:latin typeface="Malgun Gothic" pitchFamily="34" charset="0"/>
                <ns1:ea typeface="Malgun Gothic" pitchFamily="34" charset="-122"/>
                <ns1:cs typeface="Malgun Gothic" pitchFamily="34" charset="-120"/>
              </ns1:rPr>
              <ns1:t>벽 조각</ns1:t>
            </ns1:r>
            <ns1:endParaRPr lang="ko-KR" sz="1200" dirty="0"/>
          </ns1:p>
        </ns0:txBody>
      </ns0:sp>
      <ns0:sp>
        <ns0:nvSpPr>
          <ns0:cNvPr id="8" name="Text 5"/>
          <ns0:cNvSpPr txBox="1"/>
          <ns0:nvPr/>
        </ns0:nvSpPr>
        <ns0:spPr>
          <ns1:xfrm>
            <ns1:off x="457200" y="2938792"/>
            <ns1:ext cx="2011680" cy="548640"/>
          </ns1:xfrm>
          <ns1:prstGeom prst="rect">
            <ns1:avLst/>
          </ns1:prstGeom>
          <ns1:noFill/>
          <ns1:ln/>
        </ns0:spPr>
        <ns0:txBody>
          <ns1:bodyPr wrap="square" lIns="0" tIns="0" rIns="0" bIns="0" rtlCol="0" anchor="t"/>
          <ns1:lstStyle/>
          <ns1:p>
            <ns1:pPr indent="0" marL="0" eaLnBrk="0">
              <ns1:buNone/>
            </ns1:pPr>
            <ns1:r>
              <ns1:rPr lang="ko-KR" altLang="en-US" sz="1100" b="1" dirty="0">
                <ns1:solidFill>
                  <ns1:srgbClr val="C8553D"/>
                </ns1:solidFill>
                <ns1:latin typeface="Malgun Gothic" pitchFamily="34" charset="0"/>
                <ns1:ea typeface="Malgun Gothic" pitchFamily="34" charset="-122"/>
                <ns1:cs typeface="Malgun Gothic" pitchFamily="34" charset="-120"/>
              </ns1:rPr>
              <ns1:t>사진 전체  −0.0055</ns1:t>
            </ns1:r>
            <ns1:endParaRPr lang="ko-KR" sz="1100" dirty="0"/>
          </ns1:p>
          <ns1:p>
            <ns1:pPr indent="0" marL="0" eaLnBrk="0">
              <ns1:buNone/>
            </ns1:pPr>
            <ns1:r>
              <ns1:rPr lang="ko-KR" altLang="en-US" sz="1100" dirty="0">
                <ns1:solidFill>
                  <ns1:srgbClr val="5F6670"/>
                </ns1:solidFill>
                <ns1:latin typeface="Malgun Gothic" pitchFamily="34" charset="0"/>
                <ns1:ea typeface="Malgun Gothic" pitchFamily="34" charset="-122"/>
                <ns1:cs typeface="Malgun Gothic" pitchFamily="34" charset="-120"/>
              </ns1:rPr>
              <ns1:t>배치 영역  −0.0062</ns1:t>
            </ns1:r>
            <ns1:endParaRPr lang="ko-KR" sz="1100" dirty="0"/>
          </ns1:p>
        </ns0:txBody>
      </ns0:sp>
      <ns0:pic>
        <ns0:nvPicPr>
          <ns0:cNvPr id="9" name="Image 1" descr="/Users/minyoung/Library/Mobile Documents/com~apple~CloudDocs/GTEC/2-2/Capstone/presentation/assets/sam_08_local_box.jpg">    </ns0:cNvPr>
          <ns0:cNvPicPr>
            <ns1:picLocks noChangeAspect="1"/>
          </ns0:cNvPicPr>
          <ns0:nvPr/>
        </ns0:nvPicPr>
        <ns0:blipFill>
          <ns1:blip ns2:embed="rId2"/>
          <ns1:stretch>
            <ns1:fillRect/>
          </ns1:stretch>
        </ns0:blipFill>
        <ns0:spPr>
          <ns1:xfrm>
            <ns1:off x="2651760" y="1051560"/>
            <ns1:ext cx="2011680" cy="1503184"/>
          </ns1:xfrm>
          <ns1:prstGeom prst="rect">
            <ns1:avLst/>
          </ns1:prstGeom>
          <ns1:effectLst>
            <ns1:outerShdw sx="100000" sy="100000" kx="0" ky="0" algn="bl" rotWithShape="0" blurRad="76200" dist="25400" dir="5400000">
              <ns1:srgbClr val="000000">
                <ns1:alpha val="18000"/>
              </ns1:srgbClr>
            </ns1:outerShdw>
          </ns1:effectLst>
        </ns0:spPr>
      </ns0:pic>
      <ns0:sp>
        <ns0:nvSpPr>
          <ns0:cNvPr id="10" name="Text 6"/>
          <ns0:cNvSpPr txBox="1"/>
          <ns0:nvPr/>
        </ns0:nvSpPr>
        <ns0:spPr>
          <ns1:xfrm>
            <ns1:off x="2651760" y="2627896"/>
            <ns1:ext cx="2011680" cy="274320"/>
          </ns1:xfrm>
          <ns1:prstGeom prst="rect">
            <ns1:avLst/>
          </ns1:prstGeom>
          <ns1:noFill/>
          <ns1:ln/>
        </ns0:spPr>
        <ns0:txBody>
          <ns1:bodyPr wrap="square" lIns="0" tIns="0" rIns="0" bIns="0" rtlCol="0" anchor="t"/>
          <ns1:lstStyle/>
          <ns1:p>
            <ns1:pPr indent="0" marL="0" eaLnBrk="0">
              <ns1:buNone/>
            </ns1:pPr>
            <ns1:r>
              <ns1:rPr lang="ko-KR" altLang="en-US" sz="1200" b="1" dirty="0">
                <ns1:solidFill>
                  <ns1:srgbClr val="5E8A6A"/>
                </ns1:solidFill>
                <ns1:latin typeface="Malgun Gothic" pitchFamily="34" charset="0"/>
                <ns1:ea typeface="Malgun Gothic" pitchFamily="34" charset="-122"/>
                <ns1:cs typeface="Malgun Gothic" pitchFamily="34" charset="-120"/>
              </ns1:rPr>
              <ns1:t>라운지체어</ns1:t>
            </ns1:r>
            <ns1:endParaRPr lang="ko-KR" sz="1200" dirty="0"/>
          </ns1:p>
        </ns0:txBody>
      </ns0:sp>
      <ns0:sp>
        <ns0:nvSpPr>
          <ns0:cNvPr id="11" name="Text 7"/>
          <ns0:cNvSpPr txBox="1"/>
          <ns0:nvPr/>
        </ns0:nvSpPr>
        <ns0:spPr>
          <ns1:xfrm>
            <ns1:off x="2651760" y="2938792"/>
            <ns1:ext cx="2011680" cy="548640"/>
          </ns1:xfrm>
          <ns1:prstGeom prst="rect">
            <ns1:avLst/>
          </ns1:prstGeom>
          <ns1:noFill/>
          <ns1:ln/>
        </ns0:spPr>
        <ns0:txBody>
          <ns1:bodyPr wrap="square" lIns="0" tIns="0" rIns="0" bIns="0" rtlCol="0" anchor="t"/>
          <ns1:lstStyle/>
          <ns1:p>
            <ns1:pPr indent="0" marL="0" eaLnBrk="0">
              <ns1:buNone/>
            </ns1:pPr>
            <ns1:r>
              <ns1:rPr lang="ko-KR" altLang="en-US" sz="1100" dirty="0">
                <ns1:solidFill>
                  <ns1:srgbClr val="5F6670"/>
                </ns1:solidFill>
                <ns1:latin typeface="Malgun Gothic" pitchFamily="34" charset="0"/>
                <ns1:ea typeface="Malgun Gothic" pitchFamily="34" charset="-122"/>
                <ns1:cs typeface="Malgun Gothic" pitchFamily="34" charset="-120"/>
              </ns1:rPr>
              <ns1:t>사진 전체  −0.0093</ns1:t>
            </ns1:r>
            <ns1:endParaRPr lang="ko-KR" sz="1100" dirty="0"/>
          </ns1:p>
          <ns1:p>
            <ns1:pPr indent="0" marL="0" eaLnBrk="0">
              <ns1:buNone/>
            </ns1:pPr>
            <ns1:r>
              <ns1:rPr lang="ko-KR" altLang="en-US" sz="1100" b="1" dirty="0">
                <ns1:solidFill>
                  <ns1:srgbClr val="5E8A6A"/>
                </ns1:solidFill>
                <ns1:latin typeface="Malgun Gothic" pitchFamily="34" charset="0"/>
                <ns1:ea typeface="Malgun Gothic" pitchFamily="34" charset="-122"/>
                <ns1:cs typeface="Malgun Gothic" pitchFamily="34" charset="-120"/>
              </ns1:rPr>
              <ns1:t>배치 영역  +0.0148</ns1:t>
            </ns1:r>
            <ns1:endParaRPr lang="ko-KR" sz="1100" dirty="0"/>
          </ns1:p>
        </ns0:txBody>
      </ns0:sp>
      <ns0:sp>
        <ns0:nvSpPr>
          <ns0:cNvPr id="12" name="Shape 8"/>
          <ns0:cNvSpPr/>
          <ns0:nvPr/>
        </ns0:nvSpPr>
        <ns0:spPr>
          <ns1:xfrm>
            <ns1:off x="4983480" y="1051560"/>
            <ns1:ext cx="329184" cy="329184"/>
          </ns1:xfrm>
          <ns1:prstGeom prst="ellipse">
            <ns1:avLst/>
          </ns1:prstGeom>
          <ns1:solidFill>
            <ns1:srgbClr val="C8553D"/>
          </ns1:solidFill>
          <ns1:ln w="12700">
            <ns1:solidFill>
              <ns1:srgbClr val="C8553D"/>
            </ns1:solidFill>
            <ns1:prstDash val="solid"/>
          </ns1:ln>
        </ns0:spPr>
      </ns0:sp>
      <ns0:sp>
        <ns0:nvSpPr>
          <ns0:cNvPr id="13" name="Text 9"/>
          <ns0:cNvSpPr txBox="1"/>
          <ns0:nvPr/>
        </ns0:nvSpPr>
        <ns0:spPr>
          <ns1:xfrm>
            <ns1:off x="4983480" y="1051560"/>
            <ns1:ext cx="329184" cy="329184"/>
          </ns1:xfrm>
          <ns1:prstGeom prst="rect">
            <ns1:avLst/>
          </ns1:prstGeom>
          <ns1:noFill/>
          <ns1:ln/>
        </ns0:spPr>
        <ns0:txBody>
          <ns1:bodyPr wrap="square" lIns="0" tIns="0" rIns="0" bIns="0" rtlCol="0" anchor="ctr"/>
          <ns1:lstStyle/>
          <ns1:p>
            <ns1:pPr algn="ctr" indent="0" marL="0" eaLnBrk="0">
              <ns1:buNone/>
            </ns1:pPr>
            <ns1:r>
              <ns1:rPr lang="ko-KR" altLang="en-US" sz="1200" b="1" dirty="0">
                <ns1:solidFill>
                  <ns1:srgbClr val="FFFFFF"/>
                </ns1:solidFill>
                <ns1:latin typeface="Malgun Gothic" pitchFamily="34" charset="0"/>
                <ns1:ea typeface="Malgun Gothic" pitchFamily="34" charset="-122"/>
                <ns1:cs typeface="Malgun Gothic" pitchFamily="34" charset="-120"/>
              </ns1:rPr>
              <ns1:t>1</ns1:t>
            </ns1:r>
            <ns1:endParaRPr lang="ko-KR" sz="1200" dirty="0"/>
          </ns1:p>
        </ns0:txBody>
      </ns0:sp>
      <ns0:sp>
        <ns0:nvSpPr>
          <ns0:cNvPr id="14" name="Text 10"/>
          <ns0:cNvSpPr txBox="1"/>
          <ns0:nvPr/>
        </ns0:nvSpPr>
        <ns0:spPr>
          <ns1:xfrm>
            <ns1:off x="5440680" y="1069848"/>
            <ns1:ext cx="3200400" cy="292608"/>
          </ns1:xfrm>
          <ns1:prstGeom prst="rect">
            <ns1:avLst/>
          </ns1:prstGeom>
          <ns1:noFill/>
          <ns1:ln/>
        </ns0:spPr>
        <ns0:txBody>
          <ns1:bodyPr wrap="square" lIns="0" tIns="0" rIns="0" bIns="0" rtlCol="0" anchor="t"/>
          <ns1:lstStyle/>
          <ns1:p>
            <ns1:pPr indent="0" marL="0" eaLnBrk="0">
              <ns1:buNone/>
            </ns1:pPr>
            <ns1:r>
              <ns1:rPr lang="ko-KR" altLang="en-US" sz="1300" b="1" dirty="0">
                <ns1:solidFill>
                  <ns1:srgbClr val="C8553D"/>
                </ns1:solidFill>
                <ns1:latin typeface="Malgun Gothic" pitchFamily="34" charset="0"/>
                <ns1:ea typeface="Malgun Gothic" pitchFamily="34" charset="-122"/>
                <ns1:cs typeface="Malgun Gothic" pitchFamily="34" charset="-120"/>
              </ns1:rPr>
              <ns1:t>원인</ns1:t>
            </ns1:r>
            <ns1:endParaRPr lang="ko-KR" sz="1300" dirty="0"/>
          </ns1:p>
        </ns0:txBody>
      </ns0:sp>
      <ns0:sp>
        <ns0:nvSpPr>
          <ns0:cNvPr id="15" name="Text 11"/>
          <ns0:cNvSpPr txBox="1"/>
          <ns0:nvPr/>
        </ns0:nvSpPr>
        <ns0:spPr>
          <ns1:xfrm>
            <ns1:off x="5440680" y="1380744"/>
            <ns1:ext cx="3246120" cy="640080"/>
          </ns1:xfrm>
          <ns1:prstGeom prst="rect">
            <ns1:avLst/>
          </ns1:prstGeom>
          <ns1:noFill/>
          <ns1:ln/>
        </ns0:spPr>
        <ns0:txBody>
          <ns1:bodyPr wrap="square" lIns="0" tIns="0" rIns="0" bIns="0" rtlCol="0" anchor="t"/>
          <ns1:lstStyle/>
          <ns1:p>
            <ns1:pPr indent="0" marL="0" eaLnBrk="0">
              <ns1:buNone/>
            </ns1:pPr>
            <ns1:r>
              <ns1:rPr lang="ko-KR" altLang="en-US" sz="1150" dirty="0">
                <ns1:solidFill>
                  <ns1:srgbClr val="1F2328"/>
                </ns1:solidFill>
                <ns1:latin typeface="Malgun Gothic" pitchFamily="34" charset="0"/>
                <ns1:ea typeface="Malgun Gothic" pitchFamily="34" charset="-122"/>
                <ns1:cs typeface="Malgun Gothic" pitchFamily="34" charset="-120"/>
              </ns1:rPr>
              <ns1:t>CLIP은 사진 전체를 224px로 줄여 본다. 작은 가구의 세부 정보가 줄어든다.</ns1:t>
            </ns1:r>
            <ns1:endParaRPr lang="ko-KR" sz="1150" dirty="0"/>
          </ns1:p>
        </ns0:txBody>
      </ns0:sp>
      <ns0:sp>
        <ns0:nvSpPr>
          <ns0:cNvPr id="16" name="Shape 12"/>
          <ns0:cNvSpPr/>
          <ns0:nvPr/>
        </ns0:nvSpPr>
        <ns0:spPr>
          <ns1:xfrm>
            <ns1:off x="4983480" y="2075688"/>
            <ns1:ext cx="329184" cy="329184"/>
          </ns1:xfrm>
          <ns1:prstGeom prst="ellipse">
            <ns1:avLst/>
          </ns1:prstGeom>
          <ns1:solidFill>
            <ns1:srgbClr val="5E8A6A"/>
          </ns1:solidFill>
          <ns1:ln w="12700">
            <ns1:solidFill>
              <ns1:srgbClr val="5E8A6A"/>
            </ns1:solidFill>
            <ns1:prstDash val="solid"/>
          </ns1:ln>
        </ns0:spPr>
      </ns0:sp>
      <ns0:sp>
        <ns0:nvSpPr>
          <ns0:cNvPr id="17" name="Text 13"/>
          <ns0:cNvSpPr txBox="1"/>
          <ns0:nvPr/>
        </ns0:nvSpPr>
        <ns0:spPr>
          <ns1:xfrm>
            <ns1:off x="4983480" y="2075688"/>
            <ns1:ext cx="329184" cy="329184"/>
          </ns1:xfrm>
          <ns1:prstGeom prst="rect">
            <ns1:avLst/>
          </ns1:prstGeom>
          <ns1:noFill/>
          <ns1:ln/>
        </ns0:spPr>
        <ns0:txBody>
          <ns1:bodyPr wrap="square" lIns="0" tIns="0" rIns="0" bIns="0" rtlCol="0" anchor="ctr"/>
          <ns1:lstStyle/>
          <ns1:p>
            <ns1:pPr algn="ctr" indent="0" marL="0" eaLnBrk="0">
              <ns1:buNone/>
            </ns1:pPr>
            <ns1:r>
              <ns1:rPr lang="ko-KR" altLang="en-US" sz="1200" b="1" dirty="0">
                <ns1:solidFill>
                  <ns1:srgbClr val="FFFFFF"/>
                </ns1:solidFill>
                <ns1:latin typeface="Malgun Gothic" pitchFamily="34" charset="0"/>
                <ns1:ea typeface="Malgun Gothic" pitchFamily="34" charset="-122"/>
                <ns1:cs typeface="Malgun Gothic" pitchFamily="34" charset="-120"/>
              </ns1:rPr>
              <ns1:t>2</ns1:t>
            </ns1:r>
            <ns1:endParaRPr lang="ko-KR" sz="1200" dirty="0"/>
          </ns1:p>
        </ns0:txBody>
      </ns0:sp>
      <ns0:sp>
        <ns0:nvSpPr>
          <ns0:cNvPr id="18" name="Text 14"/>
          <ns0:cNvSpPr txBox="1"/>
          <ns0:nvPr/>
        </ns0:nvSpPr>
        <ns0:spPr>
          <ns1:xfrm>
            <ns1:off x="5440680" y="2093976"/>
            <ns1:ext cx="3200400" cy="292608"/>
          </ns1:xfrm>
          <ns1:prstGeom prst="rect">
            <ns1:avLst/>
          </ns1:prstGeom>
          <ns1:noFill/>
          <ns1:ln/>
        </ns0:spPr>
        <ns0:txBody>
          <ns1:bodyPr wrap="square" lIns="0" tIns="0" rIns="0" bIns="0" rtlCol="0" anchor="t"/>
          <ns1:lstStyle/>
          <ns1:p>
            <ns1:pPr indent="0" marL="0" eaLnBrk="0">
              <ns1:buNone/>
            </ns1:pPr>
            <ns1:r>
              <ns1:rPr lang="ko-KR" altLang="en-US" sz="1300" b="1" dirty="0">
                <ns1:solidFill>
                  <ns1:srgbClr val="5E8A6A"/>
                </ns1:solidFill>
                <ns1:latin typeface="Malgun Gothic" pitchFamily="34" charset="0"/>
                <ns1:ea typeface="Malgun Gothic" pitchFamily="34" charset="-122"/>
                <ns1:cs typeface="Malgun Gothic" pitchFamily="34" charset="-120"/>
              </ns1:rPr>
              <ns1:t>수정</ns1:t>
            </ns1:r>
            <ns1:endParaRPr lang="ko-KR" sz="1300" dirty="0"/>
          </ns1:p>
        </ns0:txBody>
      </ns0:sp>
      <ns0:sp>
        <ns0:nvSpPr>
          <ns0:cNvPr id="19" name="Text 15"/>
          <ns0:cNvSpPr txBox="1"/>
          <ns0:nvPr/>
        </ns0:nvSpPr>
        <ns0:spPr>
          <ns1:xfrm>
            <ns1:off x="5440680" y="2404872"/>
            <ns1:ext cx="3246120" cy="640080"/>
          </ns1:xfrm>
          <ns1:prstGeom prst="rect">
            <ns1:avLst/>
          </ns1:prstGeom>
          <ns1:noFill/>
          <ns1:ln/>
        </ns0:spPr>
        <ns0:txBody>
          <ns1:bodyPr wrap="square" lIns="0" tIns="0" rIns="0" bIns="0" rtlCol="0" anchor="t"/>
          <ns1:lstStyle/>
          <ns1:p>
            <ns1:pPr indent="0" marL="0" eaLnBrk="0">
              <ns1:buNone/>
            </ns1:pPr>
            <ns1:r>
              <ns1:rPr lang="ko-KR" altLang="en-US" sz="1150" dirty="0">
                <ns1:solidFill>
                  <ns1:srgbClr val="1F2328"/>
                </ns1:solidFill>
                <ns1:latin typeface="Malgun Gothic" pitchFamily="34" charset="0"/>
                <ns1:ea typeface="Malgun Gothic" pitchFamily="34" charset="-122"/>
                <ns1:cs typeface="Malgun Gothic" pitchFamily="34" charset="-120"/>
              </ns1:rPr>
              <ns1:t>배치 영역만 잘라서 채점 → 같은 가구에서 잘된 쪽이 높은 경우 2/4 → 4/4</ns1:t>
            </ns1:r>
            <ns1:endParaRPr lang="ko-KR" sz="1150" dirty="0"/>
          </ns1:p>
        </ns0:txBody>
      </ns0:sp>
      <ns0:sp>
        <ns0:nvSpPr>
          <ns0:cNvPr id="20" name="Shape 16"/>
          <ns0:cNvSpPr/>
          <ns0:nvPr/>
        </ns0:nvSpPr>
        <ns0:spPr>
          <ns1:xfrm>
            <ns1:off x="4983480" y="3099816"/>
            <ns1:ext cx="329184" cy="329184"/>
          </ns1:xfrm>
          <ns1:prstGeom prst="ellipse">
            <ns1:avLst/>
          </ns1:prstGeom>
          <ns1:solidFill>
            <ns1:srgbClr val="5F6670"/>
          </ns1:solidFill>
          <ns1:ln w="12700">
            <ns1:solidFill>
              <ns1:srgbClr val="5F6670"/>
            </ns1:solidFill>
            <ns1:prstDash val="solid"/>
          </ns1:ln>
        </ns0:spPr>
      </ns0:sp>
      <ns0:sp>
        <ns0:nvSpPr>
          <ns0:cNvPr id="21" name="Text 17"/>
          <ns0:cNvSpPr txBox="1"/>
          <ns0:nvPr/>
        </ns0:nvSpPr>
        <ns0:spPr>
          <ns1:xfrm>
            <ns1:off x="4983480" y="3099816"/>
            <ns1:ext cx="329184" cy="329184"/>
          </ns1:xfrm>
          <ns1:prstGeom prst="rect">
            <ns1:avLst/>
          </ns1:prstGeom>
          <ns1:noFill/>
          <ns1:ln/>
        </ns0:spPr>
        <ns0:txBody>
          <ns1:bodyPr wrap="square" lIns="0" tIns="0" rIns="0" bIns="0" rtlCol="0" anchor="ctr"/>
          <ns1:lstStyle/>
          <ns1:p>
            <ns1:pPr algn="ctr" indent="0" marL="0" eaLnBrk="0">
              <ns1:buNone/>
            </ns1:pPr>
            <ns1:r>
              <ns1:rPr lang="ko-KR" altLang="en-US" sz="1200" b="1" dirty="0">
                <ns1:solidFill>
                  <ns1:srgbClr val="FFFFFF"/>
                </ns1:solidFill>
                <ns1:latin typeface="Malgun Gothic" pitchFamily="34" charset="0"/>
                <ns1:ea typeface="Malgun Gothic" pitchFamily="34" charset="-122"/>
                <ns1:cs typeface="Malgun Gothic" pitchFamily="34" charset="-120"/>
              </ns1:rPr>
              <ns1:t>3</ns1:t>
            </ns1:r>
            <ns1:endParaRPr lang="ko-KR" sz="1200" dirty="0"/>
          </ns1:p>
        </ns0:txBody>
      </ns0:sp>
      <ns0:sp>
        <ns0:nvSpPr>
          <ns0:cNvPr id="22" name="Text 18"/>
          <ns0:cNvSpPr txBox="1"/>
          <ns0:nvPr/>
        </ns0:nvSpPr>
        <ns0:spPr>
          <ns1:xfrm>
            <ns1:off x="5440680" y="3118104"/>
            <ns1:ext cx="3200400" cy="292608"/>
          </ns1:xfrm>
          <ns1:prstGeom prst="rect">
            <ns1:avLst/>
          </ns1:prstGeom>
          <ns1:noFill/>
          <ns1:ln/>
        </ns0:spPr>
        <ns0:txBody>
          <ns1:bodyPr wrap="square" lIns="0" tIns="0" rIns="0" bIns="0" rtlCol="0" anchor="t"/>
          <ns1:lstStyle/>
          <ns1:p>
            <ns1:pPr indent="0" marL="0" eaLnBrk="0">
              <ns1:buNone/>
            </ns1:pPr>
            <ns1:r>
              <ns1:rPr lang="ko-KR" altLang="en-US" sz="1300" b="1" dirty="0">
                <ns1:solidFill>
                  <ns1:srgbClr val="5F6670"/>
                </ns1:solidFill>
                <ns1:latin typeface="Malgun Gothic" pitchFamily="34" charset="0"/>
                <ns1:ea typeface="Malgun Gothic" pitchFamily="34" charset="-122"/>
                <ns1:cs typeface="Malgun Gothic" pitchFamily="34" charset="-120"/>
              </ns1:rPr>
              <ns1:t>한계</ns1:t>
            </ns1:r>
            <ns1:endParaRPr lang="ko-KR" sz="1300" dirty="0"/>
          </ns1:p>
        </ns0:txBody>
      </ns0:sp>
      <ns0:sp>
        <ns0:nvSpPr>
          <ns0:cNvPr id="23" name="Text 19"/>
          <ns0:cNvSpPr txBox="1"/>
          <ns0:nvPr/>
        </ns0:nvSpPr>
        <ns0:spPr>
          <ns1:xfrm>
            <ns1:off x="5440680" y="3429000"/>
            <ns1:ext cx="3246120" cy="640080"/>
          </ns1:xfrm>
          <ns1:prstGeom prst="rect">
            <ns1:avLst/>
          </ns1:prstGeom>
          <ns1:noFill/>
          <ns1:ln/>
        </ns0:spPr>
        <ns0:txBody>
          <ns1:bodyPr wrap="square" lIns="0" tIns="0" rIns="0" bIns="0" rtlCol="0" anchor="t"/>
          <ns1:lstStyle/>
          <ns1:p>
            <ns1:pPr indent="0" marL="0" eaLnBrk="0">
              <ns1:buNone/>
            </ns1:pPr>
            <ns1:r>
              <ns1:rPr lang="ko-KR" altLang="en-US" sz="1150" dirty="0">
                <ns1:solidFill>
                  <ns1:srgbClr val="1F2328"/>
                </ns1:solidFill>
                <ns1:latin typeface="Malgun Gothic" pitchFamily="34" charset="0"/>
                <ns1:ea typeface="Malgun Gothic" pitchFamily="34" charset="-122"/>
                <ns1:cs typeface="Malgun Gothic" pitchFamily="34" charset="-120"/>
              </ns1:rPr>
              <ns1:t>소파만 한 전등갓도 높은 점수. 이 점수로 크기의 사실감이나 제품 동일성을 입증할 수 없다</ns1:t>
            </ns1:r>
            <ns1:endParaRPr lang="ko-KR" sz="1150" dirty="0"/>
          </ns1:p>
        </ns0:txBody>
      </ns0:sp>
      <ns0:sp>
        <ns0:nvSpPr>
          <ns0:cNvPr id="24" name="Text 20"/>
          <ns0:cNvSpPr txBox="1"/>
          <ns0:nvPr/>
        </ns0:nvSpPr>
        <ns0:spPr>
          <ns1:xfrm>
            <ns1:off x="457200" y="4434840"/>
            <ns1:ext cx="8229600" cy="320040"/>
          </ns1:xfrm>
          <ns1:prstGeom prst="rect">
            <ns1:avLst/>
          </ns1:prstGeom>
          <ns1:noFill/>
          <ns1:ln/>
        </ns0:spPr>
        <ns0:txBody>
          <ns1:bodyPr wrap="square" lIns="0" tIns="0" rIns="0" bIns="0" rtlCol="0" anchor="t"/>
          <ns1:lstStyle/>
          <ns1:p>
            <ns1:pPr indent="0" marL="0" eaLnBrk="0">
              <ns1:buNone/>
            </ns1:pPr>
            <ns1:r>
              <ns1:rPr lang="ko-KR" altLang="en-US" sz="1200" i="1" dirty="0">
                <ns1:solidFill>
                  <ns1:srgbClr val="5F6670"/>
                </ns1:solidFill>
                <ns1:latin typeface="Malgun Gothic" pitchFamily="34" charset="0"/>
                <ns1:ea typeface="Malgun Gothic" pitchFamily="34" charset="-122"/>
                <ns1:cs typeface="Malgun Gothic" pitchFamily="34" charset="-120"/>
              </ns1:rPr>
              <ns1:t>숫자만 보지 않고 결과 이미지를 직접 확인했기 때문에 찾았다</ns1:t>
            </ns1:r>
            <ns1:endParaRPr lang="ko-KR" sz="1200" dirty="0"/>
          </ns1:p>
        </ns0:txBody>
      </ns0:sp>
    </ns0:spTree>
  </ns0:cSld>
  <ns0:clrMapOvr>
    <ns1:masterClrMapping/>
  </ns0:clrMapOvr>
</ns0:sld>
</file>

<file path=ppt/slides/slide9.xml><?xml version="1.0" encoding="utf-8"?>
<ns0:sld xmlns:ns0="http://schemas.openxmlformats.org/presentationml/2006/main" xmlns:ns1="http://schemas.openxmlformats.org/drawingml/2006/main" xmlns:ns2="http://schemas.openxmlformats.org/officeDocument/2006/relationships" xmlns:ns3="http://schemas.microsoft.com/office/powerpoint/2010/main">
  <ns0:cSld name="Slide 9">
    <ns0:bg>
      <ns0:bgPr>
        <ns1:solidFill>
          <ns1:srgbClr val="FFFFFF"/>
        </ns1:solidFill>
      </ns0:bgPr>
    </ns0:bg>
    <ns0:spTree>
      <ns0:nvGrpSpPr>
        <ns0:cNvPr id="1" name=""/>
        <ns0:cNvGrpSpPr/>
        <ns0:nvPr/>
      </ns0:nvGrpSpPr>
      <ns0:grpSpPr>
        <ns1:xfrm>
          <ns1:off x="0" y="0"/>
          <ns1:ext cx="0" cy="0"/>
          <ns1:chOff x="0" y="0"/>
          <ns1:chExt cx="0" cy="0"/>
        </ns1:xfrm>
      </ns0:grpSpPr>
      <ns0:sp>
        <ns0:nvSpPr>
          <ns0:cNvPr id="2" name="Shape 0"/>
          <ns0:cNvSpPr/>
          <ns0:nvPr/>
        </ns0:nvSpPr>
        <ns0:spPr>
          <ns1:xfrm>
            <ns1:off x="457200" y="329184"/>
            <ns1:ext cx="420624" cy="420624"/>
          </ns1:xfrm>
          <ns1:prstGeom prst="ellipse">
            <ns1:avLst/>
          </ns1:prstGeom>
          <ns1:solidFill>
            <ns1:srgbClr val="C8553D"/>
          </ns1:solidFill>
          <ns1:ln w="12700">
            <ns1:solidFill>
              <ns1:srgbClr val="C8553D"/>
            </ns1:solidFill>
            <ns1:prstDash val="solid"/>
          </ns1:ln>
        </ns0:spPr>
      </ns0:sp>
      <ns0:sp>
        <ns0:nvSpPr>
          <ns0:cNvPr id="3" name="Text 1"/>
          <ns0:cNvSpPr txBox="1"/>
          <ns0:nvPr/>
        </ns0:nvSpPr>
        <ns0:spPr>
          <ns1:xfrm>
            <ns1:off x="457200" y="329184"/>
            <ns1:ext cx="420624" cy="420624"/>
          </ns1:xfrm>
          <ns1:prstGeom prst="rect">
            <ns1:avLst/>
          </ns1:prstGeom>
          <ns1:noFill/>
          <ns1:ln/>
        </ns0:spPr>
        <ns0:txBody>
          <ns1:bodyPr wrap="square" lIns="0" tIns="0" rIns="0" bIns="0" rtlCol="0" anchor="ctr"/>
          <ns1:lstStyle/>
          <ns1:p>
            <ns1:pPr algn="ctr" indent="0" marL="0" eaLnBrk="0">
              <ns1:buNone/>
            </ns1:pPr>
            <ns1:r>
              <ns1:rPr lang="ko-KR" altLang="en-US" sz="1500" b="1" dirty="0">
                <ns1:solidFill>
                  <ns1:srgbClr val="FFFFFF"/>
                </ns1:solidFill>
                <ns1:latin typeface="Malgun Gothic" pitchFamily="34" charset="0"/>
                <ns1:ea typeface="Malgun Gothic" pitchFamily="34" charset="-122"/>
                <ns1:cs typeface="Malgun Gothic" pitchFamily="34" charset="-120"/>
              </ns1:rPr>
              <ns1:t>8</ns1:t>
            </ns1:r>
            <ns1:endParaRPr lang="ko-KR" sz="1500" dirty="0"/>
          </ns1:p>
        </ns0:txBody>
      </ns0:sp>
      <ns0:sp>
        <ns0:nvSpPr>
          <ns0:cNvPr id="4" name="Text 2"/>
          <ns0:cNvSpPr txBox="1"/>
          <ns0:nvPr/>
        </ns0:nvSpPr>
        <ns0:spPr>
          <ns1:xfrm>
            <ns1:off x="1024128" y="274320"/>
            <ns1:ext cx="7680960" cy="530352"/>
          </ns1:xfrm>
          <ns1:prstGeom prst="rect">
            <ns1:avLst/>
          </ns1:prstGeom>
          <ns1:noFill/>
          <ns1:ln/>
        </ns0:spPr>
        <ns0:txBody>
          <ns1:bodyPr wrap="square" lIns="0" tIns="0" rIns="0" bIns="0" rtlCol="0" anchor="ctr"/>
          <ns1:lstStyle/>
          <ns1:p>
            <ns1:pPr indent="0" marL="0" eaLnBrk="0">
              <ns1:buNone/>
            </ns1:pPr>
            <ns1:r>
              <ns1:rPr lang="ko-KR" altLang="en-US" sz="2400" b="1" dirty="0">
                <ns1:solidFill>
                  <ns1:srgbClr val="1F2328"/>
                </ns1:solidFill>
                <ns1:latin typeface="Malgun Gothic" pitchFamily="34" charset="0"/>
                <ns1:ea typeface="Malgun Gothic" pitchFamily="34" charset="-122"/>
                <ns1:cs typeface="Malgun Gothic" pitchFamily="34" charset="-120"/>
              </ns1:rPr>
              <ns1:t>로컬 vs Gemini: 이전 구현의 파일럿 3쌍</ns1:t>
            </ns1:r>
            <ns1:endParaRPr lang="ko-KR" sz="2400" dirty="0"/>
          </ns1:p>
        </ns0:txBody>
      </ns0:sp>
      <ns0:sp>
        <ns0:nvSpPr>
          <ns0:cNvPr id="5" name="Text 3"/>
          <ns0:cNvSpPr txBox="1"/>
          <ns0:nvPr/>
        </ns0:nvSpPr>
        <ns0:spPr>
          <ns1:xfrm>
            <ns1:off x="457200" y="4901184"/>
            <ns1:ext cx="8229600" cy="128016"/>
          </ns1:xfrm>
          <ns1:prstGeom prst="rect">
            <ns1:avLst/>
          </ns1:prstGeom>
          <ns1:noFill/>
          <ns1:ln/>
        </ns0:spPr>
        <ns0:txBody>
          <ns1:bodyPr wrap="square" lIns="0" tIns="0" rIns="0" bIns="0" rtlCol="0" anchor="t"/>
          <ns1:lstStyle/>
          <ns1:p>
            <ns1:pPr indent="0" marL="0" eaLnBrk="0">
              <ns1:buNone/>
            </ns1:pPr>
            <ns1:r>
              <ns1:rPr lang="ko-KR" altLang="en-US" sz="800" dirty="0">
                <ns1:solidFill>
                  <ns1:srgbClr val="5F6670"/>
                </ns1:solidFill>
                <ns1:latin typeface="Malgun Gothic" pitchFamily="34" charset="0"/>
                <ns1:ea typeface="Malgun Gothic" pitchFamily="34" charset="-122"/>
                <ns1:cs typeface="Malgun Gothic" pitchFamily="34" charset="-120"/>
              </ns1:rPr>
              <ns1:t>2026-09-19 이전 구현의 실험 기록 · 09-21 수정 후 품질은 아직 재측정하지 않음</ns1:t>
            </ns1:r>
            <ns1:endParaRPr lang="ko-KR" sz="800" dirty="0"/>
          </ns1:p>
        </ns0:txBody>
      </ns0:sp>
      <ns0:pic>
        <ns0:nvPicPr>
          <ns0:cNvPr id="6" name="Image 0" descr="/Users/minyoung/Library/Mobile Documents/com~apple~CloudDocs/GTEC/2-2/Capstone/presentation/assets/cmp_A03l.jpg">    </ns0:cNvPr>
          <ns0:cNvPicPr>
            <ns1:picLocks noChangeAspect="1"/>
          </ns0:cNvPicPr>
          <ns0:nvPr/>
        </ns0:nvPicPr>
        <ns0:blipFill>
          <ns1:blip ns2:embed="rId1"/>
          <ns1:stretch>
            <ns1:fillRect/>
          </ns1:stretch>
        </ns0:blipFill>
        <ns0:spPr>
          <ns1:xfrm>
            <ns1:off x="465549" y="1005840"/>
            <ns1:ext cx="2589341" cy="2011680"/>
          </ns1:xfrm>
          <ns1:prstGeom prst="rect">
            <ns1:avLst/>
          </ns1:prstGeom>
          <ns1:effectLst>
            <ns1:outerShdw sx="100000" sy="100000" kx="0" ky="0" algn="bl" rotWithShape="0" blurRad="76200" dist="25400" dir="5400000">
              <ns1:srgbClr val="000000">
                <ns1:alpha val="18000"/>
              </ns1:srgbClr>
            </ns1:outerShdw>
          </ns1:effectLst>
        </ns0:spPr>
      </ns0:pic>
      <ns0:sp>
        <ns0:nvSpPr>
          <ns0:cNvPr id="7" name="Text 4"/>
          <ns0:cNvSpPr txBox="1"/>
          <ns0:nvPr/>
        </ns0:nvSpPr>
        <ns0:spPr>
          <ns1:xfrm>
            <ns1:off x="457200" y="3072384"/>
            <ns1:ext cx="2606040" cy="274320"/>
          </ns1:xfrm>
          <ns1:prstGeom prst="rect">
            <ns1:avLst/>
          </ns1:prstGeom>
          <ns1:noFill/>
          <ns1:ln/>
        </ns0:spPr>
        <ns0:txBody>
          <ns1:bodyPr wrap="square" lIns="0" tIns="0" rIns="0" bIns="0" rtlCol="0" anchor="t"/>
          <ns1:lstStyle/>
          <ns1:p>
            <ns1:pPr algn="ctr" indent="0" marL="0" eaLnBrk="0">
              <ns1:buNone/>
            </ns1:pPr>
            <ns1:r>
              <ns1:rPr lang="ko-KR" altLang="en-US" sz="1200" b="1" dirty="0">
                <ns1:solidFill>
                  <ns1:srgbClr val="1F2328"/>
                </ns1:solidFill>
                <ns1:latin typeface="Malgun Gothic" pitchFamily="34" charset="0"/>
                <ns1:ea typeface="Malgun Gothic" pitchFamily="34" charset="-122"/>
                <ns1:cs typeface="Malgun Gothic" pitchFamily="34" charset="-120"/>
              </ns1:rPr>
              <ns1:t>로컬</ns1:t>
            </ns1:r>
            <ns1:endParaRPr lang="ko-KR" sz="1200" dirty="0"/>
          </ns1:p>
        </ns0:txBody>
      </ns0:sp>
      <ns0:pic>
        <ns0:nvPicPr>
          <ns0:cNvPr id="8" name="Image 1" descr="/Users/minyoung/Library/Mobile Documents/com~apple~CloudDocs/GTEC/2-2/Capstone/presentation/assets/cmp_A03lr.jpg">    </ns0:cNvPr>
          <ns0:cNvPicPr>
            <ns1:picLocks noChangeAspect="1"/>
          </ns0:cNvPicPr>
          <ns0:nvPr/>
        </ns0:nvPicPr>
        <ns0:blipFill>
          <ns1:blip ns2:embed="rId2"/>
          <ns1:stretch>
            <ns1:fillRect/>
          </ns1:stretch>
        </ns0:blipFill>
        <ns0:spPr>
          <ns1:xfrm>
            <ns1:off x="3277329" y="1005840"/>
            <ns1:ext cx="2589341" cy="2011680"/>
          </ns1:xfrm>
          <ns1:prstGeom prst="rect">
            <ns1:avLst/>
          </ns1:prstGeom>
          <ns1:effectLst>
            <ns1:outerShdw sx="100000" sy="100000" kx="0" ky="0" algn="bl" rotWithShape="0" blurRad="76200" dist="25400" dir="5400000">
              <ns1:srgbClr val="000000">
                <ns1:alpha val="18000"/>
              </ns1:srgbClr>
            </ns1:outerShdw>
          </ns1:effectLst>
        </ns0:spPr>
      </ns0:pic>
      <ns0:sp>
        <ns0:nvSpPr>
          <ns0:cNvPr id="9" name="Text 5"/>
          <ns0:cNvSpPr txBox="1"/>
          <ns0:nvPr/>
        </ns0:nvSpPr>
        <ns0:spPr>
          <ns1:xfrm>
            <ns1:off x="3268980" y="3072384"/>
            <ns1:ext cx="2606040" cy="274320"/>
          </ns1:xfrm>
          <ns1:prstGeom prst="rect">
            <ns1:avLst/>
          </ns1:prstGeom>
          <ns1:noFill/>
          <ns1:ln/>
        </ns0:spPr>
        <ns0:txBody>
          <ns1:bodyPr wrap="square" lIns="0" tIns="0" rIns="0" bIns="0" rtlCol="0" anchor="t"/>
          <ns1:lstStyle/>
          <ns1:p>
            <ns1:pPr algn="ctr" indent="0" marL="0" eaLnBrk="0">
              <ns1:buNone/>
            </ns1:pPr>
            <ns1:r>
              <ns1:rPr lang="ko-KR" altLang="en-US" sz="1200" b="1" dirty="0">
                <ns1:solidFill>
                  <ns1:srgbClr val="1F2328"/>
                </ns1:solidFill>
                <ns1:latin typeface="Malgun Gothic" pitchFamily="34" charset="0"/>
                <ns1:ea typeface="Malgun Gothic" pitchFamily="34" charset="-122"/>
                <ns1:cs typeface="Malgun Gothic" pitchFamily="34" charset="-120"/>
              </ns1:rPr>
              <ns1:t>로컬 + AI 다듬기</ns1:t>
            </ns1:r>
            <ns1:endParaRPr lang="ko-KR" sz="1200" dirty="0"/>
          </ns1:p>
        </ns0:txBody>
      </ns0:sp>
      <ns0:pic>
        <ns0:nvPicPr>
          <ns0:cNvPr id="10" name="Image 2" descr="/Users/minyoung/Library/Mobile Documents/com~apple~CloudDocs/GTEC/2-2/Capstone/presentation/assets/cmp_A03g.jpg">    </ns0:cNvPr>
          <ns0:cNvPicPr>
            <ns1:picLocks noChangeAspect="1"/>
          </ns0:cNvPicPr>
          <ns0:nvPr/>
        </ns0:nvPicPr>
        <ns0:blipFill>
          <ns1:blip ns2:embed="rId3"/>
          <ns1:stretch>
            <ns1:fillRect/>
          </ns1:stretch>
        </ns0:blipFill>
        <ns0:spPr>
          <ns1:xfrm>
            <ns1:off x="6089109" y="1005840"/>
            <ns1:ext cx="2589341" cy="2011680"/>
          </ns1:xfrm>
          <ns1:prstGeom prst="rect">
            <ns1:avLst/>
          </ns1:prstGeom>
          <ns1:effectLst>
            <ns1:outerShdw sx="100000" sy="100000" kx="0" ky="0" algn="bl" rotWithShape="0" blurRad="76200" dist="25400" dir="5400000">
              <ns1:srgbClr val="000000">
                <ns1:alpha val="18000"/>
              </ns1:srgbClr>
            </ns1:outerShdw>
          </ns1:effectLst>
        </ns0:spPr>
      </ns0:pic>
      <ns0:sp>
        <ns0:nvSpPr>
          <ns0:cNvPr id="11" name="Text 6"/>
          <ns0:cNvSpPr txBox="1"/>
          <ns0:nvPr/>
        </ns0:nvSpPr>
        <ns0:spPr>
          <ns1:xfrm>
            <ns1:off x="6080760" y="3072384"/>
            <ns1:ext cx="2606040" cy="274320"/>
          </ns1:xfrm>
          <ns1:prstGeom prst="rect">
            <ns1:avLst/>
          </ns1:prstGeom>
          <ns1:noFill/>
          <ns1:ln/>
        </ns0:spPr>
        <ns0:txBody>
          <ns1:bodyPr wrap="square" lIns="0" tIns="0" rIns="0" bIns="0" rtlCol="0" anchor="t"/>
          <ns1:lstStyle/>
          <ns1:p>
            <ns1:pPr algn="ctr" indent="0" marL="0" eaLnBrk="0">
              <ns1:buNone/>
            </ns1:pPr>
            <ns1:r>
              <ns1:rPr lang="ko-KR" altLang="en-US" sz="1200" b="1" dirty="0">
                <ns1:solidFill>
                  <ns1:srgbClr val="C8553D"/>
                </ns1:solidFill>
                <ns1:latin typeface="Malgun Gothic" pitchFamily="34" charset="0"/>
                <ns1:ea typeface="Malgun Gothic" pitchFamily="34" charset="-122"/>
                <ns1:cs typeface="Malgun Gothic" pitchFamily="34" charset="-120"/>
              </ns1:rPr>
              <ns1:t>Gemini (유료 생성)</ns1:t>
            </ns1:r>
            <ns1:endParaRPr lang="ko-KR" sz="1200" dirty="0"/>
          </ns1:p>
        </ns0:txBody>
      </ns0:sp>
      <ns0:graphicFrame>
        <ns0:nvGraphicFramePr>
          <ns0:cNvPr id="10" name="Table 0"/>
          <ns0:cNvGraphicFramePr>
            <ns1:graphicFrameLocks noGrp="1"/>
          </ns0:cNvGraphicFramePr>
          <ns0:nvPr>
            <ns0:extLst>
              <ns0:ext uri="{D42A27DB-BD31-4B8C-83A1-F6EECF244321}">
                <ns3:modId val="1579011935"/>
              </ns0:ext>
            </ns0:extLst>
          </ns0:nvPr>
        </ns0:nvGraphicFramePr>
        <ns0:xfrm>
          <ns1:off x="457200" y="3429000"/>
          <ns1:ext cx="8229600" cy="914400"/>
        </ns0:xfrm>
        <ns1:graphic>
          <ns1:graphicData uri="http://schemas.openxmlformats.org/drawingml/2006/table">
            <ns1:tbl>
              <ns1:tblPr/>
              <ns1:tblGrid>
                <ns1:gridCol w="2331720"/>
                <ns1:gridCol w="1965960"/>
                <ns1:gridCol w="1965960"/>
                <ns1:gridCol w="1965960"/>
              </ns1:tblGrid>
              <ns1:tr h="329184">
                <ns1:tc>
                  <ns1:txBody>
                    <ns1:bodyPr/>
                    <ns1:lstStyle/>
                    <ns1:p>
                      <ns1:pPr indent="0" marL="0" eaLnBrk="0">
                        <ns1:buNone/>
                      </ns1:pPr>
                      <ns1:r>
                        <ns1:rPr lang="en-US" sz="1050" b="1" dirty="0">
                          <ns1:solidFill>
                            <ns1:srgbClr val="5F6670"/>
                          </ns1:solidFill>
                          <ns1:latin typeface="Malgun Gothic" pitchFamily="34" charset="0"/>
                          <ns1:ea typeface="Malgun Gothic" pitchFamily="34" charset="-122"/>
                          <ns1:cs typeface="Malgun Gothic" pitchFamily="34" charset="-120"/>
                        </ns1:rPr>
                        <ns1:t>배치 영역 CLIP (3쌍 평균)</ns1:t>
                      </ns1:r>
                      <ns1:endParaRPr lang="en-US" sz="1050" dirty="0">
                        <ns1:latin typeface="Malgun Gothic" charset="0"/>
                        <ns1:ea typeface="Malgun Gothic" charset="0"/>
                        <ns1:cs typeface="Malgun Gothic" charset="0"/>
                      </ns1:endParaRPr>
                    </ns1:p>
                  </ns1:txBody>
                  <ns1:tcPr marL="91440" marR="91440" marT="45720" marB="45720" anchor="ctr">
                    <ns1:lnL w="9525" cap="flat" cmpd="sng" algn="ctr">
                      <ns1:solidFill>
                        <ns1:srgbClr val="DADDE1"/>
                      </ns1:solidFill>
                      <ns1:prstDash val="solid"/>
                      <ns1:round/>
                      <ns1:headEnd type="none" w="med" len="med"/>
                      <ns1:tailEnd type="none" w="med" len="med"/>
                    </ns1:lnL>
                    <ns1:lnR w="9525" cap="flat" cmpd="sng" algn="ctr">
                      <ns1:solidFill>
                        <ns1:srgbClr val="DADDE1"/>
                      </ns1:solidFill>
                      <ns1:prstDash val="solid"/>
                      <ns1:round/>
                      <ns1:headEnd type="none" w="med" len="med"/>
                      <ns1:tailEnd type="none" w="med" len="med"/>
                    </ns1:lnR>
                    <ns1:lnT w="9525" cap="flat" cmpd="sng" algn="ctr">
                      <ns1:solidFill>
                        <ns1:srgbClr val="DADDE1"/>
                      </ns1:solidFill>
                      <ns1:prstDash val="solid"/>
                      <ns1:round/>
                      <ns1:headEnd type="none" w="med" len="med"/>
                      <ns1:tailEnd type="none" w="med" len="med"/>
                    </ns1:lnT>
                    <ns1:lnB w="9525" cap="flat" cmpd="sng" algn="ctr">
                      <ns1:solidFill>
                        <ns1:srgbClr val="DADDE1"/>
                      </ns1:solidFill>
                      <ns1:prstDash val="solid"/>
                      <ns1:round/>
                      <ns1:headEnd type="none" w="med" len="med"/>
                      <ns1:tailEnd type="none" w="med" len="med"/>
                    </ns1:lnB>
                    <ns1:solidFill>
                      <ns1:srgbClr val="FFFFFF"/>
                    </ns1:solidFill>
                  </ns1:tcPr>
                </ns1:tc>
                <ns1:tc>
                  <ns1:txBody>
                    <ns1:bodyPr/>
                    <ns1:lstStyle/>
                    <ns1:p>
                      <ns1:pPr algn="ctr" indent="0" marL="0" eaLnBrk="0">
                        <ns1:buNone/>
                      </ns1:pPr>
                      <ns1:r>
                        <ns1:rPr lang="en-US" sz="1150" dirty="0">
                          <ns1:solidFill>
                            <ns1:srgbClr val="1F2328"/>
                          </ns1:solidFill>
                          <ns1:latin typeface="Malgun Gothic" pitchFamily="34" charset="0"/>
                          <ns1:ea typeface="Malgun Gothic" pitchFamily="34" charset="-122"/>
                          <ns1:cs typeface="Malgun Gothic" pitchFamily="34" charset="-120"/>
                        </ns1:rPr>
                        <ns1:t>+0.051</ns1:t>
                      </ns1:r>
                      <ns1:endParaRPr lang="en-US" sz="1150" dirty="0">
                        <ns1:latin typeface="Malgun Gothic" charset="0"/>
                        <ns1:ea typeface="Malgun Gothic" charset="0"/>
                        <ns1:cs typeface="Malgun Gothic" charset="0"/>
                      </ns1:endParaRPr>
                    </ns1:p>
                  </ns1:txBody>
                  <ns1:tcPr marL="91440" marR="91440" marT="45720" marB="45720" anchor="ctr">
                    <ns1:lnL w="9525" cap="flat" cmpd="sng" algn="ctr">
                      <ns1:solidFill>
                        <ns1:srgbClr val="DADDE1"/>
                      </ns1:solidFill>
                      <ns1:prstDash val="solid"/>
                      <ns1:round/>
                      <ns1:headEnd type="none" w="med" len="med"/>
                      <ns1:tailEnd type="none" w="med" len="med"/>
                    </ns1:lnL>
                    <ns1:lnR w="9525" cap="flat" cmpd="sng" algn="ctr">
                      <ns1:solidFill>
                        <ns1:srgbClr val="DADDE1"/>
                      </ns1:solidFill>
                      <ns1:prstDash val="solid"/>
                      <ns1:round/>
                      <ns1:headEnd type="none" w="med" len="med"/>
                      <ns1:tailEnd type="none" w="med" len="med"/>
                    </ns1:lnR>
                    <ns1:lnT w="9525" cap="flat" cmpd="sng" algn="ctr">
                      <ns1:solidFill>
                        <ns1:srgbClr val="DADDE1"/>
                      </ns1:solidFill>
                      <ns1:prstDash val="solid"/>
                      <ns1:round/>
                      <ns1:headEnd type="none" w="med" len="med"/>
                      <ns1:tailEnd type="none" w="med" len="med"/>
                    </ns1:lnT>
                    <ns1:lnB w="9525" cap="flat" cmpd="sng" algn="ctr">
                      <ns1:solidFill>
                        <ns1:srgbClr val="DADDE1"/>
                      </ns1:solidFill>
                      <ns1:prstDash val="solid"/>
                      <ns1:round/>
                      <ns1:headEnd type="none" w="med" len="med"/>
                      <ns1:tailEnd type="none" w="med" len="med"/>
                    </ns1:lnB>
                    <ns1:solidFill>
                      <ns1:srgbClr val="FFFFFF"/>
                    </ns1:solidFill>
                  </ns1:tcPr>
                </ns1:tc>
                <ns1:tc>
                  <ns1:txBody>
                    <ns1:bodyPr/>
                    <ns1:lstStyle/>
                    <ns1:p>
                      <ns1:pPr algn="ctr" indent="0" marL="0" eaLnBrk="0">
                        <ns1:buNone/>
                      </ns1:pPr>
                      <ns1:r>
                        <ns1:rPr lang="en-US" sz="1150" dirty="0">
                          <ns1:solidFill>
                            <ns1:srgbClr val="1F2328"/>
                          </ns1:solidFill>
                          <ns1:latin typeface="Malgun Gothic" pitchFamily="34" charset="0"/>
                          <ns1:ea typeface="Malgun Gothic" pitchFamily="34" charset="-122"/>
                          <ns1:cs typeface="Malgun Gothic" pitchFamily="34" charset="-120"/>
                        </ns1:rPr>
                        <ns1:t>+0.056</ns1:t>
                      </ns1:r>
                      <ns1:endParaRPr lang="en-US" sz="1150" dirty="0">
                        <ns1:latin typeface="Malgun Gothic" charset="0"/>
                        <ns1:ea typeface="Malgun Gothic" charset="0"/>
                        <ns1:cs typeface="Malgun Gothic" charset="0"/>
                      </ns1:endParaRPr>
                    </ns1:p>
                  </ns1:txBody>
                  <ns1:tcPr marL="91440" marR="91440" marT="45720" marB="45720" anchor="ctr">
                    <ns1:lnL w="9525" cap="flat" cmpd="sng" algn="ctr">
                      <ns1:solidFill>
                        <ns1:srgbClr val="DADDE1"/>
                      </ns1:solidFill>
                      <ns1:prstDash val="solid"/>
                      <ns1:round/>
                      <ns1:headEnd type="none" w="med" len="med"/>
                      <ns1:tailEnd type="none" w="med" len="med"/>
                    </ns1:lnL>
                    <ns1:lnR w="9525" cap="flat" cmpd="sng" algn="ctr">
                      <ns1:solidFill>
                        <ns1:srgbClr val="DADDE1"/>
                      </ns1:solidFill>
                      <ns1:prstDash val="solid"/>
                      <ns1:round/>
                      <ns1:headEnd type="none" w="med" len="med"/>
                      <ns1:tailEnd type="none" w="med" len="med"/>
                    </ns1:lnR>
                    <ns1:lnT w="9525" cap="flat" cmpd="sng" algn="ctr">
                      <ns1:solidFill>
                        <ns1:srgbClr val="DADDE1"/>
                      </ns1:solidFill>
                      <ns1:prstDash val="solid"/>
                      <ns1:round/>
                      <ns1:headEnd type="none" w="med" len="med"/>
                      <ns1:tailEnd type="none" w="med" len="med"/>
                    </ns1:lnT>
                    <ns1:lnB w="9525" cap="flat" cmpd="sng" algn="ctr">
                      <ns1:solidFill>
                        <ns1:srgbClr val="DADDE1"/>
                      </ns1:solidFill>
                      <ns1:prstDash val="solid"/>
                      <ns1:round/>
                      <ns1:headEnd type="none" w="med" len="med"/>
                      <ns1:tailEnd type="none" w="med" len="med"/>
                    </ns1:lnB>
                    <ns1:solidFill>
                      <ns1:srgbClr val="FFFFFF"/>
                    </ns1:solidFill>
                  </ns1:tcPr>
                </ns1:tc>
                <ns1:tc>
                  <ns1:txBody>
                    <ns1:bodyPr/>
                    <ns1:lstStyle/>
                    <ns1:p>
                      <ns1:pPr algn="ctr" indent="0" marL="0" eaLnBrk="0">
                        <ns1:buNone/>
                      </ns1:pPr>
                      <ns1:r>
                        <ns1:rPr lang="en-US" sz="1150" b="1" dirty="0">
                          <ns1:solidFill>
                            <ns1:srgbClr val="C8553D"/>
                          </ns1:solidFill>
                          <ns1:latin typeface="Malgun Gothic" pitchFamily="34" charset="0"/>
                          <ns1:ea typeface="Malgun Gothic" pitchFamily="34" charset="-122"/>
                          <ns1:cs typeface="Malgun Gothic" pitchFamily="34" charset="-120"/>
                        </ns1:rPr>
                        <ns1:t>+0.083</ns1:t>
                      </ns1:r>
                      <ns1:endParaRPr lang="en-US" sz="1150" dirty="0">
                        <ns1:latin typeface="Malgun Gothic" charset="0"/>
                        <ns1:ea typeface="Malgun Gothic" charset="0"/>
                        <ns1:cs typeface="Malgun Gothic" charset="0"/>
                      </ns1:endParaRPr>
                    </ns1:p>
                  </ns1:txBody>
                  <ns1:tcPr marL="91440" marR="91440" marT="45720" marB="45720" anchor="ctr">
                    <ns1:lnL w="9525" cap="flat" cmpd="sng" algn="ctr">
                      <ns1:solidFill>
                        <ns1:srgbClr val="DADDE1"/>
                      </ns1:solidFill>
                      <ns1:prstDash val="solid"/>
                      <ns1:round/>
                      <ns1:headEnd type="none" w="med" len="med"/>
                      <ns1:tailEnd type="none" w="med" len="med"/>
                    </ns1:lnL>
                    <ns1:lnR w="9525" cap="flat" cmpd="sng" algn="ctr">
                      <ns1:solidFill>
                        <ns1:srgbClr val="DADDE1"/>
                      </ns1:solidFill>
                      <ns1:prstDash val="solid"/>
                      <ns1:round/>
                      <ns1:headEnd type="none" w="med" len="med"/>
                      <ns1:tailEnd type="none" w="med" len="med"/>
                    </ns1:lnR>
                    <ns1:lnT w="9525" cap="flat" cmpd="sng" algn="ctr">
                      <ns1:solidFill>
                        <ns1:srgbClr val="DADDE1"/>
                      </ns1:solidFill>
                      <ns1:prstDash val="solid"/>
                      <ns1:round/>
                      <ns1:headEnd type="none" w="med" len="med"/>
                      <ns1:tailEnd type="none" w="med" len="med"/>
                    </ns1:lnT>
                    <ns1:lnB w="9525" cap="flat" cmpd="sng" algn="ctr">
                      <ns1:solidFill>
                        <ns1:srgbClr val="DADDE1"/>
                      </ns1:solidFill>
                      <ns1:prstDash val="solid"/>
                      <ns1:round/>
                      <ns1:headEnd type="none" w="med" len="med"/>
                      <ns1:tailEnd type="none" w="med" len="med"/>
                    </ns1:lnB>
                    <ns1:solidFill>
                      <ns1:srgbClr val="FFFFFF"/>
                    </ns1:solidFill>
                  </ns1:tcPr>
                </ns1:tc>
              </ns1:tr>
              <ns1:tr h="329184">
                <ns1:tc>
                  <ns1:txBody>
                    <ns1:bodyPr/>
                    <ns1:lstStyle/>
                    <ns1:p>
                      <ns1:pPr indent="0" marL="0" eaLnBrk="0">
                        <ns1:buNone/>
                      </ns1:pPr>
                      <ns1:r>
                        <ns1:rPr lang="en-US" sz="1050" b="1" dirty="0">
                          <ns1:solidFill>
                            <ns1:srgbClr val="5F6670"/>
                          </ns1:solidFill>
                          <ns1:latin typeface="Malgun Gothic" pitchFamily="34" charset="0"/>
                          <ns1:ea typeface="Malgun Gothic" pitchFamily="34" charset="-122"/>
                          <ns1:cs typeface="Malgun Gothic" pitchFamily="34" charset="-120"/>
                        </ns1:rPr>
                        <ns1:t>원본 사진 픽셀이 그대로인 비율</ns1:t>
                      </ns1:r>
                      <ns1:endParaRPr lang="en-US" sz="1050" dirty="0">
                        <ns1:latin typeface="Malgun Gothic" charset="0"/>
                        <ns1:ea typeface="Malgun Gothic" charset="0"/>
                        <ns1:cs typeface="Malgun Gothic" charset="0"/>
                      </ns1:endParaRPr>
                    </ns1:p>
                  </ns1:txBody>
                  <ns1:tcPr marL="91440" marR="91440" marT="45720" marB="45720" anchor="ctr">
                    <ns1:lnL w="9525" cap="flat" cmpd="sng" algn="ctr">
                      <ns1:solidFill>
                        <ns1:srgbClr val="DADDE1"/>
                      </ns1:solidFill>
                      <ns1:prstDash val="solid"/>
                      <ns1:round/>
                      <ns1:headEnd type="none" w="med" len="med"/>
                      <ns1:tailEnd type="none" w="med" len="med"/>
                    </ns1:lnL>
                    <ns1:lnR w="9525" cap="flat" cmpd="sng" algn="ctr">
                      <ns1:solidFill>
                        <ns1:srgbClr val="DADDE1"/>
                      </ns1:solidFill>
                      <ns1:prstDash val="solid"/>
                      <ns1:round/>
                      <ns1:headEnd type="none" w="med" len="med"/>
                      <ns1:tailEnd type="none" w="med" len="med"/>
                    </ns1:lnR>
                    <ns1:lnT w="9525" cap="flat" cmpd="sng" algn="ctr">
                      <ns1:solidFill>
                        <ns1:srgbClr val="DADDE1"/>
                      </ns1:solidFill>
                      <ns1:prstDash val="solid"/>
                      <ns1:round/>
                      <ns1:headEnd type="none" w="med" len="med"/>
                      <ns1:tailEnd type="none" w="med" len="med"/>
                    </ns1:lnT>
                    <ns1:lnB w="9525" cap="flat" cmpd="sng" algn="ctr">
                      <ns1:solidFill>
                        <ns1:srgbClr val="DADDE1"/>
                      </ns1:solidFill>
                      <ns1:prstDash val="solid"/>
                      <ns1:round/>
                      <ns1:headEnd type="none" w="med" len="med"/>
                      <ns1:tailEnd type="none" w="med" len="med"/>
                    </ns1:lnB>
                    <ns1:solidFill>
                      <ns1:srgbClr val="FFFFFF"/>
                    </ns1:solidFill>
                  </ns1:tcPr>
                </ns1:tc>
                <ns1:tc>
                  <ns1:txBody>
                    <ns1:bodyPr/>
                    <ns1:lstStyle/>
                    <ns1:p>
                      <ns1:pPr algn="ctr" indent="0" marL="0" eaLnBrk="0">
                        <ns1:buNone/>
                      </ns1:pPr>
                      <ns1:r>
                        <ns1:rPr lang="en-US" sz="1150" b="1" dirty="0">
                          <ns1:solidFill>
                            <ns1:srgbClr val="5E8A6A"/>
                          </ns1:solidFill>
                          <ns1:latin typeface="Malgun Gothic" pitchFamily="34" charset="0"/>
                          <ns1:ea typeface="Malgun Gothic" pitchFamily="34" charset="-122"/>
                          <ns1:cs typeface="Malgun Gothic" pitchFamily="34" charset="-120"/>
                        </ns1:rPr>
                        <ns1:t>약 97%</ns1:t>
                      </ns1:r>
                      <ns1:endParaRPr lang="en-US" sz="1150" dirty="0">
                        <ns1:latin typeface="Malgun Gothic" charset="0"/>
                        <ns1:ea typeface="Malgun Gothic" charset="0"/>
                        <ns1:cs typeface="Malgun Gothic" charset="0"/>
                      </ns1:endParaRPr>
                    </ns1:p>
                  </ns1:txBody>
                  <ns1:tcPr marL="91440" marR="91440" marT="45720" marB="45720" anchor="ctr">
                    <ns1:lnL w="9525" cap="flat" cmpd="sng" algn="ctr">
                      <ns1:solidFill>
                        <ns1:srgbClr val="DADDE1"/>
                      </ns1:solidFill>
                      <ns1:prstDash val="solid"/>
                      <ns1:round/>
                      <ns1:headEnd type="none" w="med" len="med"/>
                      <ns1:tailEnd type="none" w="med" len="med"/>
                    </ns1:lnL>
                    <ns1:lnR w="9525" cap="flat" cmpd="sng" algn="ctr">
                      <ns1:solidFill>
                        <ns1:srgbClr val="DADDE1"/>
                      </ns1:solidFill>
                      <ns1:prstDash val="solid"/>
                      <ns1:round/>
                      <ns1:headEnd type="none" w="med" len="med"/>
                      <ns1:tailEnd type="none" w="med" len="med"/>
                    </ns1:lnR>
                    <ns1:lnT w="9525" cap="flat" cmpd="sng" algn="ctr">
                      <ns1:solidFill>
                        <ns1:srgbClr val="DADDE1"/>
                      </ns1:solidFill>
                      <ns1:prstDash val="solid"/>
                      <ns1:round/>
                      <ns1:headEnd type="none" w="med" len="med"/>
                      <ns1:tailEnd type="none" w="med" len="med"/>
                    </ns1:lnT>
                    <ns1:lnB w="9525" cap="flat" cmpd="sng" algn="ctr">
                      <ns1:solidFill>
                        <ns1:srgbClr val="DADDE1"/>
                      </ns1:solidFill>
                      <ns1:prstDash val="solid"/>
                      <ns1:round/>
                      <ns1:headEnd type="none" w="med" len="med"/>
                      <ns1:tailEnd type="none" w="med" len="med"/>
                    </ns1:lnB>
                    <ns1:solidFill>
                      <ns1:srgbClr val="FFFFFF"/>
                    </ns1:solidFill>
                  </ns1:tcPr>
                </ns1:tc>
                <ns1:tc>
                  <ns1:txBody>
                    <ns1:bodyPr/>
                    <ns1:lstStyle/>
                    <ns1:p>
                      <ns1:pPr algn="ctr" indent="0" marL="0" eaLnBrk="0">
                        <ns1:buNone/>
                      </ns1:pPr>
                      <ns1:r>
                        <ns1:rPr lang="en-US" sz="1150" b="1" dirty="0">
                          <ns1:solidFill>
                            <ns1:srgbClr val="5E8A6A"/>
                          </ns1:solidFill>
                          <ns1:latin typeface="Malgun Gothic" pitchFamily="34" charset="0"/>
                          <ns1:ea typeface="Malgun Gothic" pitchFamily="34" charset="-122"/>
                          <ns1:cs typeface="Malgun Gothic" pitchFamily="34" charset="-120"/>
                        </ns1:rPr>
                        <ns1:t>약 91%</ns1:t>
                      </ns1:r>
                      <ns1:endParaRPr lang="en-US" sz="1150" dirty="0">
                        <ns1:latin typeface="Malgun Gothic" charset="0"/>
                        <ns1:ea typeface="Malgun Gothic" charset="0"/>
                        <ns1:cs typeface="Malgun Gothic" charset="0"/>
                      </ns1:endParaRPr>
                    </ns1:p>
                  </ns1:txBody>
                  <ns1:tcPr marL="91440" marR="91440" marT="45720" marB="45720" anchor="ctr">
                    <ns1:lnL w="9525" cap="flat" cmpd="sng" algn="ctr">
                      <ns1:solidFill>
                        <ns1:srgbClr val="DADDE1"/>
                      </ns1:solidFill>
                      <ns1:prstDash val="solid"/>
                      <ns1:round/>
                      <ns1:headEnd type="none" w="med" len="med"/>
                      <ns1:tailEnd type="none" w="med" len="med"/>
                    </ns1:lnL>
                    <ns1:lnR w="9525" cap="flat" cmpd="sng" algn="ctr">
                      <ns1:solidFill>
                        <ns1:srgbClr val="DADDE1"/>
                      </ns1:solidFill>
                      <ns1:prstDash val="solid"/>
                      <ns1:round/>
                      <ns1:headEnd type="none" w="med" len="med"/>
                      <ns1:tailEnd type="none" w="med" len="med"/>
                    </ns1:lnR>
                    <ns1:lnT w="9525" cap="flat" cmpd="sng" algn="ctr">
                      <ns1:solidFill>
                        <ns1:srgbClr val="DADDE1"/>
                      </ns1:solidFill>
                      <ns1:prstDash val="solid"/>
                      <ns1:round/>
                      <ns1:headEnd type="none" w="med" len="med"/>
                      <ns1:tailEnd type="none" w="med" len="med"/>
                    </ns1:lnT>
                    <ns1:lnB w="9525" cap="flat" cmpd="sng" algn="ctr">
                      <ns1:solidFill>
                        <ns1:srgbClr val="DADDE1"/>
                      </ns1:solidFill>
                      <ns1:prstDash val="solid"/>
                      <ns1:round/>
                      <ns1:headEnd type="none" w="med" len="med"/>
                      <ns1:tailEnd type="none" w="med" len="med"/>
                    </ns1:lnB>
                    <ns1:solidFill>
                      <ns1:srgbClr val="FFFFFF"/>
                    </ns1:solidFill>
                  </ns1:tcPr>
                </ns1:tc>
                <ns1:tc>
                  <ns1:txBody>
                    <ns1:bodyPr/>
                    <ns1:lstStyle/>
                    <ns1:p>
                      <ns1:pPr algn="ctr" indent="0" marL="0" eaLnBrk="0">
                        <ns1:buNone/>
                      </ns1:pPr>
                      <ns1:r>
                        <ns1:rPr lang="en-US" sz="1150" dirty="0">
                          <ns1:solidFill>
                            <ns1:srgbClr val="1F2328"/>
                          </ns1:solidFill>
                          <ns1:latin typeface="Malgun Gothic" pitchFamily="34" charset="0"/>
                          <ns1:ea typeface="Malgun Gothic" pitchFamily="34" charset="-122"/>
                          <ns1:cs typeface="Malgun Gothic" pitchFamily="34" charset="-120"/>
                        </ns1:rPr>
                        <ns1:t>1% 미만</ns1:t>
                      </ns1:r>
                      <ns1:endParaRPr lang="en-US" sz="1150" dirty="0">
                        <ns1:latin typeface="Malgun Gothic" charset="0"/>
                        <ns1:ea typeface="Malgun Gothic" charset="0"/>
                        <ns1:cs typeface="Malgun Gothic" charset="0"/>
                      </ns1:endParaRPr>
                    </ns1:p>
                  </ns1:txBody>
                  <ns1:tcPr marL="91440" marR="91440" marT="45720" marB="45720" anchor="ctr">
                    <ns1:lnL w="9525" cap="flat" cmpd="sng" algn="ctr">
                      <ns1:solidFill>
                        <ns1:srgbClr val="DADDE1"/>
                      </ns1:solidFill>
                      <ns1:prstDash val="solid"/>
                      <ns1:round/>
                      <ns1:headEnd type="none" w="med" len="med"/>
                      <ns1:tailEnd type="none" w="med" len="med"/>
                    </ns1:lnL>
                    <ns1:lnR w="9525" cap="flat" cmpd="sng" algn="ctr">
                      <ns1:solidFill>
                        <ns1:srgbClr val="DADDE1"/>
                      </ns1:solidFill>
                      <ns1:prstDash val="solid"/>
                      <ns1:round/>
                      <ns1:headEnd type="none" w="med" len="med"/>
                      <ns1:tailEnd type="none" w="med" len="med"/>
                    </ns1:lnR>
                    <ns1:lnT w="9525" cap="flat" cmpd="sng" algn="ctr">
                      <ns1:solidFill>
                        <ns1:srgbClr val="DADDE1"/>
                      </ns1:solidFill>
                      <ns1:prstDash val="solid"/>
                      <ns1:round/>
                      <ns1:headEnd type="none" w="med" len="med"/>
                      <ns1:tailEnd type="none" w="med" len="med"/>
                    </ns1:lnT>
                    <ns1:lnB w="9525" cap="flat" cmpd="sng" algn="ctr">
                      <ns1:solidFill>
                        <ns1:srgbClr val="DADDE1"/>
                      </ns1:solidFill>
                      <ns1:prstDash val="solid"/>
                      <ns1:round/>
                      <ns1:headEnd type="none" w="med" len="med"/>
                      <ns1:tailEnd type="none" w="med" len="med"/>
                    </ns1:lnB>
                    <ns1:solidFill>
                      <ns1:srgbClr val="FFFFFF"/>
                    </ns1:solidFill>
                  </ns1:tcPr>
                </ns1:tc>
              </ns1:tr>
              <ns1:tr h="329184">
                <ns1:tc>
                  <ns1:txBody>
                    <ns1:bodyPr/>
                    <ns1:lstStyle/>
                    <ns1:p>
                      <ns1:pPr indent="0" marL="0" eaLnBrk="0">
                        <ns1:buNone/>
                      </ns1:pPr>
                      <ns1:r>
                        <ns1:rPr lang="en-US" sz="1050" b="1" dirty="0">
                          <ns1:solidFill>
                            <ns1:srgbClr val="5F6670"/>
                          </ns1:solidFill>
                          <ns1:latin typeface="Malgun Gothic" pitchFamily="34" charset="0"/>
                          <ns1:ea typeface="Malgun Gothic" pitchFamily="34" charset="-122"/>
                          <ns1:cs typeface="Malgun Gothic" pitchFamily="34" charset="-120"/>
                        </ns1:rPr>
                        <ns1:t>비용 · 시간</ns1:t>
                      </ns1:r>
                      <ns1:endParaRPr lang="en-US" sz="1050" dirty="0">
                        <ns1:latin typeface="Malgun Gothic" charset="0"/>
                        <ns1:ea typeface="Malgun Gothic" charset="0"/>
                        <ns1:cs typeface="Malgun Gothic" charset="0"/>
                      </ns1:endParaRPr>
                    </ns1:p>
                  </ns1:txBody>
                  <ns1:tcPr marL="91440" marR="91440" marT="45720" marB="45720" anchor="ctr">
                    <ns1:lnL w="9525" cap="flat" cmpd="sng" algn="ctr">
                      <ns1:solidFill>
                        <ns1:srgbClr val="DADDE1"/>
                      </ns1:solidFill>
                      <ns1:prstDash val="solid"/>
                      <ns1:round/>
                      <ns1:headEnd type="none" w="med" len="med"/>
                      <ns1:tailEnd type="none" w="med" len="med"/>
                    </ns1:lnL>
                    <ns1:lnR w="9525" cap="flat" cmpd="sng" algn="ctr">
                      <ns1:solidFill>
                        <ns1:srgbClr val="DADDE1"/>
                      </ns1:solidFill>
                      <ns1:prstDash val="solid"/>
                      <ns1:round/>
                      <ns1:headEnd type="none" w="med" len="med"/>
                      <ns1:tailEnd type="none" w="med" len="med"/>
                    </ns1:lnR>
                    <ns1:lnT w="9525" cap="flat" cmpd="sng" algn="ctr">
                      <ns1:solidFill>
                        <ns1:srgbClr val="DADDE1"/>
                      </ns1:solidFill>
                      <ns1:prstDash val="solid"/>
                      <ns1:round/>
                      <ns1:headEnd type="none" w="med" len="med"/>
                      <ns1:tailEnd type="none" w="med" len="med"/>
                    </ns1:lnT>
                    <ns1:lnB w="9525" cap="flat" cmpd="sng" algn="ctr">
                      <ns1:solidFill>
                        <ns1:srgbClr val="DADDE1"/>
                      </ns1:solidFill>
                      <ns1:prstDash val="solid"/>
                      <ns1:round/>
                      <ns1:headEnd type="none" w="med" len="med"/>
                      <ns1:tailEnd type="none" w="med" len="med"/>
                    </ns1:lnB>
                    <ns1:solidFill>
                      <ns1:srgbClr val="FFFFFF"/>
                    </ns1:solidFill>
                  </ns1:tcPr>
                </ns1:tc>
                <ns1:tc>
                  <ns1:txBody>
                    <ns1:bodyPr/>
                    <ns1:lstStyle/>
                    <ns1:p>
                      <ns1:pPr algn="ctr" indent="0" marL="0" eaLnBrk="0">
                        <ns1:buNone/>
                      </ns1:pPr>
                      <ns1:r>
                        <ns1:rPr lang="en-US" sz="1150" dirty="0">
                          <ns1:solidFill>
                            <ns1:srgbClr val="1F2328"/>
                          </ns1:solidFill>
                          <ns1:latin typeface="Malgun Gothic" pitchFamily="34" charset="0"/>
                          <ns1:ea typeface="Malgun Gothic" pitchFamily="34" charset="-122"/>
                          <ns1:cs typeface="Malgun Gothic" pitchFamily="34" charset="-120"/>
                        </ns1:rPr>
                        <ns1:t>0원 · 몇 초</ns1:t>
                      </ns1:r>
                      <ns1:endParaRPr lang="en-US" sz="1150" dirty="0">
                        <ns1:latin typeface="Malgun Gothic" charset="0"/>
                        <ns1:ea typeface="Malgun Gothic" charset="0"/>
                        <ns1:cs typeface="Malgun Gothic" charset="0"/>
                      </ns1:endParaRPr>
                    </ns1:p>
                  </ns1:txBody>
                  <ns1:tcPr marL="91440" marR="91440" marT="45720" marB="45720" anchor="ctr">
                    <ns1:lnL w="9525" cap="flat" cmpd="sng" algn="ctr">
                      <ns1:solidFill>
                        <ns1:srgbClr val="DADDE1"/>
                      </ns1:solidFill>
                      <ns1:prstDash val="solid"/>
                      <ns1:round/>
                      <ns1:headEnd type="none" w="med" len="med"/>
                      <ns1:tailEnd type="none" w="med" len="med"/>
                    </ns1:lnL>
                    <ns1:lnR w="9525" cap="flat" cmpd="sng" algn="ctr">
                      <ns1:solidFill>
                        <ns1:srgbClr val="DADDE1"/>
                      </ns1:solidFill>
                      <ns1:prstDash val="solid"/>
                      <ns1:round/>
                      <ns1:headEnd type="none" w="med" len="med"/>
                      <ns1:tailEnd type="none" w="med" len="med"/>
                    </ns1:lnR>
                    <ns1:lnT w="9525" cap="flat" cmpd="sng" algn="ctr">
                      <ns1:solidFill>
                        <ns1:srgbClr val="DADDE1"/>
                      </ns1:solidFill>
                      <ns1:prstDash val="solid"/>
                      <ns1:round/>
                      <ns1:headEnd type="none" w="med" len="med"/>
                      <ns1:tailEnd type="none" w="med" len="med"/>
                    </ns1:lnT>
                    <ns1:lnB w="9525" cap="flat" cmpd="sng" algn="ctr">
                      <ns1:solidFill>
                        <ns1:srgbClr val="DADDE1"/>
                      </ns1:solidFill>
                      <ns1:prstDash val="solid"/>
                      <ns1:round/>
                      <ns1:headEnd type="none" w="med" len="med"/>
                      <ns1:tailEnd type="none" w="med" len="med"/>
                    </ns1:lnB>
                    <ns1:solidFill>
                      <ns1:srgbClr val="FFFFFF"/>
                    </ns1:solidFill>
                  </ns1:tcPr>
                </ns1:tc>
                <ns1:tc>
                  <ns1:txBody>
                    <ns1:bodyPr/>
                    <ns1:lstStyle/>
                    <ns1:p>
                      <ns1:pPr algn="ctr" indent="0" marL="0" eaLnBrk="0">
                        <ns1:buNone/>
                      </ns1:pPr>
                      <ns1:r>
                        <ns1:rPr lang="en-US" sz="1150" dirty="0">
                          <ns1:solidFill>
                            <ns1:srgbClr val="1F2328"/>
                          </ns1:solidFill>
                          <ns1:latin typeface="Malgun Gothic" pitchFamily="34" charset="0"/>
                          <ns1:ea typeface="Malgun Gothic" pitchFamily="34" charset="-122"/>
                          <ns1:cs typeface="Malgun Gothic" pitchFamily="34" charset="-120"/>
                        </ns1:rPr>
                        <ns1:t>0원 · +5~13초</ns1:t>
                      </ns1:r>
                      <ns1:endParaRPr lang="en-US" sz="1150" dirty="0">
                        <ns1:latin typeface="Malgun Gothic" charset="0"/>
                        <ns1:ea typeface="Malgun Gothic" charset="0"/>
                        <ns1:cs typeface="Malgun Gothic" charset="0"/>
                      </ns1:endParaRPr>
                    </ns1:p>
                  </ns1:txBody>
                  <ns1:tcPr marL="91440" marR="91440" marT="45720" marB="45720" anchor="ctr">
                    <ns1:lnL w="9525" cap="flat" cmpd="sng" algn="ctr">
                      <ns1:solidFill>
                        <ns1:srgbClr val="DADDE1"/>
                      </ns1:solidFill>
                      <ns1:prstDash val="solid"/>
                      <ns1:round/>
                      <ns1:headEnd type="none" w="med" len="med"/>
                      <ns1:tailEnd type="none" w="med" len="med"/>
                    </ns1:lnL>
                    <ns1:lnR w="9525" cap="flat" cmpd="sng" algn="ctr">
                      <ns1:solidFill>
                        <ns1:srgbClr val="DADDE1"/>
                      </ns1:solidFill>
                      <ns1:prstDash val="solid"/>
                      <ns1:round/>
                      <ns1:headEnd type="none" w="med" len="med"/>
                      <ns1:tailEnd type="none" w="med" len="med"/>
                    </ns1:lnR>
                    <ns1:lnT w="9525" cap="flat" cmpd="sng" algn="ctr">
                      <ns1:solidFill>
                        <ns1:srgbClr val="DADDE1"/>
                      </ns1:solidFill>
                      <ns1:prstDash val="solid"/>
                      <ns1:round/>
                      <ns1:headEnd type="none" w="med" len="med"/>
                      <ns1:tailEnd type="none" w="med" len="med"/>
                    </ns1:lnT>
                    <ns1:lnB w="9525" cap="flat" cmpd="sng" algn="ctr">
                      <ns1:solidFill>
                        <ns1:srgbClr val="DADDE1"/>
                      </ns1:solidFill>
                      <ns1:prstDash val="solid"/>
                      <ns1:round/>
                      <ns1:headEnd type="none" w="med" len="med"/>
                      <ns1:tailEnd type="none" w="med" len="med"/>
                    </ns1:lnB>
                    <ns1:solidFill>
                      <ns1:srgbClr val="FFFFFF"/>
                    </ns1:solidFill>
                  </ns1:tcPr>
                </ns1:tc>
                <ns1:tc>
                  <ns1:txBody>
                    <ns1:bodyPr/>
                    <ns1:lstStyle/>
                    <ns1:p>
                      <ns1:pPr algn="ctr" indent="0" marL="0" eaLnBrk="0">
                        <ns1:buNone/>
                      </ns1:pPr>
                      <ns1:r>
                        <ns1:rPr lang="en-US" sz="1150" dirty="0">
                          <ns1:solidFill>
                            <ns1:srgbClr val="1F2328"/>
                          </ns1:solidFill>
                          <ns1:latin typeface="Malgun Gothic" pitchFamily="34" charset="0"/>
                          <ns1:ea typeface="Malgun Gothic" pitchFamily="34" charset="-122"/>
                          <ns1:cs typeface="Malgun Gothic" pitchFamily="34" charset="-120"/>
                        </ns1:rPr>
                        <ns1:t>장당 $0.067 · 10~30초</ns1:t>
                      </ns1:r>
                      <ns1:endParaRPr lang="en-US" sz="1150" dirty="0">
                        <ns1:latin typeface="Malgun Gothic" charset="0"/>
                        <ns1:ea typeface="Malgun Gothic" charset="0"/>
                        <ns1:cs typeface="Malgun Gothic" charset="0"/>
                      </ns1:endParaRPr>
                    </ns1:p>
                  </ns1:txBody>
                  <ns1:tcPr marL="91440" marR="91440" marT="45720" marB="45720" anchor="ctr">
                    <ns1:lnL w="9525" cap="flat" cmpd="sng" algn="ctr">
                      <ns1:solidFill>
                        <ns1:srgbClr val="DADDE1"/>
                      </ns1:solidFill>
                      <ns1:prstDash val="solid"/>
                      <ns1:round/>
                      <ns1:headEnd type="none" w="med" len="med"/>
                      <ns1:tailEnd type="none" w="med" len="med"/>
                    </ns1:lnL>
                    <ns1:lnR w="9525" cap="flat" cmpd="sng" algn="ctr">
                      <ns1:solidFill>
                        <ns1:srgbClr val="DADDE1"/>
                      </ns1:solidFill>
                      <ns1:prstDash val="solid"/>
                      <ns1:round/>
                      <ns1:headEnd type="none" w="med" len="med"/>
                      <ns1:tailEnd type="none" w="med" len="med"/>
                    </ns1:lnR>
                    <ns1:lnT w="9525" cap="flat" cmpd="sng" algn="ctr">
                      <ns1:solidFill>
                        <ns1:srgbClr val="DADDE1"/>
                      </ns1:solidFill>
                      <ns1:prstDash val="solid"/>
                      <ns1:round/>
                      <ns1:headEnd type="none" w="med" len="med"/>
                      <ns1:tailEnd type="none" w="med" len="med"/>
                    </ns1:lnT>
                    <ns1:lnB w="9525" cap="flat" cmpd="sng" algn="ctr">
                      <ns1:solidFill>
                        <ns1:srgbClr val="DADDE1"/>
                      </ns1:solidFill>
                      <ns1:prstDash val="solid"/>
                      <ns1:round/>
                      <ns1:headEnd type="none" w="med" len="med"/>
                      <ns1:tailEnd type="none" w="med" len="med"/>
                    </ns1:lnB>
                    <ns1:solidFill>
                      <ns1:srgbClr val="FFFFFF"/>
                    </ns1:solidFill>
                  </ns1:tcPr>
                </ns1:tc>
              </ns1:tr>
            </ns1:tbl>
          </ns1:graphicData>
        </ns1:graphic>
      </ns0:graphicFrame>
      <ns0:sp>
        <ns0:nvSpPr>
          <ns0:cNvPr id="13" name="Text 7"/>
          <ns0:cNvSpPr txBox="1"/>
          <ns0:nvPr/>
        </ns0:nvSpPr>
        <ns0:spPr>
          <ns1:xfrm>
            <ns1:off x="457200" y="4526280"/>
            <ns1:ext cx="8229600" cy="274320"/>
          </ns1:xfrm>
          <ns1:prstGeom prst="rect">
            <ns1:avLst/>
          </ns1:prstGeom>
          <ns1:noFill/>
          <ns1:ln/>
        </ns0:spPr>
        <ns0:txBody>
          <ns1:bodyPr wrap="square" lIns="0" tIns="0" rIns="0" bIns="0" rtlCol="0" anchor="t"/>
          <ns1:lstStyle/>
          <ns1:p>
            <ns1:pPr indent="0" marL="0" eaLnBrk="0">
              <ns1:buNone/>
            </ns1:pPr>
            <ns1:r>
              <ns1:rPr lang="ko-KR" altLang="en-US" sz="1050" dirty="0">
                <ns1:solidFill>
                  <ns1:srgbClr val="5F6670"/>
                </ns1:solidFill>
                <ns1:latin typeface="Malgun Gothic" pitchFamily="34" charset="0"/>
                <ns1:ea typeface="Malgun Gothic" pitchFamily="34" charset="-122"/>
                <ns1:cs typeface="Malgun Gothic" pitchFamily="34" charset="-120"/>
              </ns1:rPr>
              <ns1:t>픽셀 일치는 크기 변경·압축에도 달라진다. 방 구조 보존율이나 종합 품질 점수가 아니다.</ns1:t>
            </ns1:r>
            <ns1:endParaRPr lang="ko-KR" sz="1050" dirty="0"/>
          </ns1:p>
        </ns0:txBody>
      </ns0:sp>
    </ns0:spTree>
  </ns0:cSld>
  <ns0:clrMapOvr>
    <ns1:masterClrMapping/>
  </ns0:clrMapOvr>
</ns0:sld>
</file>

<file path=ppt/slides/slide10.xml><?xml version="1.0" encoding="utf-8"?>
<ns0:sld xmlns:ns0="http://schemas.openxmlformats.org/presentationml/2006/main" xmlns:ns1="http://schemas.openxmlformats.org/drawingml/2006/main" xmlns:ns2="http://schemas.openxmlformats.org/officeDocument/2006/relationships">
  <ns0:cSld name="Slide 10">
    <ns0:bg>
      <ns0:bgPr>
        <ns1:solidFill>
          <ns1:srgbClr val="FFFFFF"/>
        </ns1:solidFill>
      </ns0:bgPr>
    </ns0:bg>
    <ns0:spTree>
      <ns0:nvGrpSpPr>
        <ns0:cNvPr id="1" name=""/>
        <ns0:cNvGrpSpPr/>
        <ns0:nvPr/>
      </ns0:nvGrpSpPr>
      <ns0:grpSpPr>
        <ns1:xfrm>
          <ns1:off x="0" y="0"/>
          <ns1:ext cx="0" cy="0"/>
          <ns1:chOff x="0" y="0"/>
          <ns1:chExt cx="0" cy="0"/>
        </ns1:xfrm>
      </ns0:grpSpPr>
      <ns0:sp>
        <ns0:nvSpPr>
          <ns0:cNvPr id="2" name="Shape 0"/>
          <ns0:cNvSpPr/>
          <ns0:nvPr/>
        </ns0:nvSpPr>
        <ns0:spPr>
          <ns1:xfrm>
            <ns1:off x="457200" y="329184"/>
            <ns1:ext cx="420624" cy="420624"/>
          </ns1:xfrm>
          <ns1:prstGeom prst="ellipse">
            <ns1:avLst/>
          </ns1:prstGeom>
          <ns1:solidFill>
            <ns1:srgbClr val="C8553D"/>
          </ns1:solidFill>
          <ns1:ln w="12700">
            <ns1:solidFill>
              <ns1:srgbClr val="C8553D"/>
            </ns1:solidFill>
            <ns1:prstDash val="solid"/>
          </ns1:ln>
        </ns0:spPr>
      </ns0:sp>
      <ns0:sp>
        <ns0:nvSpPr>
          <ns0:cNvPr id="3" name="Text 1"/>
          <ns0:cNvSpPr txBox="1"/>
          <ns0:nvPr/>
        </ns0:nvSpPr>
        <ns0:spPr>
          <ns1:xfrm>
            <ns1:off x="457200" y="329184"/>
            <ns1:ext cx="420624" cy="420624"/>
          </ns1:xfrm>
          <ns1:prstGeom prst="rect">
            <ns1:avLst/>
          </ns1:prstGeom>
          <ns1:noFill/>
          <ns1:ln/>
        </ns0:spPr>
        <ns0:txBody>
          <ns1:bodyPr wrap="square" lIns="0" tIns="0" rIns="0" bIns="0" rtlCol="0" anchor="ctr"/>
          <ns1:lstStyle/>
          <ns1:p>
            <ns1:pPr algn="ctr" indent="0" marL="0" eaLnBrk="0">
              <ns1:buNone/>
            </ns1:pPr>
            <ns1:r>
              <ns1:rPr lang="ko-KR" altLang="en-US" sz="1500" b="1" dirty="0">
                <ns1:solidFill>
                  <ns1:srgbClr val="FFFFFF"/>
                </ns1:solidFill>
                <ns1:latin typeface="Malgun Gothic" pitchFamily="34" charset="0"/>
                <ns1:ea typeface="Malgun Gothic" pitchFamily="34" charset="-122"/>
                <ns1:cs typeface="Malgun Gothic" pitchFamily="34" charset="-120"/>
              </ns1:rPr>
              <ns1:t>9</ns1:t>
            </ns1:r>
            <ns1:endParaRPr lang="ko-KR" sz="1500" dirty="0"/>
          </ns1:p>
        </ns0:txBody>
      </ns0:sp>
      <ns0:sp>
        <ns0:nvSpPr>
          <ns0:cNvPr id="4" name="Text 2"/>
          <ns0:cNvSpPr txBox="1"/>
          <ns0:nvPr/>
        </ns0:nvSpPr>
        <ns0:spPr>
          <ns1:xfrm>
            <ns1:off x="1024128" y="274320"/>
            <ns1:ext cx="7680960" cy="530352"/>
          </ns1:xfrm>
          <ns1:prstGeom prst="rect">
            <ns1:avLst/>
          </ns1:prstGeom>
          <ns1:noFill/>
          <ns1:ln/>
        </ns0:spPr>
        <ns0:txBody>
          <ns1:bodyPr wrap="square" lIns="0" tIns="0" rIns="0" bIns="0" rtlCol="0" anchor="ctr"/>
          <ns1:lstStyle/>
          <ns1:p>
            <ns1:pPr indent="0" marL="0" eaLnBrk="0">
              <ns1:buNone/>
            </ns1:pPr>
            <ns1:r>
              <ns1:rPr lang="ko-KR" altLang="en-US" sz="2400" b="1" dirty="0">
                <ns1:solidFill>
                  <ns1:srgbClr val="1F2328"/>
                </ns1:solidFill>
                <ns1:latin typeface="Malgun Gothic" pitchFamily="34" charset="0"/>
                <ns1:ea typeface="Malgun Gothic" pitchFamily="34" charset="-122"/>
                <ns1:cs typeface="Malgun Gothic" pitchFamily="34" charset="-120"/>
              </ns1:rPr>
              <ns1:t>이전 다듬기 실험: 인식 가능성과 제품 동일성</ns1:t>
            </ns1:r>
            <ns1:endParaRPr lang="ko-KR" sz="2400" dirty="0"/>
          </ns1:p>
        </ns0:txBody>
      </ns0:sp>
      <ns0:sp>
        <ns0:nvSpPr>
          <ns0:cNvPr id="5" name="Text 3"/>
          <ns0:cNvSpPr txBox="1"/>
          <ns0:nvPr/>
        </ns0:nvSpPr>
        <ns0:spPr>
          <ns1:xfrm>
            <ns1:off x="457200" y="4901184"/>
            <ns1:ext cx="8229600" cy="128016"/>
          </ns1:xfrm>
          <ns1:prstGeom prst="rect">
            <ns1:avLst/>
          </ns1:prstGeom>
          <ns1:noFill/>
          <ns1:ln/>
        </ns0:spPr>
        <ns0:txBody>
          <ns1:bodyPr wrap="square" lIns="0" tIns="0" rIns="0" bIns="0" rtlCol="0" anchor="t"/>
          <ns1:lstStyle/>
          <ns1:p>
            <ns1:pPr indent="0" marL="0" eaLnBrk="0">
              <ns1:buNone/>
            </ns1:pPr>
            <ns1:r>
              <ns1:rPr lang="ko-KR" altLang="en-US" sz="800" dirty="0">
                <ns1:solidFill>
                  <ns1:srgbClr val="5F6670"/>
                </ns1:solidFill>
                <ns1:latin typeface="Malgun Gothic" pitchFamily="34" charset="0"/>
                <ns1:ea typeface="Malgun Gothic" pitchFamily="34" charset="-122"/>
                <ns1:cs typeface="Malgun Gothic" pitchFamily="34" charset="-120"/>
              </ns1:rPr>
              <ns1:t>2026-09-19 이전 구현의 실험 기록 · 09-21 수정 후 품질은 아직 재측정하지 않음</ns1:t>
            </ns1:r>
            <ns1:endParaRPr lang="ko-KR" sz="800" dirty="0"/>
          </ns1:p>
        </ns0:txBody>
      </ns0:sp>
      <ns0:pic>
        <ns0:nvPicPr>
          <ns0:cNvPr id="6" name="Image 0" descr="/Users/minyoung/Library/Mobile Documents/com~apple~CloudDocs/GTEC/2-2/Capstone/presentation/assets/sd_small.jpg">    </ns0:cNvPr>
          <ns0:cNvPicPr>
            <ns1:picLocks noChangeAspect="1"/>
          </ns0:cNvPicPr>
          <ns0:nvPr/>
        </ns0:nvPicPr>
        <ns0:blipFill>
          <ns1:blip ns2:embed="rId1"/>
          <ns1:stretch>
            <ns1:fillRect/>
          </ns1:stretch>
        </ns0:blipFill>
        <ns0:spPr>
          <ns1:xfrm>
            <ns1:off x="457200" y="1005840"/>
            <ns1:ext cx="8229600" cy="1715617"/>
          </ns1:xfrm>
          <ns1:prstGeom prst="rect">
            <ns1:avLst/>
          </ns1:prstGeom>
        </ns0:spPr>
      </ns0:pic>
      <ns0:sp>
        <ns0:nvSpPr>
          <ns0:cNvPr id="7" name="Shape 4"/>
          <ns0:cNvSpPr/>
          <ns0:nvPr/>
        </ns0:nvSpPr>
        <ns0:spPr>
          <ns1:xfrm>
            <ns1:off x="457200" y="3017520"/>
            <ns1:ext cx="2606040" cy="1234440"/>
          </ns1:xfrm>
          <ns1:prstGeom prst="roundRect">
            <ns1:avLst>
              <ns1:gd name="adj" fmla="val 5926"/>
            </ns1:avLst>
          </ns1:prstGeom>
          <ns1:solidFill>
            <ns1:srgbClr val="FBECE8"/>
          </ns1:solidFill>
          <ns1:ln w="12700">
            <ns1:solidFill>
              <ns1:srgbClr val="FBECE8"/>
            </ns1:solidFill>
            <ns1:prstDash val="solid"/>
          </ns1:ln>
        </ns0:spPr>
      </ns0:sp>
      <ns0:sp>
        <ns0:nvSpPr>
          <ns0:cNvPr id="8" name="Text 5"/>
          <ns0:cNvSpPr txBox="1"/>
          <ns0:nvPr/>
        </ns0:nvSpPr>
        <ns0:spPr>
          <ns1:xfrm>
            <ns1:off x="594360" y="3108960"/>
            <ns1:ext cx="2331720" cy="274320"/>
          </ns1:xfrm>
          <ns1:prstGeom prst="rect">
            <ns1:avLst/>
          </ns1:prstGeom>
          <ns1:noFill/>
          <ns1:ln/>
        </ns0:spPr>
        <ns0:txBody>
          <ns1:bodyPr wrap="square" lIns="0" tIns="0" rIns="0" bIns="0" rtlCol="0" anchor="t"/>
          <ns1:lstStyle/>
          <ns1:p>
            <ns1:pPr indent="0" marL="0" eaLnBrk="0">
              <ns1:buNone/>
            </ns1:pPr>
            <ns1:r>
              <ns1:rPr lang="ko-KR" altLang="en-US" sz="1100" dirty="0">
                <ns1:solidFill>
                  <ns1:srgbClr val="5F6670"/>
                </ns1:solidFill>
                <ns1:latin typeface="Malgun Gothic" pitchFamily="34" charset="0"/>
                <ns1:ea typeface="Malgun Gothic" pitchFamily="34" charset="-122"/>
                <ns1:cs typeface="Malgun Gothic" pitchFamily="34" charset="-120"/>
              </ns1:rPr>
              <ns1:t>이미지 통째로 다시 그리기</ns1:t>
            </ns1:r>
            <ns1:endParaRPr lang="ko-KR" sz="1100" dirty="0"/>
          </ns1:p>
        </ns0:txBody>
      </ns0:sp>
      <ns0:sp>
        <ns0:nvSpPr>
          <ns0:cNvPr id="9" name="Text 6"/>
          <ns0:cNvSpPr txBox="1"/>
          <ns0:nvPr/>
        </ns0:nvSpPr>
        <ns0:spPr>
          <ns1:xfrm>
            <ns1:off x="594360" y="3401568"/>
            <ns1:ext cx="2331720" cy="411480"/>
          </ns1:xfrm>
          <ns1:prstGeom prst="rect">
            <ns1:avLst/>
          </ns1:prstGeom>
          <ns1:noFill/>
          <ns1:ln/>
        </ns0:spPr>
        <ns0:txBody>
          <ns1:bodyPr wrap="square" lIns="0" tIns="0" rIns="0" bIns="0" rtlCol="0" anchor="t"/>
          <ns1:lstStyle/>
          <ns1:p>
            <ns1:pPr indent="0" marL="0" eaLnBrk="0">
              <ns1:buNone/>
            </ns1:pPr>
            <ns1:r>
              <ns1:rPr lang="ko-KR" altLang="en-US" sz="1900" b="1" dirty="0">
                <ns1:solidFill>
                  <ns1:srgbClr val="C8553D"/>
                </ns1:solidFill>
                <ns1:latin typeface="Malgun Gothic" pitchFamily="34" charset="0"/>
                <ns1:ea typeface="Malgun Gothic" pitchFamily="34" charset="-122"/>
                <ns1:cs typeface="Malgun Gothic" pitchFamily="34" charset="-120"/>
              </ns1:rPr>
              <ns1:t>인식 가능 0/4</ns1:t>
            </ns1:r>
            <ns1:endParaRPr lang="ko-KR" sz="1900" dirty="0"/>
          </ns1:p>
        </ns0:txBody>
      </ns0:sp>
      <ns0:sp>
        <ns0:nvSpPr>
          <ns0:cNvPr id="10" name="Text 7"/>
          <ns0:cNvSpPr txBox="1"/>
          <ns0:nvPr/>
        </ns0:nvSpPr>
        <ns0:spPr>
          <ns1:xfrm>
            <ns1:off x="594360" y="3840480"/>
            <ns1:ext cx="2331720" cy="320040"/>
          </ns1:xfrm>
          <ns1:prstGeom prst="rect">
            <ns1:avLst/>
          </ns1:prstGeom>
          <ns1:noFill/>
          <ns1:ln/>
        </ns0:spPr>
        <ns0:txBody>
          <ns1:bodyPr wrap="square" lIns="0" tIns="0" rIns="0" bIns="0" rtlCol="0" anchor="t"/>
          <ns1:lstStyle/>
          <ns1:p>
            <ns1:pPr indent="0" marL="0" eaLnBrk="0">
              <ns1:buNone/>
            </ns1:pPr>
            <ns1:r>
              <ns1:rPr lang="ko-KR" altLang="en-US" sz="1050" dirty="0">
                <ns1:solidFill>
                  <ns1:srgbClr val="5F6670"/>
                </ns1:solidFill>
                <ns1:latin typeface="Malgun Gothic" pitchFamily="34" charset="0"/>
                <ns1:ea typeface="Malgun Gothic" pitchFamily="34" charset="-122"/>
                <ns1:cs typeface="Malgun Gothic" pitchFamily="34" charset="-120"/>
              </ns1:rPr>
              <ns1:t>28~43초</ns1:t>
            </ns1:r>
            <ns1:endParaRPr lang="ko-KR" sz="1050" dirty="0"/>
          </ns1:p>
        </ns0:txBody>
      </ns0:sp>
      <ns0:sp>
        <ns0:nvSpPr>
          <ns0:cNvPr id="11" name="Shape 8"/>
          <ns0:cNvSpPr/>
          <ns0:nvPr/>
        </ns0:nvSpPr>
        <ns0:spPr>
          <ns1:xfrm>
            <ns1:off x="3246120" y="3017520"/>
            <ns1:ext cx="2606040" cy="1234440"/>
          </ns1:xfrm>
          <ns1:prstGeom prst="roundRect">
            <ns1:avLst>
              <ns1:gd name="adj" fmla="val 5926"/>
            </ns1:avLst>
          </ns1:prstGeom>
          <ns1:solidFill>
            <ns1:srgbClr val="E9F1EB"/>
          </ns1:solidFill>
          <ns1:ln w="12700">
            <ns1:solidFill>
              <ns1:srgbClr val="E9F1EB"/>
            </ns1:solidFill>
            <ns1:prstDash val="solid"/>
          </ns1:ln>
        </ns0:spPr>
      </ns0:sp>
      <ns0:sp>
        <ns0:nvSpPr>
          <ns0:cNvPr id="12" name="Text 9"/>
          <ns0:cNvSpPr txBox="1"/>
          <ns0:nvPr/>
        </ns0:nvSpPr>
        <ns0:spPr>
          <ns1:xfrm>
            <ns1:off x="3383280" y="3108960"/>
            <ns1:ext cx="2331720" cy="274320"/>
          </ns1:xfrm>
          <ns1:prstGeom prst="rect">
            <ns1:avLst/>
          </ns1:prstGeom>
          <ns1:noFill/>
          <ns1:ln/>
        </ns0:spPr>
        <ns0:txBody>
          <ns1:bodyPr wrap="square" lIns="0" tIns="0" rIns="0" bIns="0" rtlCol="0" anchor="t"/>
          <ns1:lstStyle/>
          <ns1:p>
            <ns1:pPr indent="0" marL="0" eaLnBrk="0">
              <ns1:buNone/>
            </ns1:pPr>
            <ns1:r>
              <ns1:rPr lang="ko-KR" altLang="en-US" sz="1100" dirty="0">
                <ns1:solidFill>
                  <ns1:srgbClr val="5F6670"/>
                </ns1:solidFill>
                <ns1:latin typeface="Malgun Gothic" pitchFamily="34" charset="0"/>
                <ns1:ea typeface="Malgun Gothic" pitchFamily="34" charset="-122"/>
                <ns1:cs typeface="Malgun Gothic" pitchFamily="34" charset="-120"/>
              </ns1:rPr>
              <ns1:t>가구 주변만 키워서, 강도 0.35</ns1:t>
            </ns1:r>
            <ns1:endParaRPr lang="ko-KR" sz="1100" dirty="0"/>
          </ns1:p>
        </ns0:txBody>
      </ns0:sp>
      <ns0:sp>
        <ns0:nvSpPr>
          <ns0:cNvPr id="13" name="Text 10"/>
          <ns0:cNvSpPr txBox="1"/>
          <ns0:nvPr/>
        </ns0:nvSpPr>
        <ns0:spPr>
          <ns1:xfrm>
            <ns1:off x="3383280" y="3401568"/>
            <ns1:ext cx="2331720" cy="411480"/>
          </ns1:xfrm>
          <ns1:prstGeom prst="rect">
            <ns1:avLst/>
          </ns1:prstGeom>
          <ns1:noFill/>
          <ns1:ln/>
        </ns0:spPr>
        <ns0:txBody>
          <ns1:bodyPr wrap="square" lIns="0" tIns="0" rIns="0" bIns="0" rtlCol="0" anchor="t"/>
          <ns1:lstStyle/>
          <ns1:p>
            <ns1:pPr indent="0" marL="0" eaLnBrk="0">
              <ns1:buNone/>
            </ns1:pPr>
            <ns1:r>
              <ns1:rPr lang="ko-KR" altLang="en-US" sz="1900" b="1" dirty="0">
                <ns1:solidFill>
                  <ns1:srgbClr val="5E8A6A"/>
                </ns1:solidFill>
                <ns1:latin typeface="Malgun Gothic" pitchFamily="34" charset="0"/>
                <ns1:ea typeface="Malgun Gothic" pitchFamily="34" charset="-122"/>
                <ns1:cs typeface="Malgun Gothic" pitchFamily="34" charset="-120"/>
              </ns1:rPr>
              <ns1:t>인식 가능 4/4</ns1:t>
            </ns1:r>
            <ns1:endParaRPr lang="ko-KR" sz="1900" dirty="0"/>
          </ns1:p>
        </ns0:txBody>
      </ns0:sp>
      <ns0:sp>
        <ns0:nvSpPr>
          <ns0:cNvPr id="14" name="Text 11"/>
          <ns0:cNvSpPr txBox="1"/>
          <ns0:nvPr/>
        </ns0:nvSpPr>
        <ns0:spPr>
          <ns1:xfrm>
            <ns1:off x="3383280" y="3840480"/>
            <ns1:ext cx="2331720" cy="320040"/>
          </ns1:xfrm>
          <ns1:prstGeom prst="rect">
            <ns1:avLst/>
          </ns1:prstGeom>
          <ns1:noFill/>
          <ns1:ln/>
        </ns0:spPr>
        <ns0:txBody>
          <ns1:bodyPr wrap="square" lIns="0" tIns="0" rIns="0" bIns="0" rtlCol="0" anchor="t"/>
          <ns1:lstStyle/>
          <ns1:p>
            <ns1:pPr indent="0" marL="0" eaLnBrk="0">
              <ns1:buNone/>
            </ns1:pPr>
            <ns1:r>
              <ns1:rPr lang="ko-KR" altLang="en-US" sz="1050" dirty="0">
                <ns1:solidFill>
                  <ns1:srgbClr val="5F6670"/>
                </ns1:solidFill>
                <ns1:latin typeface="Malgun Gothic" pitchFamily="34" charset="0"/>
                <ns1:ea typeface="Malgun Gothic" pitchFamily="34" charset="-122"/>
                <ns1:cs typeface="Malgun Gothic" pitchFamily="34" charset="-120"/>
              </ns1:rPr>
              <ns1:t>5~8초 · 색·무늬 변경 있음</ns1:t>
            </ns1:r>
            <ns1:endParaRPr lang="ko-KR" sz="1050" dirty="0"/>
          </ns1:p>
        </ns0:txBody>
      </ns0:sp>
      <ns0:sp>
        <ns0:nvSpPr>
          <ns0:cNvPr id="15" name="Shape 12"/>
          <ns0:cNvSpPr/>
          <ns0:nvPr/>
        </ns0:nvSpPr>
        <ns0:spPr>
          <ns1:xfrm>
            <ns1:off x="6035040" y="3017520"/>
            <ns1:ext cx="2606040" cy="1234440"/>
          </ns1:xfrm>
          <ns1:prstGeom prst="roundRect">
            <ns1:avLst>
              <ns1:gd name="adj" fmla="val 5926"/>
            </ns1:avLst>
          </ns1:prstGeom>
          <ns1:solidFill>
            <ns1:srgbClr val="F2F3F1"/>
          </ns1:solidFill>
          <ns1:ln w="12700">
            <ns1:solidFill>
              <ns1:srgbClr val="F2F3F1"/>
            </ns1:solidFill>
            <ns1:prstDash val="solid"/>
          </ns1:ln>
        </ns0:spPr>
      </ns0:sp>
      <ns0:sp>
        <ns0:nvSpPr>
          <ns0:cNvPr id="16" name="Text 13"/>
          <ns0:cNvSpPr txBox="1"/>
          <ns0:nvPr/>
        </ns0:nvSpPr>
        <ns0:spPr>
          <ns1:xfrm>
            <ns1:off x="6172200" y="3108960"/>
            <ns1:ext cx="2331720" cy="274320"/>
          </ns1:xfrm>
          <ns1:prstGeom prst="rect">
            <ns1:avLst/>
          </ns1:prstGeom>
          <ns1:noFill/>
          <ns1:ln/>
        </ns0:spPr>
        <ns0:txBody>
          <ns1:bodyPr wrap="square" lIns="0" tIns="0" rIns="0" bIns="0" rtlCol="0" anchor="t"/>
          <ns1:lstStyle/>
          <ns1:p>
            <ns1:pPr indent="0" marL="0" eaLnBrk="0">
              <ns1:buNone/>
            </ns1:pPr>
            <ns1:r>
              <ns1:rPr lang="ko-KR" altLang="en-US" sz="1100" dirty="0">
                <ns1:solidFill>
                  <ns1:srgbClr val="5F6670"/>
                </ns1:solidFill>
                <ns1:latin typeface="Malgun Gothic" pitchFamily="34" charset="0"/>
                <ns1:ea typeface="Malgun Gothic" pitchFamily="34" charset="-122"/>
                <ns1:cs typeface="Malgun Gothic" pitchFamily="34" charset="-120"/>
              </ns1:rPr>
              <ns1:t>시험한 설정에서는</ns1:t>
            </ns1:r>
            <ns1:endParaRPr lang="ko-KR" sz="1100" dirty="0"/>
          </ns1:p>
        </ns0:txBody>
      </ns0:sp>
      <ns0:sp>
        <ns0:nvSpPr>
          <ns0:cNvPr id="17" name="Text 14"/>
          <ns0:cNvSpPr txBox="1"/>
          <ns0:nvPr/>
        </ns0:nvSpPr>
        <ns0:spPr>
          <ns1:xfrm>
            <ns1:off x="6172200" y="3401568"/>
            <ns1:ext cx="2331720" cy="411480"/>
          </ns1:xfrm>
          <ns1:prstGeom prst="rect">
            <ns1:avLst/>
          </ns1:prstGeom>
          <ns1:noFill/>
          <ns1:ln/>
        </ns0:spPr>
        <ns0:txBody>
          <ns1:bodyPr wrap="square" lIns="0" tIns="0" rIns="0" bIns="0" rtlCol="0" anchor="t"/>
          <ns1:lstStyle/>
          <ns1:p>
            <ns1:pPr indent="0" marL="0" eaLnBrk="0">
              <ns1:buNone/>
            </ns1:pPr>
            <ns1:r>
              <ns1:rPr lang="ko-KR" altLang="en-US" sz="1900" b="1" dirty="0">
                <ns1:solidFill>
                  <ns1:srgbClr val="5F6670"/>
                </ns1:solidFill>
                <ns1:latin typeface="Malgun Gothic" pitchFamily="34" charset="0"/>
                <ns1:ea typeface="Malgun Gothic" pitchFamily="34" charset="-122"/>
                <ns1:cs typeface="Malgun Gothic" pitchFamily="34" charset="-120"/>
              </ns1:rPr>
              <ns1:t>각도는 그대로</ns1:t>
            </ns1:r>
            <ns1:endParaRPr lang="ko-KR" sz="1900" dirty="0"/>
          </ns1:p>
        </ns0:txBody>
      </ns0:sp>
      <ns0:sp>
        <ns0:nvSpPr>
          <ns0:cNvPr id="18" name="Text 15"/>
          <ns0:cNvSpPr txBox="1"/>
          <ns0:nvPr/>
        </ns0:nvSpPr>
        <ns0:spPr>
          <ns1:xfrm>
            <ns1:off x="6172200" y="3840480"/>
            <ns1:ext cx="2331720" cy="320040"/>
          </ns1:xfrm>
          <ns1:prstGeom prst="rect">
            <ns1:avLst/>
          </ns1:prstGeom>
          <ns1:noFill/>
          <ns1:ln/>
        </ns0:spPr>
        <ns0:txBody>
          <ns1:bodyPr wrap="square" lIns="0" tIns="0" rIns="0" bIns="0" rtlCol="0" anchor="t"/>
          <ns1:lstStyle/>
          <ns1:p>
            <ns1:pPr indent="0" marL="0" eaLnBrk="0">
              <ns1:buNone/>
            </ns1:pPr>
            <ns1:r>
              <ns1:rPr lang="ko-KR" altLang="en-US" sz="1050" dirty="0">
                <ns1:solidFill>
                  <ns1:srgbClr val="5F6670"/>
                </ns1:solidFill>
                <ns1:latin typeface="Malgun Gothic" pitchFamily="34" charset="0"/>
                <ns1:ea typeface="Malgun Gothic" pitchFamily="34" charset="-122"/>
                <ns1:cs typeface="Malgun Gothic" pitchFamily="34" charset="-120"/>
              </ns1:rPr>
              <ns1:t>깊이 조건이 합성본에서 오기 때문</ns1:t>
            </ns1:r>
            <ns1:endParaRPr lang="ko-KR" sz="1050" dirty="0"/>
          </ns1:p>
        </ns0:txBody>
      </ns0:sp>
      <ns0:sp>
        <ns0:nvSpPr>
          <ns0:cNvPr id="19" name="Text 16"/>
          <ns0:cNvSpPr txBox="1"/>
          <ns0:nvPr/>
        </ns0:nvSpPr>
        <ns0:spPr>
          <ns1:xfrm>
            <ns1:off x="457200" y="4434840"/>
            <ns1:ext cx="8229600" cy="365760"/>
          </ns1:xfrm>
          <ns1:prstGeom prst="rect">
            <ns1:avLst/>
          </ns1:prstGeom>
          <ns1:noFill/>
          <ns1:ln/>
        </ns0:spPr>
        <ns0:txBody>
          <ns1:bodyPr wrap="square" lIns="0" tIns="0" rIns="0" bIns="0" rtlCol="0" anchor="t"/>
          <ns1:lstStyle/>
          <ns1:p>
            <ns1:pPr indent="0" marL="0" eaLnBrk="0">
              <ns1:buNone/>
            </ns1:pPr>
            <ns1:r>
              <ns1:rPr lang="ko-KR" altLang="en-US" sz="1400" b="1" dirty="0">
                <ns1:solidFill>
                  <ns1:srgbClr val="5E8A6A"/>
                </ns1:solidFill>
                <ns1:latin typeface="Malgun Gothic" pitchFamily="34" charset="0"/>
                <ns1:ea typeface="Malgun Gothic" pitchFamily="34" charset="-122"/>
                <ns1:cs typeface="Malgun Gothic" pitchFamily="34" charset="-120"/>
              </ns1:rPr>
              <ns1:t>약하게 다듬어도 색·무늬가 바뀔 수 있다 — 실제 제품 동일성은 미검증</ns1:t>
            </ns1:r>
            <ns1:endParaRPr lang="ko-KR" sz="1400" dirty="0"/>
          </ns1:p>
        </ns0:txBody>
      </ns0:sp>
    </ns0:spTree>
  </ns0:cSld>
  <ns0:clrMapOvr>
    <ns1:masterClrMapping/>
  </ns0:clrMapOvr>
</ns0:sld>
</file>

<file path=ppt/slides/slide11.xml><?xml version="1.0" encoding="utf-8"?>
<ns0:sld xmlns:ns0="http://schemas.openxmlformats.org/presentationml/2006/main" xmlns:ns1="http://schemas.openxmlformats.org/drawingml/2006/main">
  <ns0:cSld name="Slide 11">
    <ns0:bg>
      <ns0:bgPr>
        <ns1:solidFill>
          <ns1:srgbClr val="FFFFFF"/>
        </ns1:solidFill>
      </ns0:bgPr>
    </ns0:bg>
    <ns0:spTree>
      <ns0:nvGrpSpPr>
        <ns0:cNvPr id="1" name=""/>
        <ns0:cNvGrpSpPr/>
        <ns0:nvPr/>
      </ns0:nvGrpSpPr>
      <ns0:grpSpPr>
        <ns1:xfrm>
          <ns1:off x="0" y="0"/>
          <ns1:ext cx="0" cy="0"/>
          <ns1:chOff x="0" y="0"/>
          <ns1:chExt cx="0" cy="0"/>
        </ns1:xfrm>
      </ns0:grpSpPr>
      <ns0:sp>
        <ns0:nvSpPr>
          <ns0:cNvPr id="2" name="Shape 0"/>
          <ns0:cNvSpPr/>
          <ns0:nvPr/>
        </ns0:nvSpPr>
        <ns0:spPr>
          <ns1:xfrm>
            <ns1:off x="457200" y="329184"/>
            <ns1:ext cx="420624" cy="420624"/>
          </ns1:xfrm>
          <ns1:prstGeom prst="ellipse">
            <ns1:avLst/>
          </ns1:prstGeom>
          <ns1:solidFill>
            <ns1:srgbClr val="C8553D"/>
          </ns1:solidFill>
          <ns1:ln w="12700">
            <ns1:solidFill>
              <ns1:srgbClr val="C8553D"/>
            </ns1:solidFill>
            <ns1:prstDash val="solid"/>
          </ns1:ln>
        </ns0:spPr>
      </ns0:sp>
      <ns0:sp>
        <ns0:nvSpPr>
          <ns0:cNvPr id="3" name="Text 1"/>
          <ns0:cNvSpPr txBox="1"/>
          <ns0:nvPr/>
        </ns0:nvSpPr>
        <ns0:spPr>
          <ns1:xfrm>
            <ns1:off x="457200" y="329184"/>
            <ns1:ext cx="420624" cy="420624"/>
          </ns1:xfrm>
          <ns1:prstGeom prst="rect">
            <ns1:avLst/>
          </ns1:prstGeom>
          <ns1:noFill/>
          <ns1:ln/>
        </ns0:spPr>
        <ns0:txBody>
          <ns1:bodyPr wrap="square" lIns="0" tIns="0" rIns="0" bIns="0" rtlCol="0" anchor="ctr"/>
          <ns1:lstStyle/>
          <ns1:p>
            <ns1:pPr algn="ctr" indent="0" marL="0" eaLnBrk="0">
              <ns1:buNone/>
            </ns1:pPr>
            <ns1:r>
              <ns1:rPr lang="ko-KR" altLang="en-US" sz="1500" b="1" dirty="0">
                <ns1:solidFill>
                  <ns1:srgbClr val="FFFFFF"/>
                </ns1:solidFill>
                <ns1:latin typeface="Malgun Gothic" pitchFamily="34" charset="0"/>
                <ns1:ea typeface="Malgun Gothic" pitchFamily="34" charset="-122"/>
                <ns1:cs typeface="Malgun Gothic" pitchFamily="34" charset="-120"/>
              </ns1:rPr>
              <ns1:t>10</ns1:t>
            </ns1:r>
            <ns1:endParaRPr lang="ko-KR" sz="1500" dirty="0"/>
          </ns1:p>
        </ns0:txBody>
      </ns0:sp>
      <ns0:sp>
        <ns0:nvSpPr>
          <ns0:cNvPr id="4" name="Text 2"/>
          <ns0:cNvSpPr txBox="1"/>
          <ns0:nvPr/>
        </ns0:nvSpPr>
        <ns0:spPr>
          <ns1:xfrm>
            <ns1:off x="1024128" y="274320"/>
            <ns1:ext cx="7680960" cy="530352"/>
          </ns1:xfrm>
          <ns1:prstGeom prst="rect">
            <ns1:avLst/>
          </ns1:prstGeom>
          <ns1:noFill/>
          <ns1:ln/>
        </ns0:spPr>
        <ns0:txBody>
          <ns1:bodyPr wrap="square" lIns="0" tIns="0" rIns="0" bIns="0" rtlCol="0" anchor="ctr"/>
          <ns1:lstStyle/>
          <ns1:p>
            <ns1:pPr indent="0" marL="0" eaLnBrk="0">
              <ns1:buNone/>
            </ns1:pPr>
            <ns1:r>
              <ns1:rPr lang="ko-KR" altLang="en-US" sz="2400" b="1" dirty="0">
                <ns1:solidFill>
                  <ns1:srgbClr val="1F2328"/>
                </ns1:solidFill>
                <ns1:latin typeface="Malgun Gothic" pitchFamily="34" charset="0"/>
                <ns1:ea typeface="Malgun Gothic" pitchFamily="34" charset="-122"/>
                <ns1:cs typeface="Malgun Gothic" pitchFamily="34" charset="-120"/>
              </ns1:rPr>
              <ns1:t>범위와 한계</ns1:t>
            </ns1:r>
            <ns1:endParaRPr lang="ko-KR" sz="2400" dirty="0"/>
          </ns1:p>
        </ns0:txBody>
      </ns0:sp>
      <ns0:sp>
        <ns0:nvSpPr>
          <ns0:cNvPr id="5" name="Text 3"/>
          <ns0:cNvSpPr txBox="1"/>
          <ns0:nvPr/>
        </ns0:nvSpPr>
        <ns0:spPr>
          <ns1:xfrm>
            <ns1:off x="457200" y="4901184"/>
            <ns1:ext cx="8229600" cy="128016"/>
          </ns1:xfrm>
          <ns1:prstGeom prst="rect">
            <ns1:avLst/>
          </ns1:prstGeom>
          <ns1:noFill/>
          <ns1:ln/>
        </ns0:spPr>
        <ns0:txBody>
          <ns1:bodyPr wrap="square" lIns="0" tIns="0" rIns="0" bIns="0" rtlCol="0" anchor="t"/>
          <ns1:lstStyle/>
          <ns1:p>
            <ns1:pPr indent="0" marL="0" eaLnBrk="0">
              <ns1:buNone/>
            </ns1:pPr>
            <ns1:r>
              <ns1:rPr lang="ko-KR" altLang="en-US" sz="800" dirty="0">
                <ns1:solidFill>
                  <ns1:srgbClr val="5F6670"/>
                </ns1:solidFill>
                <ns1:latin typeface="Malgun Gothic" pitchFamily="34" charset="0"/>
                <ns1:ea typeface="Malgun Gothic" pitchFamily="34" charset="-122"/>
                <ns1:cs typeface="Malgun Gothic" pitchFamily="34" charset="-120"/>
              </ns1:rPr>
              <ns1:t>2026-09-19 이전 구현의 실험 기록 · 09-21 수정 후 품질은 아직 재측정하지 않음</ns1:t>
            </ns1:r>
            <ns1:endParaRPr lang="ko-KR" sz="800" dirty="0"/>
          </ns1:p>
        </ns0:txBody>
      </ns0:sp>
      <ns0:sp>
        <ns0:nvSpPr>
          <ns0:cNvPr id="6" name="Text 4"/>
          <ns0:cNvSpPr txBox="1"/>
          <ns0:nvPr/>
        </ns0:nvSpPr>
        <ns0:spPr>
          <ns1:xfrm>
            <ns1:off x="457200" y="1005840"/>
            <ns1:ext cx="3931920" cy="320040"/>
          </ns1:xfrm>
          <ns1:prstGeom prst="rect">
            <ns1:avLst/>
          </ns1:prstGeom>
          <ns1:noFill/>
          <ns1:ln/>
        </ns0:spPr>
        <ns0:txBody>
          <ns1:bodyPr wrap="square" lIns="0" tIns="0" rIns="0" bIns="0" rtlCol="0" anchor="t"/>
          <ns1:lstStyle/>
          <ns1:p>
            <ns1:pPr indent="0" marL="0" eaLnBrk="0">
              <ns1:buNone/>
            </ns1:pPr>
            <ns1:r>
              <ns1:rPr lang="ko-KR" altLang="en-US" sz="1400" b="1" dirty="0">
                <ns1:solidFill>
                  <ns1:srgbClr val="1F2328"/>
                </ns1:solidFill>
                <ns1:latin typeface="Malgun Gothic" pitchFamily="34" charset="0"/>
                <ns1:ea typeface="Malgun Gothic" pitchFamily="34" charset="-122"/>
                <ns1:cs typeface="Malgun Gothic" pitchFamily="34" charset="-120"/>
              </ns1:rPr>
              <ns1:t>기획서 대비</ns1:t>
            </ns1:r>
            <ns1:endParaRPr lang="ko-KR" sz="1400" dirty="0"/>
          </ns1:p>
        </ns0:txBody>
      </ns0:sp>
      <ns0:sp>
        <ns0:nvSpPr>
          <ns0:cNvPr id="7" name="Shape 5"/>
          <ns0:cNvSpPr/>
          <ns0:nvPr/>
        </ns0:nvSpPr>
        <ns0:spPr>
          <ns1:xfrm>
            <ns1:off x="457200" y="1417320"/>
            <ns1:ext cx="3931920" cy="676656"/>
          </ns1:xfrm>
          <ns1:prstGeom prst="roundRect">
            <ns1:avLst>
              <ns1:gd name="adj" fmla="val 10811"/>
            </ns1:avLst>
          </ns1:prstGeom>
          <ns1:solidFill>
            <ns1:srgbClr val="E9F1EB"/>
          </ns1:solidFill>
          <ns1:ln w="12700">
            <ns1:solidFill>
              <ns1:srgbClr val="E9F1EB"/>
            </ns1:solidFill>
            <ns1:prstDash val="solid"/>
          </ns1:ln>
        </ns0:spPr>
      </ns0:sp>
      <ns0:sp>
        <ns0:nvSpPr>
          <ns0:cNvPr id="8" name="Text 6"/>
          <ns0:cNvSpPr txBox="1"/>
          <ns0:nvPr/>
        </ns0:nvSpPr>
        <ns0:spPr>
          <ns1:xfrm>
            <ns1:off x="566928" y="1417320"/>
            <ns1:ext cx="868680" cy="676656"/>
          </ns1:xfrm>
          <ns1:prstGeom prst="rect">
            <ns1:avLst/>
          </ns1:prstGeom>
          <ns1:noFill/>
          <ns1:ln/>
        </ns0:spPr>
        <ns0:txBody>
          <ns1:bodyPr wrap="square" lIns="0" tIns="0" rIns="0" bIns="0" rtlCol="0" anchor="ctr"/>
          <ns1:lstStyle/>
          <ns1:p>
            <ns1:pPr indent="0" marL="0" eaLnBrk="0">
              <ns1:buNone/>
            </ns1:pPr>
            <ns1:r>
              <ns1:rPr lang="ko-KR" altLang="en-US" sz="1150" b="1" dirty="0">
                <ns1:solidFill>
                  <ns1:srgbClr val="5E8A6A"/>
                </ns1:solidFill>
                <ns1:latin typeface="Malgun Gothic" pitchFamily="34" charset="0"/>
                <ns1:ea typeface="Malgun Gothic" pitchFamily="34" charset="-122"/>
                <ns1:cs typeface="Malgun Gothic" pitchFamily="34" charset="-120"/>
              </ns1:rPr>
              <ns1:t>구현</ns1:t>
            </ns1:r>
            <ns1:endParaRPr lang="ko-KR" sz="1150" dirty="0"/>
          </ns1:p>
        </ns0:txBody>
      </ns0:sp>
      <ns0:sp>
        <ns0:nvSpPr>
          <ns0:cNvPr id="9" name="Text 7"/>
          <ns0:cNvSpPr txBox="1"/>
          <ns0:nvPr/>
        </ns0:nvSpPr>
        <ns0:spPr>
          <ns1:xfrm>
            <ns1:off x="1463040" y="1417320"/>
            <ns1:ext cx="2834640" cy="676656"/>
          </ns1:xfrm>
          <ns1:prstGeom prst="rect">
            <ns1:avLst/>
          </ns1:prstGeom>
          <ns1:noFill/>
          <ns1:ln/>
        </ns0:spPr>
        <ns0:txBody>
          <ns1:bodyPr wrap="square" lIns="0" tIns="0" rIns="0" bIns="0" rtlCol="0" anchor="ctr"/>
          <ns1:lstStyle/>
          <ns1:p>
            <ns1:pPr indent="0" marL="0" eaLnBrk="0">
              <ns1:buNone/>
            </ns1:pPr>
            <ns1:r>
              <ns1:rPr lang="ko-KR" altLang="en-US" sz="1050" dirty="0">
                <ns1:solidFill>
                  <ns1:srgbClr val="1F2328"/>
                </ns1:solidFill>
                <ns1:latin typeface="Malgun Gothic" pitchFamily="34" charset="0"/>
                <ns1:ea typeface="Malgun Gothic" pitchFamily="34" charset="-122"/>
                <ns1:cs typeface="Malgun Gothic" pitchFamily="34" charset="-120"/>
              </ns1:rPr>
              <ns1:t>깊이 추정 · SAM 누끼 · 높이 입력·수동 배치 · Before/After</ns1:t>
            </ns1:r>
            <ns1:endParaRPr lang="ko-KR" sz="1050" dirty="0"/>
          </ns1:p>
        </ns0:txBody>
      </ns0:sp>
      <ns0:sp>
        <ns0:nvSpPr>
          <ns0:cNvPr id="10" name="Shape 8"/>
          <ns0:cNvSpPr/>
          <ns0:nvPr/>
        </ns0:nvSpPr>
        <ns0:spPr>
          <ns1:xfrm>
            <ns1:off x="457200" y="2203704"/>
            <ns1:ext cx="3931920" cy="676656"/>
          </ns1:xfrm>
          <ns1:prstGeom prst="roundRect">
            <ns1:avLst>
              <ns1:gd name="adj" fmla="val 10811"/>
            </ns1:avLst>
          </ns1:prstGeom>
          <ns1:solidFill>
            <ns1:srgbClr val="E8EEF6"/>
          </ns1:solidFill>
          <ns1:ln w="12700">
            <ns1:solidFill>
              <ns1:srgbClr val="E8EEF6"/>
            </ns1:solidFill>
            <ns1:prstDash val="solid"/>
          </ns1:ln>
        </ns0:spPr>
      </ns0:sp>
      <ns0:sp>
        <ns0:nvSpPr>
          <ns0:cNvPr id="11" name="Text 9"/>
          <ns0:cNvSpPr txBox="1"/>
          <ns0:nvPr/>
        </ns0:nvSpPr>
        <ns0:spPr>
          <ns1:xfrm>
            <ns1:off x="566928" y="2203704"/>
            <ns1:ext cx="868680" cy="676656"/>
          </ns1:xfrm>
          <ns1:prstGeom prst="rect">
            <ns1:avLst/>
          </ns1:prstGeom>
          <ns1:noFill/>
          <ns1:ln/>
        </ns0:spPr>
        <ns0:txBody>
          <ns1:bodyPr wrap="square" lIns="0" tIns="0" rIns="0" bIns="0" rtlCol="0" anchor="ctr"/>
          <ns1:lstStyle/>
          <ns1:p>
            <ns1:pPr indent="0" marL="0" eaLnBrk="0">
              <ns1:buNone/>
            </ns1:pPr>
            <ns1:r>
              <ns1:rPr lang="ko-KR" altLang="en-US" sz="1150" b="1" dirty="0">
                <ns1:solidFill>
                  <ns1:srgbClr val="4A6FA5"/>
                </ns1:solidFill>
                <ns1:latin typeface="Malgun Gothic" pitchFamily="34" charset="0"/>
                <ns1:ea typeface="Malgun Gothic" pitchFamily="34" charset="-122"/>
                <ns1:cs typeface="Malgun Gothic" pitchFamily="34" charset="-120"/>
              </ns1:rPr>
              <ns1:t>대체</ns1:t>
            </ns1:r>
            <ns1:endParaRPr lang="ko-KR" sz="1150" dirty="0"/>
          </ns1:p>
        </ns0:txBody>
      </ns0:sp>
      <ns0:sp>
        <ns0:nvSpPr>
          <ns0:cNvPr id="12" name="Text 10"/>
          <ns0:cNvSpPr txBox="1"/>
          <ns0:nvPr/>
        </ns0:nvSpPr>
        <ns0:spPr>
          <ns1:xfrm>
            <ns1:off x="1463040" y="2203704"/>
            <ns1:ext cx="2834640" cy="676656"/>
          </ns1:xfrm>
          <ns1:prstGeom prst="rect">
            <ns1:avLst/>
          </ns1:prstGeom>
          <ns1:noFill/>
          <ns1:ln/>
        </ns0:spPr>
        <ns0:txBody>
          <ns1:bodyPr wrap="square" lIns="0" tIns="0" rIns="0" bIns="0" rtlCol="0" anchor="ctr"/>
          <ns1:lstStyle/>
          <ns1:p>
            <ns1:pPr indent="0" marL="0" eaLnBrk="0">
              <ns1:buNone/>
            </ns1:pPr>
            <ns1:r>
              <ns1:rPr lang="ko-KR" altLang="en-US" sz="1050" dirty="0">
                <ns1:solidFill>
                  <ns1:srgbClr val="1F2328"/>
                </ns1:solidFill>
                <ns1:latin typeface="Malgun Gothic" pitchFamily="34" charset="0"/>
                <ns1:ea typeface="Malgun Gothic" pitchFamily="34" charset="-122"/>
                <ns1:cs typeface="Malgun Gothic" pitchFamily="34" charset="-120"/>
              </ns1:rPr>
              <ns1:t>FastAPI → Gradio · CLIP 스타일 → 평가 지표 · 조명 설정 → 자동 조명 정합</ns1:t>
            </ns1:r>
            <ns1:endParaRPr lang="ko-KR" sz="1050" dirty="0"/>
          </ns1:p>
        </ns0:txBody>
      </ns0:sp>
      <ns0:sp>
        <ns0:nvSpPr>
          <ns0:cNvPr id="13" name="Shape 11"/>
          <ns0:cNvSpPr/>
          <ns0:nvPr/>
        </ns0:nvSpPr>
        <ns0:spPr>
          <ns1:xfrm>
            <ns1:off x="457200" y="2990088"/>
            <ns1:ext cx="3931920" cy="676656"/>
          </ns1:xfrm>
          <ns1:prstGeom prst="roundRect">
            <ns1:avLst>
              <ns1:gd name="adj" fmla="val 10811"/>
            </ns1:avLst>
          </ns1:prstGeom>
          <ns1:solidFill>
            <ns1:srgbClr val="F2F3F1"/>
          </ns1:solidFill>
          <ns1:ln w="12700">
            <ns1:solidFill>
              <ns1:srgbClr val="F2F3F1"/>
            </ns1:solidFill>
            <ns1:prstDash val="solid"/>
          </ns1:ln>
        </ns0:spPr>
      </ns0:sp>
      <ns0:sp>
        <ns0:nvSpPr>
          <ns0:cNvPr id="14" name="Text 12"/>
          <ns0:cNvSpPr txBox="1"/>
          <ns0:nvPr/>
        </ns0:nvSpPr>
        <ns0:spPr>
          <ns1:xfrm>
            <ns1:off x="566928" y="2990088"/>
            <ns1:ext cx="868680" cy="676656"/>
          </ns1:xfrm>
          <ns1:prstGeom prst="rect">
            <ns1:avLst/>
          </ns1:prstGeom>
          <ns1:noFill/>
          <ns1:ln/>
        </ns0:spPr>
        <ns0:txBody>
          <ns1:bodyPr wrap="square" lIns="0" tIns="0" rIns="0" bIns="0" rtlCol="0" anchor="ctr"/>
          <ns1:lstStyle/>
          <ns1:p>
            <ns1:pPr indent="0" marL="0" eaLnBrk="0">
              <ns1:buNone/>
            </ns1:pPr>
            <ns1:r>
              <ns1:rPr lang="ko-KR" altLang="en-US" sz="1150" b="1" dirty="0">
                <ns1:solidFill>
                  <ns1:srgbClr val="22262A"/>
                </ns1:solidFill>
                <ns1:latin typeface="Malgun Gothic" pitchFamily="34" charset="0"/>
                <ns1:ea typeface="Malgun Gothic" pitchFamily="34" charset="-122"/>
                <ns1:cs typeface="Malgun Gothic" pitchFamily="34" charset="-120"/>
              </ns1:rPr>
              <ns1:t>선택 기능</ns1:t>
            </ns1:r>
            <ns1:endParaRPr lang="ko-KR" sz="1150" dirty="0"/>
          </ns1:p>
        </ns0:txBody>
      </ns0:sp>
      <ns0:sp>
        <ns0:nvSpPr>
          <ns0:cNvPr id="15" name="Text 13"/>
          <ns0:cNvSpPr txBox="1"/>
          <ns0:nvPr/>
        </ns0:nvSpPr>
        <ns0:spPr>
          <ns1:xfrm>
            <ns1:off x="1463040" y="2990088"/>
            <ns1:ext cx="2834640" cy="676656"/>
          </ns1:xfrm>
          <ns1:prstGeom prst="rect">
            <ns1:avLst/>
          </ns1:prstGeom>
          <ns1:noFill/>
          <ns1:ln/>
        </ns0:spPr>
        <ns0:txBody>
          <ns1:bodyPr wrap="square" lIns="0" tIns="0" rIns="0" bIns="0" rtlCol="0" anchor="ctr"/>
          <ns1:lstStyle/>
          <ns1:p>
            <ns1:pPr indent="0" marL="0" eaLnBrk="0">
              <ns1:buNone/>
            </ns1:pPr>
            <ns1:r>
              <ns1:rPr lang="ko-KR" altLang="en-US" sz="1050" dirty="0">
                <ns1:solidFill>
                  <ns1:srgbClr val="1F2328"/>
                </ns1:solidFill>
                <ns1:latin typeface="Malgun Gothic" pitchFamily="34" charset="0"/>
                <ns1:ea typeface="Malgun Gothic" pitchFamily="34" charset="-122"/>
                <ns1:cs typeface="Malgun Gothic" pitchFamily="34" charset="-120"/>
              </ns1:rPr>
              <ns1:t>Stable Diffusion + ControlNet 다듬기 (기본 꺼짐)</ns1:t>
            </ns1:r>
            <ns1:endParaRPr lang="ko-KR" sz="1050" dirty="0"/>
          </ns1:p>
        </ns0:txBody>
      </ns0:sp>
      <ns0:sp>
        <ns0:nvSpPr>
          <ns0:cNvPr id="16" name="Shape 14"/>
          <ns0:cNvSpPr/>
          <ns0:nvPr/>
        </ns0:nvSpPr>
        <ns0:spPr>
          <ns1:xfrm>
            <ns1:off x="457200" y="3776472"/>
            <ns1:ext cx="3931920" cy="676656"/>
          </ns1:xfrm>
          <ns1:prstGeom prst="roundRect">
            <ns1:avLst>
              <ns1:gd name="adj" fmla="val 10811"/>
            </ns1:avLst>
          </ns1:prstGeom>
          <ns1:solidFill>
            <ns1:srgbClr val="FBECE8"/>
          </ns1:solidFill>
          <ns1:ln w="12700">
            <ns1:solidFill>
              <ns1:srgbClr val="FBECE8"/>
            </ns1:solidFill>
            <ns1:prstDash val="solid"/>
          </ns1:ln>
        </ns0:spPr>
      </ns0:sp>
      <ns0:sp>
        <ns0:nvSpPr>
          <ns0:cNvPr id="17" name="Text 15"/>
          <ns0:cNvSpPr txBox="1"/>
          <ns0:nvPr/>
        </ns0:nvSpPr>
        <ns0:spPr>
          <ns1:xfrm>
            <ns1:off x="566928" y="3776472"/>
            <ns1:ext cx="868680" cy="676656"/>
          </ns1:xfrm>
          <ns1:prstGeom prst="rect">
            <ns1:avLst/>
          </ns1:prstGeom>
          <ns1:noFill/>
          <ns1:ln/>
        </ns0:spPr>
        <ns0:txBody>
          <ns1:bodyPr wrap="square" lIns="0" tIns="0" rIns="0" bIns="0" rtlCol="0" anchor="ctr"/>
          <ns1:lstStyle/>
          <ns1:p>
            <ns1:pPr indent="0" marL="0" eaLnBrk="0">
              <ns1:buNone/>
            </ns1:pPr>
            <ns1:r>
              <ns1:rPr lang="ko-KR" altLang="en-US" sz="1150" b="1" dirty="0">
                <ns1:solidFill>
                  <ns1:srgbClr val="C8553D"/>
                </ns1:solidFill>
                <ns1:latin typeface="Malgun Gothic" pitchFamily="34" charset="0"/>
                <ns1:ea typeface="Malgun Gothic" pitchFamily="34" charset="-122"/>
                <ns1:cs typeface="Malgun Gothic" pitchFamily="34" charset="-120"/>
              </ns1:rPr>
              <ns1:t>제외</ns1:t>
            </ns1:r>
            <ns1:endParaRPr lang="ko-KR" sz="1150" dirty="0"/>
          </ns1:p>
        </ns0:txBody>
      </ns0:sp>
      <ns0:sp>
        <ns0:nvSpPr>
          <ns0:cNvPr id="18" name="Text 16"/>
          <ns0:cNvSpPr txBox="1"/>
          <ns0:nvPr/>
        </ns0:nvSpPr>
        <ns0:spPr>
          <ns1:xfrm>
            <ns1:off x="1463040" y="3776472"/>
            <ns1:ext cx="2834640" cy="676656"/>
          </ns1:xfrm>
          <ns1:prstGeom prst="rect">
            <ns1:avLst/>
          </ns1:prstGeom>
          <ns1:noFill/>
          <ns1:ln/>
        </ns0:spPr>
        <ns0:txBody>
          <ns1:bodyPr wrap="square" lIns="0" tIns="0" rIns="0" bIns="0" rtlCol="0" anchor="ctr"/>
          <ns1:lstStyle/>
          <ns1:p>
            <ns1:pPr indent="0" marL="0" eaLnBrk="0">
              <ns1:buNone/>
            </ns1:pPr>
            <ns1:r>
              <ns1:rPr lang="ko-KR" altLang="en-US" sz="1050" dirty="0">
                <ns1:solidFill>
                  <ns1:srgbClr val="1F2328"/>
                </ns1:solidFill>
                <ns1:latin typeface="Malgun Gothic" pitchFamily="34" charset="0"/>
                <ns1:ea typeface="Malgun Gothic" pitchFamily="34" charset="-122"/>
                <ns1:cs typeface="Malgun Gothic" pitchFamily="34" charset="-120"/>
              </ns1:rPr>
              <ns1:t>스타일 변환·3D (기획서 6쪽 ‘확장 목표’) · 가격 비교 · 벽지</ns1:t>
            </ns1:r>
            <ns1:endParaRPr lang="ko-KR" sz="1050" dirty="0"/>
          </ns1:p>
        </ns0:txBody>
      </ns0:sp>
      <ns0:sp>
        <ns0:nvSpPr>
          <ns0:cNvPr id="19" name="Text 17"/>
          <ns0:cNvSpPr txBox="1"/>
          <ns0:nvPr/>
        </ns0:nvSpPr>
        <ns0:spPr>
          <ns1:xfrm>
            <ns1:off x="4754880" y="1005840"/>
            <ns1:ext cx="3931920" cy="320040"/>
          </ns1:xfrm>
          <ns1:prstGeom prst="rect">
            <ns1:avLst/>
          </ns1:prstGeom>
          <ns1:noFill/>
          <ns1:ln/>
        </ns0:spPr>
        <ns0:txBody>
          <ns1:bodyPr wrap="square" lIns="0" tIns="0" rIns="0" bIns="0" rtlCol="0" anchor="t"/>
          <ns1:lstStyle/>
          <ns1:p>
            <ns1:pPr indent="0" marL="0" eaLnBrk="0">
              <ns1:buNone/>
            </ns1:pPr>
            <ns1:r>
              <ns1:rPr lang="ko-KR" altLang="en-US" sz="1400" b="1" dirty="0">
                <ns1:solidFill>
                  <ns1:srgbClr val="1F2328"/>
                </ns1:solidFill>
                <ns1:latin typeface="Malgun Gothic" pitchFamily="34" charset="0"/>
                <ns1:ea typeface="Malgun Gothic" pitchFamily="34" charset="-122"/>
                <ns1:cs typeface="Malgun Gothic" pitchFamily="34" charset="-120"/>
              </ns1:rPr>
              <ns1:t>알려진 한계</ns1:t>
            </ns1:r>
            <ns1:endParaRPr lang="ko-KR" sz="1400" dirty="0"/>
          </ns1:p>
        </ns0:txBody>
      </ns0:sp>
      <ns0:sp>
        <ns0:nvSpPr>
          <ns0:cNvPr id="20" name="Shape 18"/>
          <ns0:cNvSpPr/>
          <ns0:nvPr/>
        </ns0:nvSpPr>
        <ns0:spPr>
          <ns1:xfrm>
            <ns1:off x="4754880" y="1490472"/>
            <ns1:ext cx="128016" cy="128016"/>
          </ns1:xfrm>
          <ns1:prstGeom prst="ellipse">
            <ns1:avLst/>
          </ns1:prstGeom>
          <ns1:solidFill>
            <ns1:srgbClr val="C8553D"/>
          </ns1:solidFill>
          <ns1:ln w="12700">
            <ns1:solidFill>
              <ns1:srgbClr val="C8553D"/>
            </ns1:solidFill>
            <ns1:prstDash val="solid"/>
          </ns1:ln>
        </ns0:spPr>
      </ns0:sp>
      <ns0:sp>
        <ns0:nvSpPr>
          <ns0:cNvPr id="21" name="Text 19"/>
          <ns0:cNvSpPr txBox="1"/>
          <ns0:nvPr/>
        </ns0:nvSpPr>
        <ns0:spPr>
          <ns1:xfrm>
            <ns1:off x="4983480" y="1417320"/>
            <ns1:ext cx="3703320" cy="274320"/>
          </ns1:xfrm>
          <ns1:prstGeom prst="rect">
            <ns1:avLst/>
          </ns1:prstGeom>
          <ns1:noFill/>
          <ns1:ln/>
        </ns0:spPr>
        <ns0:txBody>
          <ns1:bodyPr wrap="square" lIns="0" tIns="0" rIns="0" bIns="0" rtlCol="0" anchor="t"/>
          <ns1:lstStyle/>
          <ns1:p>
            <ns1:pPr indent="0" marL="0" eaLnBrk="0">
              <ns1:buNone/>
            </ns1:pPr>
            <ns1:r>
              <ns1:rPr lang="ko-KR" altLang="en-US" sz="1200" b="1" dirty="0">
                <ns1:solidFill>
                  <ns1:srgbClr val="1F2328"/>
                </ns1:solidFill>
                <ns1:latin typeface="Malgun Gothic" pitchFamily="34" charset="0"/>
                <ns1:ea typeface="Malgun Gothic" pitchFamily="34" charset="-122"/>
                <ns1:cs typeface="Malgun Gothic" pitchFamily="34" charset="-120"/>
              </ns1:rPr>
              <ns1:t>위에서 내려다본 사진</ns1:t>
            </ns1:r>
            <ns1:endParaRPr lang="ko-KR" sz="1200" dirty="0"/>
          </ns1:p>
        </ns0:txBody>
      </ns0:sp>
      <ns0:sp>
        <ns0:nvSpPr>
          <ns0:cNvPr id="22" name="Text 20"/>
          <ns0:cNvSpPr txBox="1"/>
          <ns0:nvPr/>
        </ns0:nvSpPr>
        <ns0:spPr>
          <ns1:xfrm>
            <ns1:off x="4983480" y="1709928"/>
            <ns1:ext cx="3703320" cy="411480"/>
          </ns1:xfrm>
          <ns1:prstGeom prst="rect">
            <ns1:avLst/>
          </ns1:prstGeom>
          <ns1:noFill/>
          <ns1:ln/>
        </ns0:spPr>
        <ns0:txBody>
          <ns1:bodyPr wrap="square" lIns="0" tIns="0" rIns="0" bIns="0" rtlCol="0" anchor="t"/>
          <ns1:lstStyle/>
          <ns1:p>
            <ns1:pPr indent="0" marL="0" eaLnBrk="0">
              <ns1:buNone/>
            </ns1:pPr>
            <ns1:r>
              <ns1:rPr lang="ko-KR" altLang="en-US" sz="1050" dirty="0">
                <ns1:solidFill>
                  <ns1:srgbClr val="5F6670"/>
                </ns1:solidFill>
                <ns1:latin typeface="Malgun Gothic" pitchFamily="34" charset="0"/>
                <ns1:ea typeface="Malgun Gothic" pitchFamily="34" charset="-122"/>
                <ns1:cs typeface="Malgun Gothic" pitchFamily="34" charset="-120"/>
              </ns1:rPr>
              <ns1:t>크기 오차 가능 — 지평선 41%·카메라 높이 1.4m를 가정</ns1:t>
            </ns1:r>
            <ns1:endParaRPr lang="ko-KR" sz="1050" dirty="0"/>
          </ns1:p>
        </ns0:txBody>
      </ns0:sp>
      <ns0:sp>
        <ns0:nvSpPr>
          <ns0:cNvPr id="23" name="Shape 21"/>
          <ns0:cNvSpPr/>
          <ns0:nvPr/>
        </ns0:nvSpPr>
        <ns0:spPr>
          <ns1:xfrm>
            <ns1:off x="4754880" y="2276856"/>
            <ns1:ext cx="128016" cy="128016"/>
          </ns1:xfrm>
          <ns1:prstGeom prst="ellipse">
            <ns1:avLst/>
          </ns1:prstGeom>
          <ns1:solidFill>
            <ns1:srgbClr val="C8553D"/>
          </ns1:solidFill>
          <ns1:ln w="12700">
            <ns1:solidFill>
              <ns1:srgbClr val="C8553D"/>
            </ns1:solidFill>
            <ns1:prstDash val="solid"/>
          </ns1:ln>
        </ns0:spPr>
      </ns0:sp>
      <ns0:sp>
        <ns0:nvSpPr>
          <ns0:cNvPr id="24" name="Text 22"/>
          <ns0:cNvSpPr txBox="1"/>
          <ns0:nvPr/>
        </ns0:nvSpPr>
        <ns0:spPr>
          <ns1:xfrm>
            <ns1:off x="4983480" y="2203704"/>
            <ns1:ext cx="3703320" cy="274320"/>
          </ns1:xfrm>
          <ns1:prstGeom prst="rect">
            <ns1:avLst/>
          </ns1:prstGeom>
          <ns1:noFill/>
          <ns1:ln/>
        </ns0:spPr>
        <ns0:txBody>
          <ns1:bodyPr wrap="square" lIns="0" tIns="0" rIns="0" bIns="0" rtlCol="0" anchor="t"/>
          <ns1:lstStyle/>
          <ns1:p>
            <ns1:pPr indent="0" marL="0" eaLnBrk="0">
              <ns1:buNone/>
            </ns1:pPr>
            <ns1:r>
              <ns1:rPr lang="ko-KR" altLang="en-US" sz="1200" b="1" dirty="0">
                <ns1:solidFill>
                  <ns1:srgbClr val="1F2328"/>
                </ns1:solidFill>
                <ns1:latin typeface="Malgun Gothic" pitchFamily="34" charset="0"/>
                <ns1:ea typeface="Malgun Gothic" pitchFamily="34" charset="-122"/>
                <ns1:cs typeface="Malgun Gothic" pitchFamily="34" charset="-120"/>
              </ns1:rPr>
              <ns1:t>바닥이 적게 보이는 사진</ns1:t>
            </ns1:r>
            <ns1:endParaRPr lang="ko-KR" sz="1200" dirty="0"/>
          </ns1:p>
        </ns0:txBody>
      </ns0:sp>
      <ns0:sp>
        <ns0:nvSpPr>
          <ns0:cNvPr id="25" name="Text 23"/>
          <ns0:cNvSpPr txBox="1"/>
          <ns0:nvPr/>
        </ns0:nvSpPr>
        <ns0:spPr>
          <ns1:xfrm>
            <ns1:off x="4983480" y="2496312"/>
            <ns1:ext cx="3703320" cy="411480"/>
          </ns1:xfrm>
          <ns1:prstGeom prst="rect">
            <ns1:avLst/>
          </ns1:prstGeom>
          <ns1:noFill/>
          <ns1:ln/>
        </ns0:spPr>
        <ns0:txBody>
          <ns1:bodyPr wrap="square" lIns="0" tIns="0" rIns="0" bIns="0" rtlCol="0" anchor="t"/>
          <ns1:lstStyle/>
          <ns1:p>
            <ns1:pPr indent="0" marL="0" eaLnBrk="0">
              <ns1:buNone/>
            </ns1:pPr>
            <ns1:r>
              <ns1:rPr lang="ko-KR" altLang="en-US" sz="1050" dirty="0">
                <ns1:solidFill>
                  <ns1:srgbClr val="5F6670"/>
                </ns1:solidFill>
                <ns1:latin typeface="Malgun Gothic" pitchFamily="34" charset="0"/>
                <ns1:ea typeface="Malgun Gothic" pitchFamily="34" charset="-122"/>
                <ns1:cs typeface="Malgun Gothic" pitchFamily="34" charset="-120"/>
              </ns1:rPr>
              <ns1:t>이전 선택 표본에서 바닥 추정 31% 실패. 현재 세우기는 수동 배치로 진행</ns1:t>
            </ns1:r>
            <ns1:endParaRPr lang="ko-KR" sz="1050" dirty="0"/>
          </ns1:p>
        </ns0:txBody>
      </ns0:sp>
      <ns0:sp>
        <ns0:nvSpPr>
          <ns0:cNvPr id="26" name="Shape 24"/>
          <ns0:cNvSpPr/>
          <ns0:nvPr/>
        </ns0:nvSpPr>
        <ns0:spPr>
          <ns1:xfrm>
            <ns1:off x="4754880" y="3063240"/>
            <ns1:ext cx="128016" cy="128016"/>
          </ns1:xfrm>
          <ns1:prstGeom prst="ellipse">
            <ns1:avLst/>
          </ns1:prstGeom>
          <ns1:solidFill>
            <ns1:srgbClr val="C8553D"/>
          </ns1:solidFill>
          <ns1:ln w="12700">
            <ns1:solidFill>
              <ns1:srgbClr val="C8553D"/>
            </ns1:solidFill>
            <ns1:prstDash val="solid"/>
          </ns1:ln>
        </ns0:spPr>
      </ns0:sp>
      <ns0:sp>
        <ns0:nvSpPr>
          <ns0:cNvPr id="27" name="Text 25"/>
          <ns0:cNvSpPr txBox="1"/>
          <ns0:nvPr/>
        </ns0:nvSpPr>
        <ns0:spPr>
          <ns1:xfrm>
            <ns1:off x="4983480" y="2990088"/>
            <ns1:ext cx="3703320" cy="274320"/>
          </ns1:xfrm>
          <ns1:prstGeom prst="rect">
            <ns1:avLst/>
          </ns1:prstGeom>
          <ns1:noFill/>
          <ns1:ln/>
        </ns0:spPr>
        <ns0:txBody>
          <ns1:bodyPr wrap="square" lIns="0" tIns="0" rIns="0" bIns="0" rtlCol="0" anchor="t"/>
          <ns1:lstStyle/>
          <ns1:p>
            <ns1:pPr indent="0" marL="0" eaLnBrk="0">
              <ns1:buNone/>
            </ns1:pPr>
            <ns1:r>
              <ns1:rPr lang="ko-KR" altLang="en-US" sz="1200" b="1" dirty="0">
                <ns1:solidFill>
                  <ns1:srgbClr val="1F2328"/>
                </ns1:solidFill>
                <ns1:latin typeface="Malgun Gothic" pitchFamily="34" charset="0"/>
                <ns1:ea typeface="Malgun Gothic" pitchFamily="34" charset="-122"/>
                <ns1:cs typeface="Malgun Gothic" pitchFamily="34" charset="-120"/>
              </ns1:rPr>
              <ns1:t>가는 구조</ns1:t>
            </ns1:r>
            <ns1:endParaRPr lang="ko-KR" sz="1200" dirty="0"/>
          </ns1:p>
        </ns0:txBody>
      </ns0:sp>
      <ns0:sp>
        <ns0:nvSpPr>
          <ns0:cNvPr id="28" name="Text 26"/>
          <ns0:cNvSpPr txBox="1"/>
          <ns0:nvPr/>
        </ns0:nvSpPr>
        <ns0:spPr>
          <ns1:xfrm>
            <ns1:off x="4983480" y="3282696"/>
            <ns1:ext cx="3703320" cy="411480"/>
          </ns1:xfrm>
          <ns1:prstGeom prst="rect">
            <ns1:avLst/>
          </ns1:prstGeom>
          <ns1:noFill/>
          <ns1:ln/>
        </ns0:spPr>
        <ns0:txBody>
          <ns1:bodyPr wrap="square" lIns="0" tIns="0" rIns="0" bIns="0" rtlCol="0" anchor="t"/>
          <ns1:lstStyle/>
          <ns1:p>
            <ns1:pPr indent="0" marL="0" eaLnBrk="0">
              <ns1:buNone/>
            </ns1:pPr>
            <ns1:r>
              <ns1:rPr lang="ko-KR" altLang="en-US" sz="1050" dirty="0">
                <ns1:solidFill>
                  <ns1:srgbClr val="5F6670"/>
                </ns1:solidFill>
                <ns1:latin typeface="Malgun Gothic" pitchFamily="34" charset="0"/>
                <ns1:ea typeface="Malgun Gothic" pitchFamily="34" charset="-122"/>
                <ns1:cs typeface="Malgun Gothic" pitchFamily="34" charset="-120"/>
              </ns1:rPr>
              <ns1:t>조명의 기둥 같은 부분을 SAM이 잡지 못한다</ns1:t>
            </ns1:r>
            <ns1:endParaRPr lang="ko-KR" sz="1050" dirty="0"/>
          </ns1:p>
        </ns0:txBody>
      </ns0:sp>
      <ns0:sp>
        <ns0:nvSpPr>
          <ns0:cNvPr id="29" name="Shape 27"/>
          <ns0:cNvSpPr/>
          <ns0:nvPr/>
        </ns0:nvSpPr>
        <ns0:spPr>
          <ns1:xfrm>
            <ns1:off x="4754880" y="3849624"/>
            <ns1:ext cx="128016" cy="128016"/>
          </ns1:xfrm>
          <ns1:prstGeom prst="ellipse">
            <ns1:avLst/>
          </ns1:prstGeom>
          <ns1:solidFill>
            <ns1:srgbClr val="C8553D"/>
          </ns1:solidFill>
          <ns1:ln w="12700">
            <ns1:solidFill>
              <ns1:srgbClr val="C8553D"/>
            </ns1:solidFill>
            <ns1:prstDash val="solid"/>
          </ns1:ln>
        </ns0:spPr>
      </ns0:sp>
      <ns0:sp>
        <ns0:nvSpPr>
          <ns0:cNvPr id="30" name="Text 28"/>
          <ns0:cNvSpPr txBox="1"/>
          <ns0:nvPr/>
        </ns0:nvSpPr>
        <ns0:spPr>
          <ns1:xfrm>
            <ns1:off x="4983480" y="3776472"/>
            <ns1:ext cx="3703320" cy="274320"/>
          </ns1:xfrm>
          <ns1:prstGeom prst="rect">
            <ns1:avLst/>
          </ns1:prstGeom>
          <ns1:noFill/>
          <ns1:ln/>
        </ns0:spPr>
        <ns0:txBody>
          <ns1:bodyPr wrap="square" lIns="0" tIns="0" rIns="0" bIns="0" rtlCol="0" anchor="t"/>
          <ns1:lstStyle/>
          <ns1:p>
            <ns1:pPr indent="0" marL="0" eaLnBrk="0">
              <ns1:buNone/>
            </ns1:pPr>
            <ns1:r>
              <ns1:rPr lang="ko-KR" altLang="en-US" sz="1200" b="1" dirty="0">
                <ns1:solidFill>
                  <ns1:srgbClr val="1F2328"/>
                </ns1:solidFill>
                <ns1:latin typeface="Malgun Gothic" pitchFamily="34" charset="0"/>
                <ns1:ea typeface="Malgun Gothic" pitchFamily="34" charset="-122"/>
                <ns1:cs typeface="Malgun Gothic" pitchFamily="34" charset="-120"/>
              </ns1:rPr>
              <ns1:t>가구 사진의 각도</ns1:t>
            </ns1:r>
            <ns1:endParaRPr lang="ko-KR" sz="1200" dirty="0"/>
          </ns1:p>
        </ns0:txBody>
      </ns0:sp>
      <ns0:sp>
        <ns0:nvSpPr>
          <ns0:cNvPr id="31" name="Text 29"/>
          <ns0:cNvSpPr txBox="1"/>
          <ns0:nvPr/>
        </ns0:nvSpPr>
        <ns0:spPr>
          <ns1:xfrm>
            <ns1:off x="4983480" y="4069080"/>
            <ns1:ext cx="3703320" cy="411480"/>
          </ns1:xfrm>
          <ns1:prstGeom prst="rect">
            <ns1:avLst/>
          </ns1:prstGeom>
          <ns1:noFill/>
          <ns1:ln/>
        </ns0:spPr>
        <ns0:txBody>
          <ns1:bodyPr wrap="square" lIns="0" tIns="0" rIns="0" bIns="0" rtlCol="0" anchor="t"/>
          <ns1:lstStyle/>
          <ns1:p>
            <ns1:pPr indent="0" marL="0" eaLnBrk="0">
              <ns1:buNone/>
            </ns1:pPr>
            <ns1:r>
              <ns1:rPr lang="ko-KR" altLang="en-US" sz="1050" dirty="0">
                <ns1:solidFill>
                  <ns1:srgbClr val="5F6670"/>
                </ns1:solidFill>
                <ns1:latin typeface="Malgun Gothic" pitchFamily="34" charset="0"/>
                <ns1:ea typeface="Malgun Gothic" pitchFamily="34" charset="-122"/>
                <ns1:cs typeface="Malgun Gothic" pitchFamily="34" charset="-120"/>
              </ns1:rPr>
              <ns1:t>사진에 없는 면은 만들 수 없다 — 생성 모델로도 고쳐지지 않았다</ns1:t>
            </ns1:r>
            <ns1:endParaRPr lang="ko-KR" sz="1050" dirty="0"/>
          </ns1:p>
        </ns0:txBody>
      </ns0:sp>
    </ns0:spTree>
  </ns0:cSld>
  <ns0:clrMapOvr>
    <ns1:masterClrMapping/>
  </ns0:clrMapOvr>
</ns0:sld>
</file>

<file path=ppt/slides/slide12.xml><?xml version="1.0" encoding="utf-8"?>
<ns0:sld xmlns:ns0="http://schemas.openxmlformats.org/presentationml/2006/main" xmlns:ns1="http://schemas.openxmlformats.org/drawingml/2006/main">
  <ns0:cSld name="Slide 12">
    <ns0:bg>
      <ns0:bgPr>
        <ns1:solidFill>
          <ns1:srgbClr val="22262A"/>
        </ns1:solidFill>
      </ns0:bgPr>
    </ns0:bg>
    <ns0:spTree>
      <ns0:nvGrpSpPr>
        <ns0:cNvPr id="1" name=""/>
        <ns0:cNvGrpSpPr/>
        <ns0:nvPr/>
      </ns0:nvGrpSpPr>
      <ns0:grpSpPr>
        <ns1:xfrm>
          <ns1:off x="0" y="0"/>
          <ns1:ext cx="0" cy="0"/>
          <ns1:chOff x="0" y="0"/>
          <ns1:chExt cx="0" cy="0"/>
        </ns1:xfrm>
      </ns0:grpSpPr>
      <ns0:sp>
        <ns0:nvSpPr>
          <ns0:cNvPr id="2" name="Text 0"/>
          <ns0:cNvSpPr txBox="1"/>
          <ns0:nvPr/>
        </ns0:nvSpPr>
        <ns0:spPr>
          <ns1:xfrm>
            <ns1:off x="548640" y="411480"/>
            <ns1:ext cx="7315200" cy="640080"/>
          </ns1:xfrm>
          <ns1:prstGeom prst="rect">
            <ns1:avLst/>
          </ns1:prstGeom>
          <ns1:noFill/>
          <ns1:ln/>
        </ns0:spPr>
        <ns0:txBody>
          <ns1:bodyPr wrap="square" lIns="0" tIns="0" rIns="0" bIns="0" rtlCol="0" anchor="t"/>
          <ns1:lstStyle/>
          <ns1:p>
            <ns1:pPr indent="0" marL="0" eaLnBrk="0">
              <ns1:buNone/>
            </ns1:pPr>
            <ns1:r>
              <ns1:rPr lang="ko-KR" altLang="en-US" sz="3200" b="1" dirty="0">
                <ns1:solidFill>
                  <ns1:srgbClr val="FFFFFF"/>
                </ns1:solidFill>
                <ns1:latin typeface="Malgun Gothic" pitchFamily="34" charset="0"/>
                <ns1:ea typeface="Malgun Gothic" pitchFamily="34" charset="-122"/>
                <ns1:cs typeface="Malgun Gothic" pitchFamily="34" charset="-120"/>
              </ns1:rPr>
              <ns1:t>결론</ns1:t>
            </ns1:r>
            <ns1:endParaRPr lang="ko-KR" sz="3200" dirty="0"/>
          </ns1:p>
        </ns0:txBody>
      </ns0:sp>
      <ns0:sp>
        <ns0:nvSpPr>
          <ns0:cNvPr id="3" name="Shape 1"/>
          <ns0:cNvSpPr/>
          <ns0:nvPr/>
        </ns0:nvSpPr>
        <ns0:spPr>
          <ns1:xfrm>
            <ns1:off x="548640" y="1325880"/>
            <ns1:ext cx="457200" cy="457200"/>
          </ns1:xfrm>
          <ns1:prstGeom prst="ellipse">
            <ns1:avLst/>
          </ns1:prstGeom>
          <ns1:solidFill>
            <ns1:srgbClr val="C8553D"/>
          </ns1:solidFill>
          <ns1:ln w="12700">
            <ns1:solidFill>
              <ns1:srgbClr val="C8553D"/>
            </ns1:solidFill>
            <ns1:prstDash val="solid"/>
          </ns1:ln>
        </ns0:spPr>
      </ns0:sp>
      <ns0:sp>
        <ns0:nvSpPr>
          <ns0:cNvPr id="4" name="Text 2"/>
          <ns0:cNvSpPr txBox="1"/>
          <ns0:nvPr/>
        </ns0:nvSpPr>
        <ns0:spPr>
          <ns1:xfrm>
            <ns1:off x="548640" y="1325880"/>
            <ns1:ext cx="457200" cy="457200"/>
          </ns1:xfrm>
          <ns1:prstGeom prst="rect">
            <ns1:avLst/>
          </ns1:prstGeom>
          <ns1:noFill/>
          <ns1:ln/>
        </ns0:spPr>
        <ns0:txBody>
          <ns1:bodyPr wrap="square" lIns="0" tIns="0" rIns="0" bIns="0" rtlCol="0" anchor="ctr"/>
          <ns1:lstStyle/>
          <ns1:p>
            <ns1:pPr algn="ctr" indent="0" marL="0" eaLnBrk="0">
              <ns1:buNone/>
            </ns1:pPr>
            <ns1:r>
              <ns1:rPr lang="ko-KR" altLang="en-US" sz="1600" b="1" dirty="0">
                <ns1:solidFill>
                  <ns1:srgbClr val="FFFFFF"/>
                </ns1:solidFill>
                <ns1:latin typeface="Malgun Gothic" pitchFamily="34" charset="0"/>
                <ns1:ea typeface="Malgun Gothic" pitchFamily="34" charset="-122"/>
                <ns1:cs typeface="Malgun Gothic" pitchFamily="34" charset="-120"/>
              </ns1:rPr>
              <ns1:t>1</ns1:t>
            </ns1:r>
            <ns1:endParaRPr lang="ko-KR" sz="1600" dirty="0"/>
          </ns1:p>
        </ns0:txBody>
      </ns0:sp>
      <ns0:sp>
        <ns0:nvSpPr>
          <ns0:cNvPr id="5" name="Text 3"/>
          <ns0:cNvSpPr txBox="1"/>
          <ns0:nvPr/>
        </ns0:nvSpPr>
        <ns0:spPr>
          <ns1:xfrm>
            <ns1:off x="1188720" y="1307592"/>
            <ns1:ext cx="7498080" cy="365760"/>
          </ns1:xfrm>
          <ns1:prstGeom prst="rect">
            <ns1:avLst/>
          </ns1:prstGeom>
          <ns1:noFill/>
          <ns1:ln/>
        </ns0:spPr>
        <ns0:txBody>
          <ns1:bodyPr wrap="square" lIns="0" tIns="0" rIns="0" bIns="0" rtlCol="0" anchor="t"/>
          <ns1:lstStyle/>
          <ns1:p>
            <ns1:pPr indent="0" marL="0" eaLnBrk="0">
              <ns1:buNone/>
            </ns1:pPr>
            <ns1:r>
              <ns1:rPr lang="ko-KR" altLang="en-US" sz="1700" b="1" dirty="0">
                <ns1:solidFill>
                  <ns1:srgbClr val="FFFFFF"/>
                </ns1:solidFill>
                <ns1:latin typeface="Malgun Gothic" pitchFamily="34" charset="0"/>
                <ns1:ea typeface="Malgun Gothic" pitchFamily="34" charset="-122"/>
                <ns1:cs typeface="Malgun Gothic" pitchFamily="34" charset="-120"/>
              </ns1:rPr>
              <ns1:t>기하 파이프라인은 선택한 가구 이미지를 합성한다</ns1:t>
            </ns1:r>
            <ns1:endParaRPr lang="ko-KR" sz="1700" dirty="0"/>
          </ns1:p>
        </ns0:txBody>
      </ns0:sp>
      <ns0:sp>
        <ns0:nvSpPr>
          <ns0:cNvPr id="6" name="Text 4"/>
          <ns0:cNvSpPr txBox="1"/>
          <ns0:nvPr/>
        </ns0:nvSpPr>
        <ns0:spPr>
          <ns1:xfrm>
            <ns1:off x="1188720" y="1691640"/>
            <ns1:ext cx="7498080" cy="320040"/>
          </ns1:xfrm>
          <ns1:prstGeom prst="rect">
            <ns1:avLst/>
          </ns1:prstGeom>
          <ns1:noFill/>
          <ns1:ln/>
        </ns0:spPr>
        <ns0:txBody>
          <ns1:bodyPr wrap="square" lIns="0" tIns="0" rIns="0" bIns="0" rtlCol="0" anchor="t"/>
          <ns1:lstStyle/>
          <ns1:p>
            <ns1:pPr indent="0" marL="0" eaLnBrk="0">
              <ns1:buNone/>
            </ns1:pPr>
            <ns1:r>
              <ns1:rPr lang="ko-KR" altLang="en-US" sz="1300" dirty="0">
                <ns1:solidFill>
                  <ns1:srgbClr val="C9CDD2"/>
                </ns1:solidFill>
                <ns1:latin typeface="Malgun Gothic" pitchFamily="34" charset="0"/>
                <ns1:ea typeface="Malgun Gothic" pitchFamily="34" charset="-122"/>
                <ns1:cs typeface="Malgun Gothic" pitchFamily="34" charset="-120"/>
              </ns1:rPr>
              <ns1:t>위치·크기는 입력과 가정에 따른 근사이며 실제 정답은 아니다</ns1:t>
            </ns1:r>
            <ns1:endParaRPr lang="ko-KR" sz="1300" dirty="0"/>
          </ns1:p>
        </ns0:txBody>
      </ns0:sp>
      <ns0:sp>
        <ns0:nvSpPr>
          <ns0:cNvPr id="7" name="Shape 5"/>
          <ns0:cNvSpPr/>
          <ns0:nvPr/>
        </ns0:nvSpPr>
        <ns0:spPr>
          <ns1:xfrm>
            <ns1:off x="548640" y="2313432"/>
            <ns1:ext cx="457200" cy="457200"/>
          </ns1:xfrm>
          <ns1:prstGeom prst="ellipse">
            <ns1:avLst/>
          </ns1:prstGeom>
          <ns1:solidFill>
            <ns1:srgbClr val="C8553D"/>
          </ns1:solidFill>
          <ns1:ln w="12700">
            <ns1:solidFill>
              <ns1:srgbClr val="C8553D"/>
            </ns1:solidFill>
            <ns1:prstDash val="solid"/>
          </ns1:ln>
        </ns0:spPr>
      </ns0:sp>
      <ns0:sp>
        <ns0:nvSpPr>
          <ns0:cNvPr id="8" name="Text 6"/>
          <ns0:cNvSpPr txBox="1"/>
          <ns0:nvPr/>
        </ns0:nvSpPr>
        <ns0:spPr>
          <ns1:xfrm>
            <ns1:off x="548640" y="2313432"/>
            <ns1:ext cx="457200" cy="457200"/>
          </ns1:xfrm>
          <ns1:prstGeom prst="rect">
            <ns1:avLst/>
          </ns1:prstGeom>
          <ns1:noFill/>
          <ns1:ln/>
        </ns0:spPr>
        <ns0:txBody>
          <ns1:bodyPr wrap="square" lIns="0" tIns="0" rIns="0" bIns="0" rtlCol="0" anchor="ctr"/>
          <ns1:lstStyle/>
          <ns1:p>
            <ns1:pPr algn="ctr" indent="0" marL="0" eaLnBrk="0">
              <ns1:buNone/>
            </ns1:pPr>
            <ns1:r>
              <ns1:rPr lang="ko-KR" altLang="en-US" sz="1600" b="1" dirty="0">
                <ns1:solidFill>
                  <ns1:srgbClr val="FFFFFF"/>
                </ns1:solidFill>
                <ns1:latin typeface="Malgun Gothic" pitchFamily="34" charset="0"/>
                <ns1:ea typeface="Malgun Gothic" pitchFamily="34" charset="-122"/>
                <ns1:cs typeface="Malgun Gothic" pitchFamily="34" charset="-120"/>
              </ns1:rPr>
              <ns1:t>2</ns1:t>
            </ns1:r>
            <ns1:endParaRPr lang="ko-KR" sz="1600" dirty="0"/>
          </ns1:p>
        </ns0:txBody>
      </ns0:sp>
      <ns0:sp>
        <ns0:nvSpPr>
          <ns0:cNvPr id="9" name="Text 7"/>
          <ns0:cNvSpPr txBox="1"/>
          <ns0:nvPr/>
        </ns0:nvSpPr>
        <ns0:spPr>
          <ns1:xfrm>
            <ns1:off x="1188720" y="2295144"/>
            <ns1:ext cx="7498080" cy="365760"/>
          </ns1:xfrm>
          <ns1:prstGeom prst="rect">
            <ns1:avLst/>
          </ns1:prstGeom>
          <ns1:noFill/>
          <ns1:ln/>
        </ns0:spPr>
        <ns0:txBody>
          <ns1:bodyPr wrap="square" lIns="0" tIns="0" rIns="0" bIns="0" rtlCol="0" anchor="t"/>
          <ns1:lstStyle/>
          <ns1:p>
            <ns1:pPr indent="0" marL="0" eaLnBrk="0">
              <ns1:buNone/>
            </ns1:pPr>
            <ns1:r>
              <ns1:rPr lang="ko-KR" altLang="en-US" sz="1700" b="1" dirty="0">
                <ns1:solidFill>
                  <ns1:srgbClr val="FFFFFF"/>
                </ns1:solidFill>
                <ns1:latin typeface="Malgun Gothic" pitchFamily="34" charset="0"/>
                <ns1:ea typeface="Malgun Gothic" pitchFamily="34" charset="-122"/>
                <ns1:cs typeface="Malgun Gothic" pitchFamily="34" charset="-120"/>
              </ns1:rPr>
              <ns1:t>생성 다듬기는 색·무늬와 가구 모양을 바꿀 수 있다</ns1:t>
            </ns1:r>
            <ns1:endParaRPr lang="ko-KR" sz="1700" dirty="0"/>
          </ns1:p>
        </ns0:txBody>
      </ns0:sp>
      <ns0:sp>
        <ns0:nvSpPr>
          <ns0:cNvPr id="10" name="Text 8"/>
          <ns0:cNvSpPr txBox="1"/>
          <ns0:nvPr/>
        </ns0:nvSpPr>
        <ns0:spPr>
          <ns1:xfrm>
            <ns1:off x="1188720" y="2679192"/>
            <ns1:ext cx="7498080" cy="320040"/>
          </ns1:xfrm>
          <ns1:prstGeom prst="rect">
            <ns1:avLst/>
          </ns1:prstGeom>
          <ns1:noFill/>
          <ns1:ln/>
        </ns0:spPr>
        <ns0:txBody>
          <ns1:bodyPr wrap="square" lIns="0" tIns="0" rIns="0" bIns="0" rtlCol="0" anchor="t"/>
          <ns1:lstStyle/>
          <ns1:p>
            <ns1:pPr indent="0" marL="0" eaLnBrk="0">
              <ns1:buNone/>
            </ns1:pPr>
            <ns1:r>
              <ns1:rPr lang="ko-KR" altLang="en-US" sz="1300" dirty="0">
                <ns1:solidFill>
                  <ns1:srgbClr val="C9CDD2"/>
                </ns1:solidFill>
                <ns1:latin typeface="Malgun Gothic" pitchFamily="34" charset="0"/>
                <ns1:ea typeface="Malgun Gothic" pitchFamily="34" charset="-122"/>
                <ns1:cs typeface="Malgun Gothic" pitchFamily="34" charset="-120"/>
              </ns1:rPr>
              <ns1:t>그래서 역할을 나눠, 생성은 선택적인 마감으로 쓴다</ns1:t>
            </ns1:r>
            <ns1:endParaRPr lang="ko-KR" sz="1300" dirty="0"/>
          </ns1:p>
        </ns0:txBody>
      </ns0:sp>
      <ns0:sp>
        <ns0:nvSpPr>
          <ns0:cNvPr id="11" name="Shape 9"/>
          <ns0:cNvSpPr/>
          <ns0:nvPr/>
        </ns0:nvSpPr>
        <ns0:spPr>
          <ns1:xfrm>
            <ns1:off x="548640" y="3300984"/>
            <ns1:ext cx="457200" cy="457200"/>
          </ns1:xfrm>
          <ns1:prstGeom prst="ellipse">
            <ns1:avLst/>
          </ns1:prstGeom>
          <ns1:solidFill>
            <ns1:srgbClr val="C8553D"/>
          </ns1:solidFill>
          <ns1:ln w="12700">
            <ns1:solidFill>
              <ns1:srgbClr val="C8553D"/>
            </ns1:solidFill>
            <ns1:prstDash val="solid"/>
          </ns1:ln>
        </ns0:spPr>
      </ns0:sp>
      <ns0:sp>
        <ns0:nvSpPr>
          <ns0:cNvPr id="12" name="Text 10"/>
          <ns0:cNvSpPr txBox="1"/>
          <ns0:nvPr/>
        </ns0:nvSpPr>
        <ns0:spPr>
          <ns1:xfrm>
            <ns1:off x="548640" y="3300984"/>
            <ns1:ext cx="457200" cy="457200"/>
          </ns1:xfrm>
          <ns1:prstGeom prst="rect">
            <ns1:avLst/>
          </ns1:prstGeom>
          <ns1:noFill/>
          <ns1:ln/>
        </ns0:spPr>
        <ns0:txBody>
          <ns1:bodyPr wrap="square" lIns="0" tIns="0" rIns="0" bIns="0" rtlCol="0" anchor="ctr"/>
          <ns1:lstStyle/>
          <ns1:p>
            <ns1:pPr algn="ctr" indent="0" marL="0" eaLnBrk="0">
              <ns1:buNone/>
            </ns1:pPr>
            <ns1:r>
              <ns1:rPr lang="ko-KR" altLang="en-US" sz="1600" b="1" dirty="0">
                <ns1:solidFill>
                  <ns1:srgbClr val="FFFFFF"/>
                </ns1:solidFill>
                <ns1:latin typeface="Malgun Gothic" pitchFamily="34" charset="0"/>
                <ns1:ea typeface="Malgun Gothic" pitchFamily="34" charset="-122"/>
                <ns1:cs typeface="Malgun Gothic" pitchFamily="34" charset="-120"/>
              </ns1:rPr>
              <ns1:t>3</ns1:t>
            </ns1:r>
            <ns1:endParaRPr lang="ko-KR" sz="1600" dirty="0"/>
          </ns1:p>
        </ns0:txBody>
      </ns0:sp>
      <ns0:sp>
        <ns0:nvSpPr>
          <ns0:cNvPr id="13" name="Text 11"/>
          <ns0:cNvSpPr txBox="1"/>
          <ns0:nvPr/>
        </ns0:nvSpPr>
        <ns0:spPr>
          <ns1:xfrm>
            <ns1:off x="1188720" y="3282696"/>
            <ns1:ext cx="7498080" cy="365760"/>
          </ns1:xfrm>
          <ns1:prstGeom prst="rect">
            <ns1:avLst/>
          </ns1:prstGeom>
          <ns1:noFill/>
          <ns1:ln/>
        </ns0:spPr>
        <ns0:txBody>
          <ns1:bodyPr wrap="square" lIns="0" tIns="0" rIns="0" bIns="0" rtlCol="0" anchor="t"/>
          <ns1:lstStyle/>
          <ns1:p>
            <ns1:pPr indent="0" marL="0" eaLnBrk="0">
              <ns1:buNone/>
            </ns1:pPr>
            <ns1:r>
              <ns1:rPr lang="ko-KR" altLang="en-US" sz="1700" b="1" dirty="0">
                <ns1:solidFill>
                  <ns1:srgbClr val="FFFFFF"/>
                </ns1:solidFill>
                <ns1:latin typeface="Malgun Gothic" pitchFamily="34" charset="0"/>
                <ns1:ea typeface="Malgun Gothic" pitchFamily="34" charset="-122"/>
                <ns1:cs typeface="Malgun Gothic" pitchFamily="34" charset="-120"/>
              </ns1:rPr>
              <ns1:t>측정의 가정과 실패를 함께 기록했다</ns1:t>
            </ns1:r>
            <ns1:endParaRPr lang="ko-KR" sz="1700" dirty="0"/>
          </ns1:p>
        </ns0:txBody>
      </ns0:sp>
      <ns0:sp>
        <ns0:nvSpPr>
          <ns0:cNvPr id="14" name="Text 12"/>
          <ns0:cNvSpPr txBox="1"/>
          <ns0:nvPr/>
        </ns0:nvSpPr>
        <ns0:spPr>
          <ns1:xfrm>
            <ns1:off x="1188720" y="3666744"/>
            <ns1:ext cx="7498080" cy="320040"/>
          </ns1:xfrm>
          <ns1:prstGeom prst="rect">
            <ns1:avLst/>
          </ns1:prstGeom>
          <ns1:noFill/>
          <ns1:ln/>
        </ns0:spPr>
        <ns0:txBody>
          <ns1:bodyPr wrap="square" lIns="0" tIns="0" rIns="0" bIns="0" rtlCol="0" anchor="t"/>
          <ns1:lstStyle/>
          <ns1:p>
            <ns1:pPr indent="0" marL="0" eaLnBrk="0">
              <ns1:buNone/>
            </ns1:pPr>
            <ns1:r>
              <ns1:rPr lang="ko-KR" altLang="en-US" sz="1300" dirty="0">
                <ns1:solidFill>
                  <ns1:srgbClr val="C9CDD2"/>
                </ns1:solidFill>
                <ns1:latin typeface="Malgun Gothic" pitchFamily="34" charset="0"/>
                <ns1:ea typeface="Malgun Gothic" pitchFamily="34" charset="-122"/>
                <ns1:cs typeface="Malgun Gothic" pitchFamily="34" charset="-120"/>
              </ns1:rPr>
              <ns1:t>이전 수치와 현재 구현을 구분한다 — 수정 후 품질은 아직 미검증</ns1:t>
            </ns1:r>
            <ns1:endParaRPr lang="ko-KR" sz="1300" dirty="0"/>
          </ns1:p>
        </ns0:txBody>
      </ns0:sp>
      <ns0:sp>
        <ns0:nvSpPr>
          <ns0:cNvPr id="15" name="Text 13"/>
          <ns0:cNvSpPr txBox="1"/>
          <ns0:nvPr/>
        </ns0:nvSpPr>
        <ns0:spPr>
          <ns1:xfrm>
            <ns1:off x="548640" y="4343400"/>
            <ns1:ext cx="3657600" cy="411480"/>
          </ns1:xfrm>
          <ns1:prstGeom prst="rect">
            <ns1:avLst/>
          </ns1:prstGeom>
          <ns1:noFill/>
          <ns1:ln/>
        </ns0:spPr>
        <ns0:txBody>
          <ns1:bodyPr wrap="square" lIns="0" tIns="0" rIns="0" bIns="0" rtlCol="0" anchor="t"/>
          <ns1:lstStyle/>
          <ns1:p>
            <ns1:pPr indent="0" marL="0" eaLnBrk="0">
              <ns1:buNone/>
            </ns1:pPr>
            <ns1:r>
              <ns1:rPr lang="ko-KR" altLang="en-US" sz="1800" b="1" dirty="0">
                <ns1:solidFill>
                  <ns1:srgbClr val="E88B74"/>
                </ns1:solidFill>
                <ns1:latin typeface="Malgun Gothic" pitchFamily="34" charset="0"/>
                <ns1:ea typeface="Malgun Gothic" pitchFamily="34" charset="-122"/>
                <ns1:cs typeface="Malgun Gothic" pitchFamily="34" charset="-120"/>
              </ns1:rPr>
              <ns1:t>감사합니다</ns1:t>
            </ns1:r>
            <ns1:endParaRPr lang="ko-KR" sz="1800" dirty="0"/>
          </ns1:p>
        </ns0:txBody>
      </ns0:sp>
      <ns0:sp>
        <ns0:nvSpPr>
          <ns0:cNvPr id="16" name="Text 14"/>
          <ns0:cNvSpPr txBox="1"/>
          <ns0:nvPr/>
        </ns0:nvSpPr>
        <ns0:spPr>
          <ns1:xfrm>
            <ns1:off x="5029200" y="4389120"/>
            <ns1:ext cx="3657600" cy="365760"/>
          </ns1:xfrm>
          <ns1:prstGeom prst="rect">
            <ns1:avLst/>
          </ns1:prstGeom>
          <ns1:noFill/>
          <ns1:ln/>
        </ns0:spPr>
        <ns0:txBody>
          <ns1:bodyPr wrap="square" lIns="0" tIns="0" rIns="0" bIns="0" rtlCol="0" anchor="t"/>
          <ns1:lstStyle/>
          <ns1:p>
            <ns1:pPr algn="r" indent="0" marL="0" eaLnBrk="0">
              <ns1:buNone/>
            </ns1:pPr>
            <ns1:r>
              <ns1:rPr lang="ko-KR" altLang="en-US" sz="1100" dirty="0">
                <ns1:solidFill>
                  <ns1:srgbClr val="B3B8BF"/>
                </ns1:solidFill>
                <ns1:latin typeface="Malgun Gothic" pitchFamily="34" charset="0"/>
                <ns1:ea typeface="Malgun Gothic" pitchFamily="34" charset="-122"/>
                <ns1:cs typeface="Malgun Gothic" pitchFamily="34" charset="-120"/>
              </ns1:rPr>
              <ns1:t>github.com/yourqxc/Capstone</ns1:t>
            </ns1:r>
            <ns1:endParaRPr lang="ko-KR" sz="1100" dirty="0"/>
          </ns1:p>
        </ns0:txBody>
      </ns0:sp>
    </ns0:spTree>
  </ns0:cSld>
  <ns0:clrMapOvr>
    <ns1:masterClrMapping/>
  </ns0:clrMapOvr>
</ns0: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셀프 인테리어 시각화</dc:title>
  <dc:subject>PptxGenJS Presentation</dc:subject>
  <dc:creator>PptxGenJS</dc:creator>
  <cp:lastModifiedBy>PptxGenJS</cp:lastModifiedBy>
  <cp:revision>1</cp:revision>
  <dcterms:created xsi:type="dcterms:W3CDTF">2026-09-21T14:41:58Z</dcterms:created>
  <dcterms:modified xsi:type="dcterms:W3CDTF">2026-09-21T14:41:58Z</dcterms:modified>
</cp:coreProperties>
</file>